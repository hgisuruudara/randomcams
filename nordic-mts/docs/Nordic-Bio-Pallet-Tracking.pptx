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today nobody can answer this question quickly. This is a proposal to change that with two stickers and two scans.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real scenario everyone recognises. Nobody is at fault; the information simply has nowhere to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Quantify the problem without overclaiming: these are the four ways the missing information costs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proposal in one line. Emphasise what does NOT change — that is what makes it adoptable.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the room a printed copy of these two labels. Let someone scan them with their own phone — it makes the idea concrete in five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one design decision worth defending: without the counter, two identical pallets are indistinguishable and locations become fiction.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that data entry happens once per pallet, not per movement — and that the product list prevents inconsistent naming.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seconds, three taps. Stress that a half-finished scan records nothing — no phantom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sells it. If there is a screen in the room, open the live version and click a square.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daily loop. Emphasise: a pallet is never nowhere — between shelves it is 'in someone's hands', and that is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Search is the feature staff will thank you for. Oldest-first is free, because pallet numbers only count upwards.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log is what turns a convenience tool into a record you can defend in an audit. Corrections are added, never overwritten.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Reusing a number would destroy the history behind it. The side effect is free stock rotation.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objections here. Anything they raise that is not on the list, write down — it belongs in the exception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Adoption argument: the system asks for no extra work, only a different six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slow part is naming the warehouse, and it is your staff's job — not the developer's. Say that plainly.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even-handed. The honest answer depends on whether they want purchasing and accounting in one system within two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asking for these three decisions, not for general approval. Decisions are what move the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314"/>
        </a:solidFill>
      </p:bgPr>
    </p:bg>
    <p:spTree>
      <p:nvGrpSpPr>
        <p:cNvPr id="1" name=""/>
        <p:cNvGrpSpPr/>
        <p:nvPr/>
      </p:nvGrpSpPr>
      <p:grpSpPr>
        <a:xfrm>
          <a:off x="0" y="0"/>
          <a:ext cx="0" cy="0"/>
          <a:chOff x="0" y="0"/>
          <a:chExt cx="0" cy="0"/>
        </a:xfrm>
      </p:grpSpPr>
      <p:sp>
        <p:nvSpPr>
          <p:cNvPr id="2" name="Text 0"/>
          <p:cNvSpPr/>
          <p:nvPr/>
        </p:nvSpPr>
        <p:spPr>
          <a:xfrm>
            <a:off x="685800" y="1600200"/>
            <a:ext cx="10820095" cy="274320"/>
          </a:xfrm>
          <a:prstGeom prst="rect">
            <a:avLst/>
          </a:prstGeom>
          <a:noFill/>
          <a:ln/>
        </p:spPr>
        <p:txBody>
          <a:bodyPr wrap="square" lIns="0" tIns="0" rIns="0" bIns="0" rtlCol="0" anchor="ctr"/>
          <a:lstStyle/>
          <a:p>
            <a:pPr indent="0" marL="0">
              <a:buNone/>
            </a:pPr>
            <a:r>
              <a:rPr lang="en-US" sz="1150" b="1" spc="220" kern="0" dirty="0">
                <a:solidFill>
                  <a:srgbClr val="E6B93C"/>
                </a:solidFill>
                <a:latin typeface="Courier New" pitchFamily="34" charset="0"/>
                <a:ea typeface="Courier New" pitchFamily="34" charset="-122"/>
                <a:cs typeface="Courier New" pitchFamily="34" charset="-120"/>
              </a:rPr>
              <a:t>NORDIC BIO COSMETIC PRODUCTION OY   ·   PROPOSAL   ·   AUGUST 2026</a:t>
            </a:r>
            <a:endParaRPr lang="en-US" sz="1150" dirty="0"/>
          </a:p>
        </p:txBody>
      </p:sp>
      <p:sp>
        <p:nvSpPr>
          <p:cNvPr id="3" name="Text 1"/>
          <p:cNvSpPr/>
          <p:nvPr/>
        </p:nvSpPr>
        <p:spPr>
          <a:xfrm>
            <a:off x="685800" y="2103120"/>
            <a:ext cx="10058400" cy="137160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Where is that pallet?</a:t>
            </a:r>
            <a:endParaRPr lang="en-US" sz="6000" dirty="0"/>
          </a:p>
        </p:txBody>
      </p:sp>
      <p:sp>
        <p:nvSpPr>
          <p:cNvPr id="4" name="Text 2"/>
          <p:cNvSpPr/>
          <p:nvPr/>
        </p:nvSpPr>
        <p:spPr>
          <a:xfrm>
            <a:off x="685800" y="3611880"/>
            <a:ext cx="7863840" cy="914400"/>
          </a:xfrm>
          <a:prstGeom prst="rect">
            <a:avLst/>
          </a:prstGeom>
          <a:noFill/>
          <a:ln/>
        </p:spPr>
        <p:txBody>
          <a:bodyPr wrap="square" lIns="0" tIns="0" rIns="0" bIns="0" rtlCol="0" anchor="ctr"/>
          <a:lstStyle/>
          <a:p>
            <a:pPr indent="0" marL="0">
              <a:lnSpc>
                <a:spcPts val="3000"/>
              </a:lnSpc>
              <a:buNone/>
            </a:pPr>
            <a:r>
              <a:rPr lang="en-US" sz="1900" dirty="0">
                <a:solidFill>
                  <a:srgbClr val="C6CCC8"/>
                </a:solidFill>
                <a:latin typeface="Calibri" pitchFamily="34" charset="0"/>
                <a:ea typeface="Calibri" pitchFamily="34" charset="-122"/>
                <a:cs typeface="Calibri" pitchFamily="34" charset="-120"/>
              </a:rPr>
              <a:t>A simple system that always knows the answer —</a:t>
            </a:r>
            <a:endParaRPr lang="en-US" sz="1900" dirty="0"/>
          </a:p>
          <a:p>
            <a:pPr indent="0" marL="0">
              <a:lnSpc>
                <a:spcPts val="3000"/>
              </a:lnSpc>
              <a:buNone/>
            </a:pPr>
            <a:r>
              <a:rPr lang="en-US" sz="1900" dirty="0">
                <a:solidFill>
                  <a:srgbClr val="C6CCC8"/>
                </a:solidFill>
                <a:latin typeface="Calibri" pitchFamily="34" charset="0"/>
                <a:ea typeface="Calibri" pitchFamily="34" charset="-122"/>
                <a:cs typeface="Calibri" pitchFamily="34" charset="-120"/>
              </a:rPr>
              <a:t>and remembers who moved it, and when.</a:t>
            </a:r>
            <a:endParaRPr lang="en-US" sz="1900" dirty="0"/>
          </a:p>
        </p:txBody>
      </p:sp>
      <p:sp>
        <p:nvSpPr>
          <p:cNvPr id="5" name="Shape 3"/>
          <p:cNvSpPr/>
          <p:nvPr/>
        </p:nvSpPr>
        <p:spPr>
          <a:xfrm>
            <a:off x="685800" y="4800600"/>
            <a:ext cx="2331720" cy="402336"/>
          </a:xfrm>
          <a:prstGeom prst="roundRect">
            <a:avLst>
              <a:gd name="adj" fmla="val 40909"/>
            </a:avLst>
          </a:prstGeom>
          <a:solidFill>
            <a:srgbClr val="1D2221"/>
          </a:solidFill>
          <a:ln w="12700">
            <a:solidFill>
              <a:srgbClr val="3A423F"/>
            </a:solidFill>
            <a:prstDash val="solid"/>
          </a:ln>
        </p:spPr>
      </p:sp>
      <p:sp>
        <p:nvSpPr>
          <p:cNvPr id="6" name="Text 4"/>
          <p:cNvSpPr/>
          <p:nvPr/>
        </p:nvSpPr>
        <p:spPr>
          <a:xfrm>
            <a:off x="685800" y="4800600"/>
            <a:ext cx="2331720" cy="402336"/>
          </a:xfrm>
          <a:prstGeom prst="rect">
            <a:avLst/>
          </a:prstGeom>
          <a:noFill/>
          <a:ln/>
        </p:spPr>
        <p:txBody>
          <a:bodyPr wrap="square" lIns="0" tIns="0" rIns="0" bIns="0" rtlCol="0" anchor="ctr"/>
          <a:lstStyle/>
          <a:p>
            <a:pPr algn="ctr" indent="0" marL="0">
              <a:buNone/>
            </a:pPr>
            <a:r>
              <a:rPr lang="en-US" sz="1300" dirty="0">
                <a:solidFill>
                  <a:srgbClr val="E6B93C"/>
                </a:solidFill>
                <a:latin typeface="Courier New" pitchFamily="34" charset="0"/>
                <a:ea typeface="Courier New" pitchFamily="34" charset="-122"/>
                <a:cs typeface="Courier New" pitchFamily="34" charset="-120"/>
              </a:rPr>
              <a:t>2 stickers</a:t>
            </a:r>
            <a:endParaRPr lang="en-US" sz="1300" dirty="0"/>
          </a:p>
        </p:txBody>
      </p:sp>
      <p:sp>
        <p:nvSpPr>
          <p:cNvPr id="7" name="Shape 5"/>
          <p:cNvSpPr/>
          <p:nvPr/>
        </p:nvSpPr>
        <p:spPr>
          <a:xfrm>
            <a:off x="3218688" y="4800600"/>
            <a:ext cx="2103120" cy="402336"/>
          </a:xfrm>
          <a:prstGeom prst="roundRect">
            <a:avLst>
              <a:gd name="adj" fmla="val 40909"/>
            </a:avLst>
          </a:prstGeom>
          <a:solidFill>
            <a:srgbClr val="1D2221"/>
          </a:solidFill>
          <a:ln w="12700">
            <a:solidFill>
              <a:srgbClr val="3A423F"/>
            </a:solidFill>
            <a:prstDash val="solid"/>
          </a:ln>
        </p:spPr>
      </p:sp>
      <p:sp>
        <p:nvSpPr>
          <p:cNvPr id="8" name="Text 6"/>
          <p:cNvSpPr/>
          <p:nvPr/>
        </p:nvSpPr>
        <p:spPr>
          <a:xfrm>
            <a:off x="3218688" y="4800600"/>
            <a:ext cx="2103120" cy="402336"/>
          </a:xfrm>
          <a:prstGeom prst="rect">
            <a:avLst/>
          </a:prstGeom>
          <a:noFill/>
          <a:ln/>
        </p:spPr>
        <p:txBody>
          <a:bodyPr wrap="square" lIns="0" tIns="0" rIns="0" bIns="0" rtlCol="0" anchor="ctr"/>
          <a:lstStyle/>
          <a:p>
            <a:pPr algn="ctr" indent="0" marL="0">
              <a:buNone/>
            </a:pPr>
            <a:r>
              <a:rPr lang="en-US" sz="1300" dirty="0">
                <a:solidFill>
                  <a:srgbClr val="E6B93C"/>
                </a:solidFill>
                <a:latin typeface="Courier New" pitchFamily="34" charset="0"/>
                <a:ea typeface="Courier New" pitchFamily="34" charset="-122"/>
                <a:cs typeface="Courier New" pitchFamily="34" charset="-120"/>
              </a:rPr>
              <a:t>2 scans</a:t>
            </a:r>
            <a:endParaRPr lang="en-US" sz="1300" dirty="0"/>
          </a:p>
        </p:txBody>
      </p:sp>
      <p:sp>
        <p:nvSpPr>
          <p:cNvPr id="9" name="Shape 7"/>
          <p:cNvSpPr/>
          <p:nvPr/>
        </p:nvSpPr>
        <p:spPr>
          <a:xfrm>
            <a:off x="5522976" y="4800600"/>
            <a:ext cx="2926080" cy="402336"/>
          </a:xfrm>
          <a:prstGeom prst="roundRect">
            <a:avLst>
              <a:gd name="adj" fmla="val 40909"/>
            </a:avLst>
          </a:prstGeom>
          <a:solidFill>
            <a:srgbClr val="1D2221"/>
          </a:solidFill>
          <a:ln w="12700">
            <a:solidFill>
              <a:srgbClr val="3A423F"/>
            </a:solidFill>
            <a:prstDash val="solid"/>
          </a:ln>
        </p:spPr>
      </p:sp>
      <p:sp>
        <p:nvSpPr>
          <p:cNvPr id="10" name="Text 8"/>
          <p:cNvSpPr/>
          <p:nvPr/>
        </p:nvSpPr>
        <p:spPr>
          <a:xfrm>
            <a:off x="5522976" y="4800600"/>
            <a:ext cx="2926080" cy="402336"/>
          </a:xfrm>
          <a:prstGeom prst="rect">
            <a:avLst/>
          </a:prstGeom>
          <a:noFill/>
          <a:ln/>
        </p:spPr>
        <p:txBody>
          <a:bodyPr wrap="square" lIns="0" tIns="0" rIns="0" bIns="0" rtlCol="0" anchor="ctr"/>
          <a:lstStyle/>
          <a:p>
            <a:pPr algn="ctr" indent="0" marL="0">
              <a:buNone/>
            </a:pPr>
            <a:r>
              <a:rPr lang="en-US" sz="1300" dirty="0">
                <a:solidFill>
                  <a:srgbClr val="E6B93C"/>
                </a:solidFill>
                <a:latin typeface="Courier New" pitchFamily="34" charset="0"/>
                <a:ea typeface="Courier New" pitchFamily="34" charset="-122"/>
                <a:cs typeface="Courier New" pitchFamily="34" charset="-120"/>
              </a:rPr>
              <a:t>1 honest record</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3F0"/>
        </a:solidFill>
      </p:bgPr>
    </p:bg>
    <p:spTree>
      <p:nvGrpSpPr>
        <p:cNvPr id="1" name=""/>
        <p:cNvGrpSpPr/>
        <p:nvPr/>
      </p:nvGrpSpPr>
      <p:grpSpPr>
        <a:xfrm>
          <a:off x="0" y="0"/>
          <a:ext cx="0" cy="0"/>
          <a:chOff x="0" y="0"/>
          <a:chExt cx="0" cy="0"/>
        </a:xfrm>
      </p:grpSpPr>
      <p:sp>
        <p:nvSpPr>
          <p:cNvPr id="2" name="Text 0"/>
          <p:cNvSpPr/>
          <p:nvPr/>
        </p:nvSpPr>
        <p:spPr>
          <a:xfrm>
            <a:off x="685800" y="502920"/>
            <a:ext cx="10820095" cy="274320"/>
          </a:xfrm>
          <a:prstGeom prst="rect">
            <a:avLst/>
          </a:prstGeom>
          <a:noFill/>
          <a:ln/>
        </p:spPr>
        <p:txBody>
          <a:bodyPr wrap="square" lIns="0" tIns="0" rIns="0" bIns="0" rtlCol="0" anchor="ctr"/>
          <a:lstStyle/>
          <a:p>
            <a:pPr indent="0" marL="0">
              <a:buNone/>
            </a:pPr>
            <a:r>
              <a:rPr lang="en-US" sz="1100" b="1" spc="220" kern="0" dirty="0">
                <a:solidFill>
                  <a:srgbClr val="C9990B"/>
                </a:solidFill>
                <a:latin typeface="Courier New" pitchFamily="34" charset="0"/>
                <a:ea typeface="Courier New" pitchFamily="34" charset="-122"/>
                <a:cs typeface="Courier New" pitchFamily="34" charset="-120"/>
              </a:rPr>
              <a:t>TUESDAY, 09:14</a:t>
            </a:r>
            <a:endParaRPr lang="en-US" sz="1100" dirty="0"/>
          </a:p>
        </p:txBody>
      </p:sp>
      <p:sp>
        <p:nvSpPr>
          <p:cNvPr id="3" name="Text 1"/>
          <p:cNvSpPr/>
          <p:nvPr/>
        </p:nvSpPr>
        <p:spPr>
          <a:xfrm>
            <a:off x="685800" y="914400"/>
            <a:ext cx="6400800" cy="2377440"/>
          </a:xfrm>
          <a:prstGeom prst="rect">
            <a:avLst/>
          </a:prstGeom>
          <a:noFill/>
          <a:ln/>
        </p:spPr>
        <p:txBody>
          <a:bodyPr wrap="square" lIns="0" tIns="0" rIns="0" bIns="0" rtlCol="0" anchor="t"/>
          <a:lstStyle/>
          <a:p>
            <a:pPr indent="0" marL="0">
              <a:lnSpc>
                <a:spcPts val="3808"/>
              </a:lnSpc>
              <a:buNone/>
            </a:pPr>
            <a:r>
              <a:rPr lang="en-US" sz="3400" b="1" dirty="0">
                <a:solidFill>
                  <a:srgbClr val="101314"/>
                </a:solidFill>
                <a:latin typeface="Cambria" pitchFamily="34" charset="0"/>
                <a:ea typeface="Cambria" pitchFamily="34" charset="-122"/>
                <a:cs typeface="Cambria" pitchFamily="34" charset="-120"/>
              </a:rPr>
              <a:t>“I know we have amber jars</a:t>
            </a:r>
            <a:endParaRPr lang="en-US" sz="3400" dirty="0"/>
          </a:p>
          <a:p>
            <a:pPr indent="0" marL="0">
              <a:lnSpc>
                <a:spcPts val="3808"/>
              </a:lnSpc>
              <a:buNone/>
            </a:pPr>
            <a:r>
              <a:rPr lang="en-US" sz="3400" b="1" dirty="0">
                <a:solidFill>
                  <a:srgbClr val="101314"/>
                </a:solidFill>
                <a:latin typeface="Cambria" pitchFamily="34" charset="0"/>
                <a:ea typeface="Cambria" pitchFamily="34" charset="-122"/>
                <a:cs typeface="Cambria" pitchFamily="34" charset="-120"/>
              </a:rPr>
              <a:t>somewhere. I just don't</a:t>
            </a:r>
            <a:endParaRPr lang="en-US" sz="3400" dirty="0"/>
          </a:p>
          <a:p>
            <a:pPr indent="0" marL="0">
              <a:lnSpc>
                <a:spcPts val="3808"/>
              </a:lnSpc>
              <a:buNone/>
            </a:pPr>
            <a:r>
              <a:rPr lang="en-US" sz="3400" b="1" dirty="0">
                <a:solidFill>
                  <a:srgbClr val="101314"/>
                </a:solidFill>
                <a:latin typeface="Cambria" pitchFamily="34" charset="0"/>
                <a:ea typeface="Cambria" pitchFamily="34" charset="-122"/>
                <a:cs typeface="Cambria" pitchFamily="34" charset="-120"/>
              </a:rPr>
              <a:t>know where.”</a:t>
            </a:r>
            <a:endParaRPr lang="en-US" sz="3400" dirty="0"/>
          </a:p>
        </p:txBody>
      </p:sp>
      <p:sp>
        <p:nvSpPr>
          <p:cNvPr id="4" name="Text 2"/>
          <p:cNvSpPr/>
          <p:nvPr/>
        </p:nvSpPr>
        <p:spPr>
          <a:xfrm>
            <a:off x="685800" y="3566160"/>
            <a:ext cx="5486400" cy="274320"/>
          </a:xfrm>
          <a:prstGeom prst="rect">
            <a:avLst/>
          </a:prstGeom>
          <a:noFill/>
          <a:ln/>
        </p:spPr>
        <p:txBody>
          <a:bodyPr wrap="square" lIns="0" tIns="0" rIns="0" bIns="0" rtlCol="0" anchor="ctr"/>
          <a:lstStyle/>
          <a:p>
            <a:pPr indent="0" marL="0">
              <a:buNone/>
            </a:pPr>
            <a:r>
              <a:rPr lang="en-US" sz="1100" b="1" spc="200" kern="0" dirty="0">
                <a:solidFill>
                  <a:srgbClr val="6D7673"/>
                </a:solidFill>
                <a:latin typeface="Courier New" pitchFamily="34" charset="0"/>
                <a:ea typeface="Courier New" pitchFamily="34" charset="-122"/>
                <a:cs typeface="Courier New" pitchFamily="34" charset="-120"/>
              </a:rPr>
              <a:t>MIKAEL, WAREHOUSE</a:t>
            </a:r>
            <a:endParaRPr lang="en-US" sz="1100" dirty="0"/>
          </a:p>
        </p:txBody>
      </p:sp>
      <p:sp>
        <p:nvSpPr>
          <p:cNvPr id="5" name="Shape 3"/>
          <p:cNvSpPr/>
          <p:nvPr/>
        </p:nvSpPr>
        <p:spPr>
          <a:xfrm>
            <a:off x="6858000" y="1417320"/>
            <a:ext cx="4663440" cy="3566160"/>
          </a:xfrm>
          <a:prstGeom prst="roundRect">
            <a:avLst>
              <a:gd name="adj" fmla="val 1538"/>
            </a:avLst>
          </a:prstGeom>
          <a:solidFill>
            <a:srgbClr val="FFFFFF"/>
          </a:solidFill>
          <a:ln w="12700">
            <a:solidFill>
              <a:srgbClr val="D3D7D0"/>
            </a:solidFill>
            <a:prstDash val="solid"/>
          </a:ln>
          <a:effectLst>
            <a:outerShdw sx="100000" sy="100000" kx="0" ky="0" algn="bl" rotWithShape="0" blurRad="177800" dist="38100" dir="5400000">
              <a:srgbClr val="101314">
                <a:alpha val="10000"/>
              </a:srgbClr>
            </a:outerShdw>
          </a:effectLst>
        </p:spPr>
      </p:sp>
      <p:sp>
        <p:nvSpPr>
          <p:cNvPr id="6" name="Text 4"/>
          <p:cNvSpPr/>
          <p:nvPr/>
        </p:nvSpPr>
        <p:spPr>
          <a:xfrm>
            <a:off x="7223760" y="1783080"/>
            <a:ext cx="3931920" cy="1188720"/>
          </a:xfrm>
          <a:prstGeom prst="rect">
            <a:avLst/>
          </a:prstGeom>
          <a:noFill/>
          <a:ln/>
        </p:spPr>
        <p:txBody>
          <a:bodyPr wrap="square" lIns="0" tIns="0" rIns="0" bIns="0" rtlCol="0" anchor="t"/>
          <a:lstStyle/>
          <a:p>
            <a:pPr algn="l" indent="0" marL="0">
              <a:lnSpc>
                <a:spcPts val="2250"/>
              </a:lnSpc>
              <a:buNone/>
            </a:pPr>
            <a:r>
              <a:rPr lang="en-US" sz="1500" dirty="0">
                <a:solidFill>
                  <a:srgbClr val="3D4644"/>
                </a:solidFill>
                <a:latin typeface="Calibri" pitchFamily="34" charset="0"/>
                <a:ea typeface="Calibri" pitchFamily="34" charset="-122"/>
                <a:cs typeface="Calibri" pitchFamily="34" charset="-120"/>
              </a:rPr>
              <a:t>He walks aisle A. Then aisle C. He climbs to check the top level. Twenty minutes later he gives up and tells the office the jars are finished.</a:t>
            </a:r>
            <a:endParaRPr lang="en-US" sz="1500" dirty="0"/>
          </a:p>
        </p:txBody>
      </p:sp>
      <p:sp>
        <p:nvSpPr>
          <p:cNvPr id="7" name="Text 5"/>
          <p:cNvSpPr/>
          <p:nvPr/>
        </p:nvSpPr>
        <p:spPr>
          <a:xfrm>
            <a:off x="7223760" y="3017520"/>
            <a:ext cx="3931920" cy="320040"/>
          </a:xfrm>
          <a:prstGeom prst="rect">
            <a:avLst/>
          </a:prstGeom>
          <a:noFill/>
          <a:ln/>
        </p:spPr>
        <p:txBody>
          <a:bodyPr wrap="square" lIns="0" tIns="0" rIns="0" bIns="0" rtlCol="0" anchor="t"/>
          <a:lstStyle/>
          <a:p>
            <a:pPr algn="l" indent="0" marL="0">
              <a:lnSpc>
                <a:spcPts val="2400"/>
              </a:lnSpc>
              <a:buNone/>
            </a:pPr>
            <a:r>
              <a:rPr lang="en-US" sz="1600" b="1" dirty="0">
                <a:solidFill>
                  <a:srgbClr val="A93B2C"/>
                </a:solidFill>
                <a:latin typeface="Calibri" pitchFamily="34" charset="0"/>
                <a:ea typeface="Calibri" pitchFamily="34" charset="-122"/>
                <a:cs typeface="Calibri" pitchFamily="34" charset="-120"/>
              </a:rPr>
              <a:t>They were not finished.</a:t>
            </a:r>
            <a:endParaRPr lang="en-US" sz="1600" dirty="0"/>
          </a:p>
        </p:txBody>
      </p:sp>
      <p:sp>
        <p:nvSpPr>
          <p:cNvPr id="8" name="Text 6"/>
          <p:cNvSpPr/>
          <p:nvPr/>
        </p:nvSpPr>
        <p:spPr>
          <a:xfrm>
            <a:off x="7223760" y="3429000"/>
            <a:ext cx="3931920" cy="1005840"/>
          </a:xfrm>
          <a:prstGeom prst="rect">
            <a:avLst/>
          </a:prstGeom>
          <a:noFill/>
          <a:ln/>
        </p:spPr>
        <p:txBody>
          <a:bodyPr wrap="square" lIns="0" tIns="0" rIns="0" bIns="0" rtlCol="0" anchor="t"/>
          <a:lstStyle/>
          <a:p>
            <a:pPr algn="l" indent="0" marL="0">
              <a:lnSpc>
                <a:spcPts val="2250"/>
              </a:lnSpc>
              <a:buNone/>
            </a:pPr>
            <a:r>
              <a:rPr lang="en-US" sz="1500" dirty="0">
                <a:solidFill>
                  <a:srgbClr val="3D4644"/>
                </a:solidFill>
                <a:latin typeface="Calibri" pitchFamily="34" charset="0"/>
                <a:ea typeface="Calibri" pitchFamily="34" charset="-122"/>
                <a:cs typeface="Calibri" pitchFamily="34" charset="-120"/>
              </a:rPr>
              <a:t>A pallet of 4 800 jars was standing in aisle B, where somebody put it last Thursday because aisle A was full that day.</a:t>
            </a:r>
            <a:endParaRPr lang="en-US" sz="1500" dirty="0"/>
          </a:p>
        </p:txBody>
      </p:sp>
      <p:sp>
        <p:nvSpPr>
          <p:cNvPr id="9" name="Text 7"/>
          <p:cNvSpPr/>
          <p:nvPr/>
        </p:nvSpPr>
        <p:spPr>
          <a:xfrm>
            <a:off x="685800" y="4206240"/>
            <a:ext cx="5852160" cy="1005840"/>
          </a:xfrm>
          <a:prstGeom prst="rect">
            <a:avLst/>
          </a:prstGeom>
          <a:noFill/>
          <a:ln/>
        </p:spPr>
        <p:txBody>
          <a:bodyPr wrap="square" lIns="0" tIns="0" rIns="0" bIns="0" rtlCol="0" anchor="t"/>
          <a:lstStyle/>
          <a:p>
            <a:pPr algn="l" indent="0" marL="0">
              <a:lnSpc>
                <a:spcPts val="2250"/>
              </a:lnSpc>
              <a:buNone/>
            </a:pPr>
            <a:r>
              <a:rPr lang="en-US" sz="1500" dirty="0">
                <a:solidFill>
                  <a:srgbClr val="3D4644"/>
                </a:solidFill>
                <a:latin typeface="Calibri" pitchFamily="34" charset="0"/>
                <a:ea typeface="Calibri" pitchFamily="34" charset="-122"/>
                <a:cs typeface="Calibri" pitchFamily="34" charset="-120"/>
              </a:rPr>
              <a:t>Nobody did anything wrong. The information lived in one person's head — and that person was on holiday.</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3F0"/>
        </a:solidFill>
      </p:bgPr>
    </p:bg>
    <p:spTree>
      <p:nvGrpSpPr>
        <p:cNvPr id="1" name=""/>
        <p:cNvGrpSpPr/>
        <p:nvPr/>
      </p:nvGrpSpPr>
      <p:grpSpPr>
        <a:xfrm>
          <a:off x="0" y="0"/>
          <a:ext cx="0" cy="0"/>
          <a:chOff x="0" y="0"/>
          <a:chExt cx="0" cy="0"/>
        </a:xfrm>
      </p:grpSpPr>
      <p:sp>
        <p:nvSpPr>
          <p:cNvPr id="2" name="Text 0"/>
          <p:cNvSpPr/>
          <p:nvPr/>
        </p:nvSpPr>
        <p:spPr>
          <a:xfrm>
            <a:off x="685800" y="502920"/>
            <a:ext cx="10820095" cy="274320"/>
          </a:xfrm>
          <a:prstGeom prst="rect">
            <a:avLst/>
          </a:prstGeom>
          <a:noFill/>
          <a:ln/>
        </p:spPr>
        <p:txBody>
          <a:bodyPr wrap="square" lIns="0" tIns="0" rIns="0" bIns="0" rtlCol="0" anchor="ctr"/>
          <a:lstStyle/>
          <a:p>
            <a:pPr indent="0" marL="0">
              <a:buNone/>
            </a:pPr>
            <a:r>
              <a:rPr lang="en-US" sz="1100" b="1" spc="220" kern="0" dirty="0">
                <a:solidFill>
                  <a:srgbClr val="C9990B"/>
                </a:solidFill>
                <a:latin typeface="Courier New" pitchFamily="34" charset="0"/>
                <a:ea typeface="Courier New" pitchFamily="34" charset="-122"/>
                <a:cs typeface="Courier New" pitchFamily="34" charset="-120"/>
              </a:rPr>
              <a:t>WHAT THAT COSTS</a:t>
            </a:r>
            <a:endParaRPr lang="en-US" sz="1100" dirty="0"/>
          </a:p>
        </p:txBody>
      </p:sp>
      <p:sp>
        <p:nvSpPr>
          <p:cNvPr id="3" name="Text 1"/>
          <p:cNvSpPr/>
          <p:nvPr/>
        </p:nvSpPr>
        <p:spPr>
          <a:xfrm>
            <a:off x="685800" y="914400"/>
            <a:ext cx="10820095" cy="1051560"/>
          </a:xfrm>
          <a:prstGeom prst="rect">
            <a:avLst/>
          </a:prstGeom>
          <a:noFill/>
          <a:ln/>
        </p:spPr>
        <p:txBody>
          <a:bodyPr wrap="square" lIns="0" tIns="0" rIns="0" bIns="0" rtlCol="0" anchor="t"/>
          <a:lstStyle/>
          <a:p>
            <a:pPr indent="0" marL="0">
              <a:lnSpc>
                <a:spcPts val="4256"/>
              </a:lnSpc>
              <a:buNone/>
            </a:pPr>
            <a:r>
              <a:rPr lang="en-US" sz="3800" b="1" dirty="0">
                <a:solidFill>
                  <a:srgbClr val="101314"/>
                </a:solidFill>
                <a:latin typeface="Cambria" pitchFamily="34" charset="0"/>
                <a:ea typeface="Cambria" pitchFamily="34" charset="-122"/>
                <a:cs typeface="Cambria" pitchFamily="34" charset="-120"/>
              </a:rPr>
              <a:t>Four quiet losses</a:t>
            </a:r>
            <a:endParaRPr lang="en-US" sz="3800" dirty="0"/>
          </a:p>
        </p:txBody>
      </p:sp>
      <p:sp>
        <p:nvSpPr>
          <p:cNvPr id="4" name="Shape 2"/>
          <p:cNvSpPr/>
          <p:nvPr/>
        </p:nvSpPr>
        <p:spPr>
          <a:xfrm>
            <a:off x="685800" y="2240280"/>
            <a:ext cx="2505456" cy="2651760"/>
          </a:xfrm>
          <a:prstGeom prst="roundRect">
            <a:avLst>
              <a:gd name="adj" fmla="val 2190"/>
            </a:avLst>
          </a:prstGeom>
          <a:solidFill>
            <a:srgbClr val="FFFFFF"/>
          </a:solidFill>
          <a:ln w="12700">
            <a:solidFill>
              <a:srgbClr val="D3D7D0"/>
            </a:solidFill>
            <a:prstDash val="solid"/>
          </a:ln>
          <a:effectLst>
            <a:outerShdw sx="100000" sy="100000" kx="0" ky="0" algn="bl" rotWithShape="0" blurRad="177800" dist="38100" dir="5400000">
              <a:srgbClr val="101314">
                <a:alpha val="10000"/>
              </a:srgbClr>
            </a:outerShdw>
          </a:effectLst>
        </p:spPr>
      </p:sp>
      <p:sp>
        <p:nvSpPr>
          <p:cNvPr id="5" name="Text 3"/>
          <p:cNvSpPr/>
          <p:nvPr/>
        </p:nvSpPr>
        <p:spPr>
          <a:xfrm>
            <a:off x="941832" y="2487168"/>
            <a:ext cx="1993392" cy="1051560"/>
          </a:xfrm>
          <a:prstGeom prst="rect">
            <a:avLst/>
          </a:prstGeom>
          <a:noFill/>
          <a:ln/>
        </p:spPr>
        <p:txBody>
          <a:bodyPr wrap="square" lIns="0" tIns="0" rIns="0" bIns="0" rtlCol="0" anchor="t"/>
          <a:lstStyle/>
          <a:p>
            <a:pPr indent="0" marL="0">
              <a:lnSpc>
                <a:spcPts val="3600"/>
              </a:lnSpc>
              <a:buNone/>
            </a:pPr>
            <a:r>
              <a:rPr lang="en-US" sz="3300" b="1" dirty="0">
                <a:solidFill>
                  <a:srgbClr val="101314"/>
                </a:solidFill>
                <a:latin typeface="Cambria" pitchFamily="34" charset="0"/>
                <a:ea typeface="Cambria" pitchFamily="34" charset="-122"/>
                <a:cs typeface="Cambria" pitchFamily="34" charset="-120"/>
              </a:rPr>
              <a:t>20</a:t>
            </a:r>
            <a:pPr indent="0" marL="0">
              <a:lnSpc>
                <a:spcPts val="3600"/>
              </a:lnSpc>
              <a:buNone/>
            </a:pPr>
            <a:r>
              <a:rPr lang="en-US" sz="1400" dirty="0">
                <a:solidFill>
                  <a:srgbClr val="6D7673"/>
                </a:solidFill>
                <a:latin typeface="Cambria" pitchFamily="34" charset="0"/>
                <a:ea typeface="Cambria" pitchFamily="34" charset="-122"/>
                <a:cs typeface="Cambria" pitchFamily="34" charset="-120"/>
              </a:rPr>
              <a:t>  min/day</a:t>
            </a:r>
            <a:endParaRPr lang="en-US" sz="3300" dirty="0"/>
          </a:p>
        </p:txBody>
      </p:sp>
      <p:sp>
        <p:nvSpPr>
          <p:cNvPr id="6" name="Text 4"/>
          <p:cNvSpPr/>
          <p:nvPr/>
        </p:nvSpPr>
        <p:spPr>
          <a:xfrm>
            <a:off x="941832" y="3611880"/>
            <a:ext cx="1993392" cy="1143000"/>
          </a:xfrm>
          <a:prstGeom prst="rect">
            <a:avLst/>
          </a:prstGeom>
          <a:noFill/>
          <a:ln/>
        </p:spPr>
        <p:txBody>
          <a:bodyPr wrap="square" lIns="0" tIns="0" rIns="0" bIns="0" rtlCol="0" anchor="t"/>
          <a:lstStyle/>
          <a:p>
            <a:pPr algn="l" indent="0" marL="0">
              <a:lnSpc>
                <a:spcPts val="1950"/>
              </a:lnSpc>
              <a:buNone/>
            </a:pPr>
            <a:r>
              <a:rPr lang="en-US" sz="1300" dirty="0">
                <a:solidFill>
                  <a:srgbClr val="3D4644"/>
                </a:solidFill>
                <a:latin typeface="Calibri" pitchFamily="34" charset="0"/>
                <a:ea typeface="Calibri" pitchFamily="34" charset="-122"/>
                <a:cs typeface="Calibri" pitchFamily="34" charset="-120"/>
              </a:rPr>
              <a:t>Every person, every day, spent walking and looking instead of working.</a:t>
            </a:r>
            <a:endParaRPr lang="en-US" sz="1300" dirty="0"/>
          </a:p>
        </p:txBody>
      </p:sp>
      <p:sp>
        <p:nvSpPr>
          <p:cNvPr id="7" name="Shape 5"/>
          <p:cNvSpPr/>
          <p:nvPr/>
        </p:nvSpPr>
        <p:spPr>
          <a:xfrm>
            <a:off x="3447288" y="2240280"/>
            <a:ext cx="2505456" cy="2651760"/>
          </a:xfrm>
          <a:prstGeom prst="roundRect">
            <a:avLst>
              <a:gd name="adj" fmla="val 2190"/>
            </a:avLst>
          </a:prstGeom>
          <a:solidFill>
            <a:srgbClr val="FFFFFF"/>
          </a:solidFill>
          <a:ln w="12700">
            <a:solidFill>
              <a:srgbClr val="D3D7D0"/>
            </a:solidFill>
            <a:prstDash val="solid"/>
          </a:ln>
          <a:effectLst>
            <a:outerShdw sx="100000" sy="100000" kx="0" ky="0" algn="bl" rotWithShape="0" blurRad="177800" dist="38100" dir="5400000">
              <a:srgbClr val="101314">
                <a:alpha val="10000"/>
              </a:srgbClr>
            </a:outerShdw>
          </a:effectLst>
        </p:spPr>
      </p:sp>
      <p:sp>
        <p:nvSpPr>
          <p:cNvPr id="8" name="Text 6"/>
          <p:cNvSpPr/>
          <p:nvPr/>
        </p:nvSpPr>
        <p:spPr>
          <a:xfrm>
            <a:off x="3703320" y="2487168"/>
            <a:ext cx="1993392" cy="1051560"/>
          </a:xfrm>
          <a:prstGeom prst="rect">
            <a:avLst/>
          </a:prstGeom>
          <a:noFill/>
          <a:ln/>
        </p:spPr>
        <p:txBody>
          <a:bodyPr wrap="square" lIns="0" tIns="0" rIns="0" bIns="0" rtlCol="0" anchor="t"/>
          <a:lstStyle/>
          <a:p>
            <a:pPr indent="0" marL="0">
              <a:lnSpc>
                <a:spcPts val="3600"/>
              </a:lnSpc>
              <a:buNone/>
            </a:pPr>
            <a:r>
              <a:rPr lang="en-US" sz="3300" b="1" dirty="0">
                <a:solidFill>
                  <a:srgbClr val="101314"/>
                </a:solidFill>
                <a:latin typeface="Cambria" pitchFamily="34" charset="0"/>
                <a:ea typeface="Cambria" pitchFamily="34" charset="-122"/>
                <a:cs typeface="Cambria" pitchFamily="34" charset="-120"/>
              </a:rPr>
              <a:t>2×</a:t>
            </a:r>
            <a:pPr indent="0" marL="0">
              <a:lnSpc>
                <a:spcPts val="3600"/>
              </a:lnSpc>
              <a:buNone/>
            </a:pPr>
            <a:r>
              <a:rPr lang="en-US" sz="1400" dirty="0">
                <a:solidFill>
                  <a:srgbClr val="6D7673"/>
                </a:solidFill>
                <a:latin typeface="Cambria" pitchFamily="34" charset="0"/>
                <a:ea typeface="Cambria" pitchFamily="34" charset="-122"/>
                <a:cs typeface="Cambria" pitchFamily="34" charset="-120"/>
              </a:rPr>
              <a:t>  ordered</a:t>
            </a:r>
            <a:endParaRPr lang="en-US" sz="3300" dirty="0"/>
          </a:p>
        </p:txBody>
      </p:sp>
      <p:sp>
        <p:nvSpPr>
          <p:cNvPr id="9" name="Text 7"/>
          <p:cNvSpPr/>
          <p:nvPr/>
        </p:nvSpPr>
        <p:spPr>
          <a:xfrm>
            <a:off x="3703320" y="3611880"/>
            <a:ext cx="1993392" cy="1143000"/>
          </a:xfrm>
          <a:prstGeom prst="rect">
            <a:avLst/>
          </a:prstGeom>
          <a:noFill/>
          <a:ln/>
        </p:spPr>
        <p:txBody>
          <a:bodyPr wrap="square" lIns="0" tIns="0" rIns="0" bIns="0" rtlCol="0" anchor="t"/>
          <a:lstStyle/>
          <a:p>
            <a:pPr algn="l" indent="0" marL="0">
              <a:lnSpc>
                <a:spcPts val="1950"/>
              </a:lnSpc>
              <a:buNone/>
            </a:pPr>
            <a:r>
              <a:rPr lang="en-US" sz="1300" dirty="0">
                <a:solidFill>
                  <a:srgbClr val="3D4644"/>
                </a:solidFill>
                <a:latin typeface="Calibri" pitchFamily="34" charset="0"/>
                <a:ea typeface="Calibri" pitchFamily="34" charset="-122"/>
                <a:cs typeface="Calibri" pitchFamily="34" charset="-120"/>
              </a:rPr>
              <a:t>Material bought again because the first pallet could not be found.</a:t>
            </a:r>
            <a:endParaRPr lang="en-US" sz="1300" dirty="0"/>
          </a:p>
        </p:txBody>
      </p:sp>
      <p:sp>
        <p:nvSpPr>
          <p:cNvPr id="10" name="Shape 8"/>
          <p:cNvSpPr/>
          <p:nvPr/>
        </p:nvSpPr>
        <p:spPr>
          <a:xfrm>
            <a:off x="6208776" y="2240280"/>
            <a:ext cx="2505456" cy="2651760"/>
          </a:xfrm>
          <a:prstGeom prst="roundRect">
            <a:avLst>
              <a:gd name="adj" fmla="val 2190"/>
            </a:avLst>
          </a:prstGeom>
          <a:solidFill>
            <a:srgbClr val="FFFFFF"/>
          </a:solidFill>
          <a:ln w="12700">
            <a:solidFill>
              <a:srgbClr val="D3D7D0"/>
            </a:solidFill>
            <a:prstDash val="solid"/>
          </a:ln>
          <a:effectLst>
            <a:outerShdw sx="100000" sy="100000" kx="0" ky="0" algn="bl" rotWithShape="0" blurRad="177800" dist="38100" dir="5400000">
              <a:srgbClr val="101314">
                <a:alpha val="10000"/>
              </a:srgbClr>
            </a:outerShdw>
          </a:effectLst>
        </p:spPr>
      </p:sp>
      <p:sp>
        <p:nvSpPr>
          <p:cNvPr id="11" name="Text 9"/>
          <p:cNvSpPr/>
          <p:nvPr/>
        </p:nvSpPr>
        <p:spPr>
          <a:xfrm>
            <a:off x="6464808" y="2487168"/>
            <a:ext cx="1993392" cy="1051560"/>
          </a:xfrm>
          <a:prstGeom prst="rect">
            <a:avLst/>
          </a:prstGeom>
          <a:noFill/>
          <a:ln/>
        </p:spPr>
        <p:txBody>
          <a:bodyPr wrap="square" lIns="0" tIns="0" rIns="0" bIns="0" rtlCol="0" anchor="t"/>
          <a:lstStyle/>
          <a:p>
            <a:pPr indent="0" marL="0">
              <a:lnSpc>
                <a:spcPts val="3600"/>
              </a:lnSpc>
              <a:buNone/>
            </a:pPr>
            <a:r>
              <a:rPr lang="en-US" sz="3300" b="1" dirty="0">
                <a:solidFill>
                  <a:srgbClr val="101314"/>
                </a:solidFill>
                <a:latin typeface="Cambria" pitchFamily="34" charset="0"/>
                <a:ea typeface="Cambria" pitchFamily="34" charset="-122"/>
                <a:cs typeface="Cambria" pitchFamily="34" charset="-120"/>
              </a:rPr>
              <a:t>Oldest</a:t>
            </a:r>
            <a:pPr indent="0" marL="0">
              <a:lnSpc>
                <a:spcPts val="3600"/>
              </a:lnSpc>
              <a:buNone/>
            </a:pPr>
            <a:r>
              <a:rPr lang="en-US" sz="1400" dirty="0">
                <a:solidFill>
                  <a:srgbClr val="6D7673"/>
                </a:solidFill>
                <a:latin typeface="Cambria" pitchFamily="34" charset="0"/>
                <a:ea typeface="Cambria" pitchFamily="34" charset="-122"/>
                <a:cs typeface="Cambria" pitchFamily="34" charset="-120"/>
              </a:rPr>
              <a:t>  at the back</a:t>
            </a:r>
            <a:endParaRPr lang="en-US" sz="3300" dirty="0"/>
          </a:p>
        </p:txBody>
      </p:sp>
      <p:sp>
        <p:nvSpPr>
          <p:cNvPr id="12" name="Text 10"/>
          <p:cNvSpPr/>
          <p:nvPr/>
        </p:nvSpPr>
        <p:spPr>
          <a:xfrm>
            <a:off x="6464808" y="3611880"/>
            <a:ext cx="1993392" cy="1143000"/>
          </a:xfrm>
          <a:prstGeom prst="rect">
            <a:avLst/>
          </a:prstGeom>
          <a:noFill/>
          <a:ln/>
        </p:spPr>
        <p:txBody>
          <a:bodyPr wrap="square" lIns="0" tIns="0" rIns="0" bIns="0" rtlCol="0" anchor="t"/>
          <a:lstStyle/>
          <a:p>
            <a:pPr algn="l" indent="0" marL="0">
              <a:lnSpc>
                <a:spcPts val="1950"/>
              </a:lnSpc>
              <a:buNone/>
            </a:pPr>
            <a:r>
              <a:rPr lang="en-US" sz="1300" dirty="0">
                <a:solidFill>
                  <a:srgbClr val="3D4644"/>
                </a:solidFill>
                <a:latin typeface="Calibri" pitchFamily="34" charset="0"/>
                <a:ea typeface="Calibri" pitchFamily="34" charset="-122"/>
                <a:cs typeface="Calibri" pitchFamily="34" charset="-120"/>
              </a:rPr>
              <a:t>The newest pallet is easiest to reach, so the old one quietly ages.</a:t>
            </a:r>
            <a:endParaRPr lang="en-US" sz="1300" dirty="0"/>
          </a:p>
        </p:txBody>
      </p:sp>
      <p:sp>
        <p:nvSpPr>
          <p:cNvPr id="13" name="Shape 11"/>
          <p:cNvSpPr/>
          <p:nvPr/>
        </p:nvSpPr>
        <p:spPr>
          <a:xfrm>
            <a:off x="8970264" y="2240280"/>
            <a:ext cx="2505456" cy="2651760"/>
          </a:xfrm>
          <a:prstGeom prst="roundRect">
            <a:avLst>
              <a:gd name="adj" fmla="val 2190"/>
            </a:avLst>
          </a:prstGeom>
          <a:solidFill>
            <a:srgbClr val="FFFFFF"/>
          </a:solidFill>
          <a:ln w="12700">
            <a:solidFill>
              <a:srgbClr val="D3D7D0"/>
            </a:solidFill>
            <a:prstDash val="solid"/>
          </a:ln>
          <a:effectLst>
            <a:outerShdw sx="100000" sy="100000" kx="0" ky="0" algn="bl" rotWithShape="0" blurRad="177800" dist="38100" dir="5400000">
              <a:srgbClr val="101314">
                <a:alpha val="10000"/>
              </a:srgbClr>
            </a:outerShdw>
          </a:effectLst>
        </p:spPr>
      </p:sp>
      <p:sp>
        <p:nvSpPr>
          <p:cNvPr id="14" name="Text 12"/>
          <p:cNvSpPr/>
          <p:nvPr/>
        </p:nvSpPr>
        <p:spPr>
          <a:xfrm>
            <a:off x="9226296" y="2487168"/>
            <a:ext cx="1993392" cy="1051560"/>
          </a:xfrm>
          <a:prstGeom prst="rect">
            <a:avLst/>
          </a:prstGeom>
          <a:noFill/>
          <a:ln/>
        </p:spPr>
        <p:txBody>
          <a:bodyPr wrap="square" lIns="0" tIns="0" rIns="0" bIns="0" rtlCol="0" anchor="t"/>
          <a:lstStyle/>
          <a:p>
            <a:pPr indent="0" marL="0">
              <a:lnSpc>
                <a:spcPts val="3600"/>
              </a:lnSpc>
              <a:buNone/>
            </a:pPr>
            <a:r>
              <a:rPr lang="en-US" sz="3300" b="1" dirty="0">
                <a:solidFill>
                  <a:srgbClr val="101314"/>
                </a:solidFill>
                <a:latin typeface="Cambria" pitchFamily="34" charset="0"/>
                <a:ea typeface="Cambria" pitchFamily="34" charset="-122"/>
                <a:cs typeface="Cambria" pitchFamily="34" charset="-120"/>
              </a:rPr>
              <a:t>No</a:t>
            </a:r>
            <a:pPr indent="0" marL="0">
              <a:lnSpc>
                <a:spcPts val="3600"/>
              </a:lnSpc>
              <a:buNone/>
            </a:pPr>
            <a:r>
              <a:rPr lang="en-US" sz="1400" dirty="0">
                <a:solidFill>
                  <a:srgbClr val="6D7673"/>
                </a:solidFill>
                <a:latin typeface="Cambria" pitchFamily="34" charset="0"/>
                <a:ea typeface="Cambria" pitchFamily="34" charset="-122"/>
                <a:cs typeface="Cambria" pitchFamily="34" charset="-120"/>
              </a:rPr>
              <a:t>  history</a:t>
            </a:r>
            <a:endParaRPr lang="en-US" sz="3300" dirty="0"/>
          </a:p>
        </p:txBody>
      </p:sp>
      <p:sp>
        <p:nvSpPr>
          <p:cNvPr id="15" name="Text 13"/>
          <p:cNvSpPr/>
          <p:nvPr/>
        </p:nvSpPr>
        <p:spPr>
          <a:xfrm>
            <a:off x="9226296" y="3611880"/>
            <a:ext cx="1993392" cy="1143000"/>
          </a:xfrm>
          <a:prstGeom prst="rect">
            <a:avLst/>
          </a:prstGeom>
          <a:noFill/>
          <a:ln/>
        </p:spPr>
        <p:txBody>
          <a:bodyPr wrap="square" lIns="0" tIns="0" rIns="0" bIns="0" rtlCol="0" anchor="t"/>
          <a:lstStyle/>
          <a:p>
            <a:pPr algn="l" indent="0" marL="0">
              <a:lnSpc>
                <a:spcPts val="1950"/>
              </a:lnSpc>
              <a:buNone/>
            </a:pPr>
            <a:r>
              <a:rPr lang="en-US" sz="1300" dirty="0">
                <a:solidFill>
                  <a:srgbClr val="3D4644"/>
                </a:solidFill>
                <a:latin typeface="Calibri" pitchFamily="34" charset="0"/>
                <a:ea typeface="Calibri" pitchFamily="34" charset="-122"/>
                <a:cs typeface="Calibri" pitchFamily="34" charset="-120"/>
              </a:rPr>
              <a:t>When something goes wrong, nobody can say what happened, or when.</a:t>
            </a:r>
            <a:endParaRPr lang="en-US" sz="1300" dirty="0"/>
          </a:p>
        </p:txBody>
      </p:sp>
      <p:sp>
        <p:nvSpPr>
          <p:cNvPr id="16" name="Text 14"/>
          <p:cNvSpPr/>
          <p:nvPr/>
        </p:nvSpPr>
        <p:spPr>
          <a:xfrm>
            <a:off x="685800" y="5120640"/>
            <a:ext cx="10424160" cy="640080"/>
          </a:xfrm>
          <a:prstGeom prst="rect">
            <a:avLst/>
          </a:prstGeom>
          <a:noFill/>
          <a:ln/>
        </p:spPr>
        <p:txBody>
          <a:bodyPr wrap="square" lIns="0" tIns="0" rIns="0" bIns="0" rtlCol="0" anchor="t"/>
          <a:lstStyle/>
          <a:p>
            <a:pPr algn="l" indent="0" marL="0">
              <a:lnSpc>
                <a:spcPts val="2250"/>
              </a:lnSpc>
              <a:buNone/>
            </a:pPr>
            <a:r>
              <a:rPr lang="en-US" sz="1500" dirty="0">
                <a:solidFill>
                  <a:srgbClr val="3D4644"/>
                </a:solidFill>
                <a:latin typeface="Calibri" pitchFamily="34" charset="0"/>
                <a:ea typeface="Calibri" pitchFamily="34" charset="-122"/>
                <a:cs typeface="Calibri" pitchFamily="34" charset="-120"/>
              </a:rPr>
              <a:t>None of these is dramatic on any single day. Together they are why the warehouse feels busy without getting more done.</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01314"/>
        </a:solidFill>
      </p:bgPr>
    </p:bg>
    <p:spTree>
      <p:nvGrpSpPr>
        <p:cNvPr id="1" name=""/>
        <p:cNvGrpSpPr/>
        <p:nvPr/>
      </p:nvGrpSpPr>
      <p:grpSpPr>
        <a:xfrm>
          <a:off x="0" y="0"/>
          <a:ext cx="0" cy="0"/>
          <a:chOff x="0" y="0"/>
          <a:chExt cx="0" cy="0"/>
        </a:xfrm>
      </p:grpSpPr>
      <p:sp>
        <p:nvSpPr>
          <p:cNvPr id="2" name="Text 0"/>
          <p:cNvSpPr/>
          <p:nvPr/>
        </p:nvSpPr>
        <p:spPr>
          <a:xfrm>
            <a:off x="685800" y="502920"/>
            <a:ext cx="10820095" cy="274320"/>
          </a:xfrm>
          <a:prstGeom prst="rect">
            <a:avLst/>
          </a:prstGeom>
          <a:noFill/>
          <a:ln/>
        </p:spPr>
        <p:txBody>
          <a:bodyPr wrap="square" lIns="0" tIns="0" rIns="0" bIns="0" rtlCol="0" anchor="ctr"/>
          <a:lstStyle/>
          <a:p>
            <a:pPr indent="0" marL="0">
              <a:buNone/>
            </a:pPr>
            <a:r>
              <a:rPr lang="en-US" sz="1100" b="1" spc="220" kern="0" dirty="0">
                <a:solidFill>
                  <a:srgbClr val="E6B93C"/>
                </a:solidFill>
                <a:latin typeface="Courier New" pitchFamily="34" charset="0"/>
                <a:ea typeface="Courier New" pitchFamily="34" charset="-122"/>
                <a:cs typeface="Courier New" pitchFamily="34" charset="-120"/>
              </a:rPr>
              <a:t>THE IDEA</a:t>
            </a:r>
            <a:endParaRPr lang="en-US" sz="1100" dirty="0"/>
          </a:p>
        </p:txBody>
      </p:sp>
      <p:sp>
        <p:nvSpPr>
          <p:cNvPr id="3" name="Text 1"/>
          <p:cNvSpPr/>
          <p:nvPr/>
        </p:nvSpPr>
        <p:spPr>
          <a:xfrm>
            <a:off x="685800" y="1463040"/>
            <a:ext cx="10515600" cy="1828800"/>
          </a:xfrm>
          <a:prstGeom prst="rect">
            <a:avLst/>
          </a:prstGeom>
          <a:noFill/>
          <a:ln/>
        </p:spPr>
        <p:txBody>
          <a:bodyPr wrap="square" lIns="0" tIns="0" rIns="0" bIns="0" rtlCol="0" anchor="ctr"/>
          <a:lstStyle/>
          <a:p>
            <a:pPr indent="0" marL="0">
              <a:lnSpc>
                <a:spcPts val="5200"/>
              </a:lnSpc>
              <a:buNone/>
            </a:pPr>
            <a:r>
              <a:rPr lang="en-US" sz="4200" b="1" dirty="0">
                <a:solidFill>
                  <a:srgbClr val="FFFFFF"/>
                </a:solidFill>
                <a:latin typeface="Cambria" pitchFamily="34" charset="0"/>
                <a:ea typeface="Cambria" pitchFamily="34" charset="-122"/>
                <a:cs typeface="Cambria" pitchFamily="34" charset="-120"/>
              </a:rPr>
              <a:t>Give every shelf a house number.</a:t>
            </a:r>
            <a:endParaRPr lang="en-US" sz="4200" dirty="0"/>
          </a:p>
          <a:p>
            <a:pPr indent="0" marL="0">
              <a:lnSpc>
                <a:spcPts val="5200"/>
              </a:lnSpc>
              <a:buNone/>
            </a:pPr>
            <a:r>
              <a:rPr lang="en-US" sz="4200" b="1" dirty="0">
                <a:solidFill>
                  <a:srgbClr val="FFFFFF"/>
                </a:solidFill>
                <a:latin typeface="Cambria" pitchFamily="34" charset="0"/>
                <a:ea typeface="Cambria" pitchFamily="34" charset="-122"/>
                <a:cs typeface="Cambria" pitchFamily="34" charset="-120"/>
              </a:rPr>
              <a:t>Give every pallet a name tag.</a:t>
            </a:r>
            <a:endParaRPr lang="en-US" sz="4200" dirty="0"/>
          </a:p>
        </p:txBody>
      </p:sp>
      <p:sp>
        <p:nvSpPr>
          <p:cNvPr id="4" name="Text 2"/>
          <p:cNvSpPr/>
          <p:nvPr/>
        </p:nvSpPr>
        <p:spPr>
          <a:xfrm>
            <a:off x="685800" y="3520440"/>
            <a:ext cx="7680960" cy="914400"/>
          </a:xfrm>
          <a:prstGeom prst="rect">
            <a:avLst/>
          </a:prstGeom>
          <a:noFill/>
          <a:ln/>
        </p:spPr>
        <p:txBody>
          <a:bodyPr wrap="square" lIns="0" tIns="0" rIns="0" bIns="0" rtlCol="0" anchor="t"/>
          <a:lstStyle/>
          <a:p>
            <a:pPr algn="l" indent="0" marL="0">
              <a:lnSpc>
                <a:spcPts val="2700"/>
              </a:lnSpc>
              <a:buNone/>
            </a:pPr>
            <a:r>
              <a:rPr lang="en-US" sz="1800" dirty="0">
                <a:solidFill>
                  <a:srgbClr val="C6CCC8"/>
                </a:solidFill>
                <a:latin typeface="Calibri" pitchFamily="34" charset="0"/>
                <a:ea typeface="Calibri" pitchFamily="34" charset="-122"/>
                <a:cs typeface="Calibri" pitchFamily="34" charset="-120"/>
              </a:rPr>
              <a:t>Then a phone camera can connect the two in six seconds — and the warehouse can answer questions instead of guessing.</a:t>
            </a:r>
            <a:endParaRPr lang="en-US" sz="1800" dirty="0"/>
          </a:p>
        </p:txBody>
      </p:sp>
      <p:sp>
        <p:nvSpPr>
          <p:cNvPr id="5" name="Shape 3"/>
          <p:cNvSpPr/>
          <p:nvPr/>
        </p:nvSpPr>
        <p:spPr>
          <a:xfrm>
            <a:off x="685800" y="4892040"/>
            <a:ext cx="2331720" cy="420624"/>
          </a:xfrm>
          <a:prstGeom prst="roundRect">
            <a:avLst>
              <a:gd name="adj" fmla="val 39130"/>
            </a:avLst>
          </a:prstGeom>
          <a:solidFill>
            <a:srgbClr val="1D2221"/>
          </a:solidFill>
          <a:ln w="12700">
            <a:solidFill>
              <a:srgbClr val="3A423F"/>
            </a:solidFill>
            <a:prstDash val="solid"/>
          </a:ln>
        </p:spPr>
      </p:sp>
      <p:sp>
        <p:nvSpPr>
          <p:cNvPr id="6" name="Text 4"/>
          <p:cNvSpPr/>
          <p:nvPr/>
        </p:nvSpPr>
        <p:spPr>
          <a:xfrm>
            <a:off x="685800" y="4892040"/>
            <a:ext cx="2331720" cy="420624"/>
          </a:xfrm>
          <a:prstGeom prst="rect">
            <a:avLst/>
          </a:prstGeom>
          <a:noFill/>
          <a:ln/>
        </p:spPr>
        <p:txBody>
          <a:bodyPr wrap="square" lIns="0" tIns="0" rIns="0" bIns="0" rtlCol="0" anchor="ctr"/>
          <a:lstStyle/>
          <a:p>
            <a:pPr algn="ctr" indent="0" marL="0">
              <a:buNone/>
            </a:pPr>
            <a:r>
              <a:rPr lang="en-US" sz="1200" dirty="0">
                <a:solidFill>
                  <a:srgbClr val="D9DFDB"/>
                </a:solidFill>
                <a:latin typeface="Courier New" pitchFamily="34" charset="0"/>
                <a:ea typeface="Courier New" pitchFamily="34" charset="-122"/>
                <a:cs typeface="Courier New" pitchFamily="34" charset="-120"/>
              </a:rPr>
              <a:t>No new equipment</a:t>
            </a:r>
            <a:endParaRPr lang="en-US" sz="1200" dirty="0"/>
          </a:p>
        </p:txBody>
      </p:sp>
      <p:sp>
        <p:nvSpPr>
          <p:cNvPr id="7" name="Shape 5"/>
          <p:cNvSpPr/>
          <p:nvPr/>
        </p:nvSpPr>
        <p:spPr>
          <a:xfrm>
            <a:off x="3182112" y="4892040"/>
            <a:ext cx="2212848" cy="420624"/>
          </a:xfrm>
          <a:prstGeom prst="roundRect">
            <a:avLst>
              <a:gd name="adj" fmla="val 39130"/>
            </a:avLst>
          </a:prstGeom>
          <a:solidFill>
            <a:srgbClr val="1D2221"/>
          </a:solidFill>
          <a:ln w="12700">
            <a:solidFill>
              <a:srgbClr val="3A423F"/>
            </a:solidFill>
            <a:prstDash val="solid"/>
          </a:ln>
        </p:spPr>
      </p:sp>
      <p:sp>
        <p:nvSpPr>
          <p:cNvPr id="8" name="Text 6"/>
          <p:cNvSpPr/>
          <p:nvPr/>
        </p:nvSpPr>
        <p:spPr>
          <a:xfrm>
            <a:off x="3182112" y="4892040"/>
            <a:ext cx="2212848" cy="420624"/>
          </a:xfrm>
          <a:prstGeom prst="rect">
            <a:avLst/>
          </a:prstGeom>
          <a:noFill/>
          <a:ln/>
        </p:spPr>
        <p:txBody>
          <a:bodyPr wrap="square" lIns="0" tIns="0" rIns="0" bIns="0" rtlCol="0" anchor="ctr"/>
          <a:lstStyle/>
          <a:p>
            <a:pPr algn="ctr" indent="0" marL="0">
              <a:buNone/>
            </a:pPr>
            <a:r>
              <a:rPr lang="en-US" sz="1200" dirty="0">
                <a:solidFill>
                  <a:srgbClr val="D9DFDB"/>
                </a:solidFill>
                <a:latin typeface="Courier New" pitchFamily="34" charset="0"/>
                <a:ea typeface="Courier New" pitchFamily="34" charset="-122"/>
                <a:cs typeface="Courier New" pitchFamily="34" charset="-120"/>
              </a:rPr>
              <a:t>No app to install</a:t>
            </a:r>
            <a:endParaRPr lang="en-US" sz="1200" dirty="0"/>
          </a:p>
        </p:txBody>
      </p:sp>
      <p:sp>
        <p:nvSpPr>
          <p:cNvPr id="9" name="Shape 7"/>
          <p:cNvSpPr/>
          <p:nvPr/>
        </p:nvSpPr>
        <p:spPr>
          <a:xfrm>
            <a:off x="5559552" y="4892040"/>
            <a:ext cx="3246120" cy="420624"/>
          </a:xfrm>
          <a:prstGeom prst="roundRect">
            <a:avLst>
              <a:gd name="adj" fmla="val 39130"/>
            </a:avLst>
          </a:prstGeom>
          <a:solidFill>
            <a:srgbClr val="1D2221"/>
          </a:solidFill>
          <a:ln w="12700">
            <a:solidFill>
              <a:srgbClr val="3A423F"/>
            </a:solidFill>
            <a:prstDash val="solid"/>
          </a:ln>
        </p:spPr>
      </p:sp>
      <p:sp>
        <p:nvSpPr>
          <p:cNvPr id="10" name="Text 8"/>
          <p:cNvSpPr/>
          <p:nvPr/>
        </p:nvSpPr>
        <p:spPr>
          <a:xfrm>
            <a:off x="5559552" y="4892040"/>
            <a:ext cx="3246120" cy="420624"/>
          </a:xfrm>
          <a:prstGeom prst="rect">
            <a:avLst/>
          </a:prstGeom>
          <a:noFill/>
          <a:ln/>
        </p:spPr>
        <p:txBody>
          <a:bodyPr wrap="square" lIns="0" tIns="0" rIns="0" bIns="0" rtlCol="0" anchor="ctr"/>
          <a:lstStyle/>
          <a:p>
            <a:pPr algn="ctr" indent="0" marL="0">
              <a:buNone/>
            </a:pPr>
            <a:r>
              <a:rPr lang="en-US" sz="1200" dirty="0">
                <a:solidFill>
                  <a:srgbClr val="D9DFDB"/>
                </a:solidFill>
                <a:latin typeface="Courier New" pitchFamily="34" charset="0"/>
                <a:ea typeface="Courier New" pitchFamily="34" charset="-122"/>
                <a:cs typeface="Courier New" pitchFamily="34" charset="-120"/>
              </a:rPr>
              <a:t>No change to how pallets move</a:t>
            </a:r>
            <a:endParaRPr lang="en-US" sz="1200" dirty="0"/>
          </a:p>
        </p:txBody>
      </p:sp>
      <p:sp>
        <p:nvSpPr>
          <p:cNvPr id="11" name="Shape 9"/>
          <p:cNvSpPr/>
          <p:nvPr/>
        </p:nvSpPr>
        <p:spPr>
          <a:xfrm>
            <a:off x="8970264" y="4892040"/>
            <a:ext cx="2212848" cy="420624"/>
          </a:xfrm>
          <a:prstGeom prst="roundRect">
            <a:avLst>
              <a:gd name="adj" fmla="val 39130"/>
            </a:avLst>
          </a:prstGeom>
          <a:solidFill>
            <a:srgbClr val="1D2221"/>
          </a:solidFill>
          <a:ln w="12700">
            <a:solidFill>
              <a:srgbClr val="3A423F"/>
            </a:solidFill>
            <a:prstDash val="solid"/>
          </a:ln>
        </p:spPr>
      </p:sp>
      <p:sp>
        <p:nvSpPr>
          <p:cNvPr id="12" name="Text 10"/>
          <p:cNvSpPr/>
          <p:nvPr/>
        </p:nvSpPr>
        <p:spPr>
          <a:xfrm>
            <a:off x="8970264" y="4892040"/>
            <a:ext cx="2212848" cy="420624"/>
          </a:xfrm>
          <a:prstGeom prst="rect">
            <a:avLst/>
          </a:prstGeom>
          <a:noFill/>
          <a:ln/>
        </p:spPr>
        <p:txBody>
          <a:bodyPr wrap="square" lIns="0" tIns="0" rIns="0" bIns="0" rtlCol="0" anchor="ctr"/>
          <a:lstStyle/>
          <a:p>
            <a:pPr algn="ctr" indent="0" marL="0">
              <a:buNone/>
            </a:pPr>
            <a:r>
              <a:rPr lang="en-US" sz="1200" dirty="0">
                <a:solidFill>
                  <a:srgbClr val="D9DFDB"/>
                </a:solidFill>
                <a:latin typeface="Courier New" pitchFamily="34" charset="0"/>
                <a:ea typeface="Courier New" pitchFamily="34" charset="-122"/>
                <a:cs typeface="Courier New" pitchFamily="34" charset="-120"/>
              </a:rPr>
              <a:t>10 minutes of training</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3F0"/>
        </a:solidFill>
      </p:bgPr>
    </p:bg>
    <p:spTree>
      <p:nvGrpSpPr>
        <p:cNvPr id="1" name=""/>
        <p:cNvGrpSpPr/>
        <p:nvPr/>
      </p:nvGrpSpPr>
      <p:grpSpPr>
        <a:xfrm>
          <a:off x="0" y="0"/>
          <a:ext cx="0" cy="0"/>
          <a:chOff x="0" y="0"/>
          <a:chExt cx="0" cy="0"/>
        </a:xfrm>
      </p:grpSpPr>
      <p:sp>
        <p:nvSpPr>
          <p:cNvPr id="2" name="Text 0"/>
          <p:cNvSpPr/>
          <p:nvPr/>
        </p:nvSpPr>
        <p:spPr>
          <a:xfrm>
            <a:off x="685800" y="502920"/>
            <a:ext cx="10820095" cy="274320"/>
          </a:xfrm>
          <a:prstGeom prst="rect">
            <a:avLst/>
          </a:prstGeom>
          <a:noFill/>
          <a:ln/>
        </p:spPr>
        <p:txBody>
          <a:bodyPr wrap="square" lIns="0" tIns="0" rIns="0" bIns="0" rtlCol="0" anchor="ctr"/>
          <a:lstStyle/>
          <a:p>
            <a:pPr indent="0" marL="0">
              <a:buNone/>
            </a:pPr>
            <a:r>
              <a:rPr lang="en-US" sz="1100" b="1" spc="220" kern="0" dirty="0">
                <a:solidFill>
                  <a:srgbClr val="C9990B"/>
                </a:solidFill>
                <a:latin typeface="Courier New" pitchFamily="34" charset="0"/>
                <a:ea typeface="Courier New" pitchFamily="34" charset="-122"/>
                <a:cs typeface="Courier New" pitchFamily="34" charset="-120"/>
              </a:rPr>
              <a:t>THE TWO STICKERS</a:t>
            </a:r>
            <a:endParaRPr lang="en-US" sz="1100" dirty="0"/>
          </a:p>
        </p:txBody>
      </p:sp>
      <p:sp>
        <p:nvSpPr>
          <p:cNvPr id="3" name="Text 1"/>
          <p:cNvSpPr/>
          <p:nvPr/>
        </p:nvSpPr>
        <p:spPr>
          <a:xfrm>
            <a:off x="685800" y="914400"/>
            <a:ext cx="10820095" cy="1051560"/>
          </a:xfrm>
          <a:prstGeom prst="rect">
            <a:avLst/>
          </a:prstGeom>
          <a:noFill/>
          <a:ln/>
        </p:spPr>
        <p:txBody>
          <a:bodyPr wrap="square" lIns="0" tIns="0" rIns="0" bIns="0" rtlCol="0" anchor="t"/>
          <a:lstStyle/>
          <a:p>
            <a:pPr indent="0" marL="0">
              <a:lnSpc>
                <a:spcPts val="4256"/>
              </a:lnSpc>
              <a:buNone/>
            </a:pPr>
            <a:r>
              <a:rPr lang="en-US" sz="3800" b="1" dirty="0">
                <a:solidFill>
                  <a:srgbClr val="101314"/>
                </a:solidFill>
                <a:latin typeface="Cambria" pitchFamily="34" charset="0"/>
                <a:ea typeface="Cambria" pitchFamily="34" charset="-122"/>
                <a:cs typeface="Cambria" pitchFamily="34" charset="-120"/>
              </a:rPr>
              <a:t>This is the whole system.</a:t>
            </a:r>
            <a:endParaRPr lang="en-US" sz="3800" dirty="0"/>
          </a:p>
        </p:txBody>
      </p:sp>
      <p:sp>
        <p:nvSpPr>
          <p:cNvPr id="4" name="Text 2"/>
          <p:cNvSpPr/>
          <p:nvPr/>
        </p:nvSpPr>
        <p:spPr>
          <a:xfrm>
            <a:off x="685800" y="2148840"/>
            <a:ext cx="5120640" cy="1097280"/>
          </a:xfrm>
          <a:prstGeom prst="rect">
            <a:avLst/>
          </a:prstGeom>
          <a:noFill/>
          <a:ln/>
        </p:spPr>
        <p:txBody>
          <a:bodyPr wrap="square" lIns="0" tIns="0" rIns="0" bIns="0" rtlCol="0" anchor="t"/>
          <a:lstStyle/>
          <a:p>
            <a:pPr algn="l" indent="0" marL="0">
              <a:lnSpc>
                <a:spcPts val="2250"/>
              </a:lnSpc>
              <a:buNone/>
            </a:pPr>
            <a:r>
              <a:rPr lang="en-US" sz="1500" dirty="0">
                <a:solidFill>
                  <a:srgbClr val="3D4644"/>
                </a:solidFill>
                <a:latin typeface="Calibri" pitchFamily="34" charset="0"/>
                <a:ea typeface="Calibri" pitchFamily="34" charset="-122"/>
                <a:cs typeface="Calibri" pitchFamily="34" charset="-120"/>
              </a:rPr>
              <a:t>One sticker stays on the rack forever. One label is printed when a pallet is created, and thrown away when the pallet is empty.</a:t>
            </a:r>
            <a:endParaRPr lang="en-US" sz="1500" dirty="0"/>
          </a:p>
        </p:txBody>
      </p:sp>
      <p:sp>
        <p:nvSpPr>
          <p:cNvPr id="5" name="Text 3"/>
          <p:cNvSpPr/>
          <p:nvPr/>
        </p:nvSpPr>
        <p:spPr>
          <a:xfrm>
            <a:off x="685800" y="3383280"/>
            <a:ext cx="5120640" cy="1188720"/>
          </a:xfrm>
          <a:prstGeom prst="rect">
            <a:avLst/>
          </a:prstGeom>
          <a:noFill/>
          <a:ln/>
        </p:spPr>
        <p:txBody>
          <a:bodyPr wrap="square" lIns="0" tIns="0" rIns="0" bIns="0" rtlCol="0" anchor="t"/>
          <a:lstStyle/>
          <a:p>
            <a:pPr algn="l" indent="0" marL="0">
              <a:lnSpc>
                <a:spcPts val="2250"/>
              </a:lnSpc>
              <a:buNone/>
            </a:pPr>
            <a:r>
              <a:rPr lang="en-US" sz="1500" dirty="0">
                <a:solidFill>
                  <a:srgbClr val="3D4644"/>
                </a:solidFill>
                <a:latin typeface="Calibri" pitchFamily="34" charset="0"/>
                <a:ea typeface="Calibri" pitchFamily="34" charset="-122"/>
                <a:cs typeface="Calibri" pitchFamily="34" charset="-120"/>
              </a:rPr>
              <a:t>These two codes are real. Point a phone camera at the screen and it will read 14250-001 and LOC-A-01-3. That is everything the app needs.</a:t>
            </a:r>
            <a:endParaRPr lang="en-US" sz="1500" dirty="0"/>
          </a:p>
        </p:txBody>
      </p:sp>
      <p:sp>
        <p:nvSpPr>
          <p:cNvPr id="6" name="Shape 4"/>
          <p:cNvSpPr/>
          <p:nvPr/>
        </p:nvSpPr>
        <p:spPr>
          <a:xfrm>
            <a:off x="6309360" y="1691640"/>
            <a:ext cx="5212080" cy="1783080"/>
          </a:xfrm>
          <a:prstGeom prst="roundRect">
            <a:avLst>
              <a:gd name="adj" fmla="val 3077"/>
            </a:avLst>
          </a:prstGeom>
          <a:solidFill>
            <a:srgbClr val="FFFFFF"/>
          </a:solidFill>
          <a:ln w="28575">
            <a:solidFill>
              <a:srgbClr val="101314"/>
            </a:solidFill>
            <a:prstDash val="solid"/>
          </a:ln>
          <a:effectLst>
            <a:outerShdw sx="100000" sy="100000" kx="0" ky="0" algn="bl" rotWithShape="0" blurRad="177800" dist="38100" dir="5400000">
              <a:srgbClr val="101314">
                <a:alpha val="10000"/>
              </a:srgbClr>
            </a:outerShdw>
          </a:effectLst>
        </p:spPr>
      </p:sp>
      <p:pic>
        <p:nvPicPr>
          <p:cNvPr id="7" name="Image 0" descr="qr-pallet.png">    </p:cNvPr>
          <p:cNvPicPr>
            <a:picLocks noChangeAspect="1"/>
          </p:cNvPicPr>
          <p:nvPr/>
        </p:nvPicPr>
        <p:blipFill>
          <a:blip r:embed="rId1"/>
          <a:stretch>
            <a:fillRect/>
          </a:stretch>
        </p:blipFill>
        <p:spPr>
          <a:xfrm>
            <a:off x="6537960" y="1874520"/>
            <a:ext cx="1417320" cy="1417320"/>
          </a:xfrm>
          <a:prstGeom prst="rect">
            <a:avLst/>
          </a:prstGeom>
        </p:spPr>
      </p:pic>
      <p:sp>
        <p:nvSpPr>
          <p:cNvPr id="8" name="Text 5"/>
          <p:cNvSpPr/>
          <p:nvPr/>
        </p:nvSpPr>
        <p:spPr>
          <a:xfrm>
            <a:off x="8092440" y="1901952"/>
            <a:ext cx="3108960" cy="566928"/>
          </a:xfrm>
          <a:prstGeom prst="rect">
            <a:avLst/>
          </a:prstGeom>
          <a:noFill/>
          <a:ln/>
        </p:spPr>
        <p:txBody>
          <a:bodyPr wrap="square" lIns="0" tIns="0" rIns="0" bIns="0" rtlCol="0" anchor="ctr"/>
          <a:lstStyle/>
          <a:p>
            <a:pPr indent="0" marL="0">
              <a:buNone/>
            </a:pPr>
            <a:r>
              <a:rPr lang="en-US" sz="3400" b="1" dirty="0">
                <a:solidFill>
                  <a:srgbClr val="101314"/>
                </a:solidFill>
                <a:latin typeface="Cambria" pitchFamily="34" charset="0"/>
                <a:ea typeface="Cambria" pitchFamily="34" charset="-122"/>
                <a:cs typeface="Cambria" pitchFamily="34" charset="-120"/>
              </a:rPr>
              <a:t>14250</a:t>
            </a:r>
            <a:endParaRPr lang="en-US" sz="3400" dirty="0"/>
          </a:p>
        </p:txBody>
      </p:sp>
      <p:sp>
        <p:nvSpPr>
          <p:cNvPr id="9" name="Text 6"/>
          <p:cNvSpPr/>
          <p:nvPr/>
        </p:nvSpPr>
        <p:spPr>
          <a:xfrm>
            <a:off x="8110728" y="2432304"/>
            <a:ext cx="3108960" cy="228600"/>
          </a:xfrm>
          <a:prstGeom prst="rect">
            <a:avLst/>
          </a:prstGeom>
          <a:noFill/>
          <a:ln/>
        </p:spPr>
        <p:txBody>
          <a:bodyPr wrap="square" lIns="0" tIns="0" rIns="0" bIns="0" rtlCol="0" anchor="ctr"/>
          <a:lstStyle/>
          <a:p>
            <a:pPr indent="0" marL="0">
              <a:buNone/>
            </a:pPr>
            <a:r>
              <a:rPr lang="en-US" sz="1000" spc="160" kern="0" dirty="0">
                <a:solidFill>
                  <a:srgbClr val="6D7673"/>
                </a:solidFill>
                <a:latin typeface="Courier New" pitchFamily="34" charset="0"/>
                <a:ea typeface="Courier New" pitchFamily="34" charset="-122"/>
                <a:cs typeface="Courier New" pitchFamily="34" charset="-120"/>
              </a:rPr>
              <a:t>PALLET 001</a:t>
            </a:r>
            <a:endParaRPr lang="en-US" sz="1000" dirty="0"/>
          </a:p>
        </p:txBody>
      </p:sp>
      <p:sp>
        <p:nvSpPr>
          <p:cNvPr id="10" name="Text 7"/>
          <p:cNvSpPr/>
          <p:nvPr/>
        </p:nvSpPr>
        <p:spPr>
          <a:xfrm>
            <a:off x="8110728" y="2688336"/>
            <a:ext cx="3108960" cy="274320"/>
          </a:xfrm>
          <a:prstGeom prst="rect">
            <a:avLst/>
          </a:prstGeom>
          <a:noFill/>
          <a:ln/>
        </p:spPr>
        <p:txBody>
          <a:bodyPr wrap="square" lIns="0" tIns="0" rIns="0" bIns="0" rtlCol="0" anchor="ctr"/>
          <a:lstStyle/>
          <a:p>
            <a:pPr indent="0" marL="0">
              <a:buNone/>
            </a:pPr>
            <a:r>
              <a:rPr lang="en-US" sz="1450" b="1" dirty="0">
                <a:solidFill>
                  <a:srgbClr val="101314"/>
                </a:solidFill>
                <a:latin typeface="Calibri" pitchFamily="34" charset="0"/>
                <a:ea typeface="Calibri" pitchFamily="34" charset="-122"/>
                <a:cs typeface="Calibri" pitchFamily="34" charset="-120"/>
              </a:rPr>
              <a:t>Amber Jar 50 ml</a:t>
            </a:r>
            <a:endParaRPr lang="en-US" sz="1450" dirty="0"/>
          </a:p>
        </p:txBody>
      </p:sp>
      <p:sp>
        <p:nvSpPr>
          <p:cNvPr id="11" name="Text 8"/>
          <p:cNvSpPr/>
          <p:nvPr/>
        </p:nvSpPr>
        <p:spPr>
          <a:xfrm>
            <a:off x="8110728" y="2962656"/>
            <a:ext cx="3108960" cy="256032"/>
          </a:xfrm>
          <a:prstGeom prst="rect">
            <a:avLst/>
          </a:prstGeom>
          <a:noFill/>
          <a:ln/>
        </p:spPr>
        <p:txBody>
          <a:bodyPr wrap="square" lIns="0" tIns="0" rIns="0" bIns="0" rtlCol="0" anchor="ctr"/>
          <a:lstStyle/>
          <a:p>
            <a:pPr indent="0" marL="0">
              <a:buNone/>
            </a:pPr>
            <a:r>
              <a:rPr lang="en-US" sz="1250" dirty="0">
                <a:solidFill>
                  <a:srgbClr val="3D4644"/>
                </a:solidFill>
                <a:latin typeface="Calibri" pitchFamily="34" charset="0"/>
                <a:ea typeface="Calibri" pitchFamily="34" charset="-122"/>
                <a:cs typeface="Calibri" pitchFamily="34" charset="-120"/>
              </a:rPr>
              <a:t>120 pcs  ·  + 1 more item</a:t>
            </a:r>
            <a:endParaRPr lang="en-US" sz="1250" dirty="0"/>
          </a:p>
        </p:txBody>
      </p:sp>
      <p:sp>
        <p:nvSpPr>
          <p:cNvPr id="12" name="Shape 9"/>
          <p:cNvSpPr/>
          <p:nvPr/>
        </p:nvSpPr>
        <p:spPr>
          <a:xfrm>
            <a:off x="6309360" y="3703320"/>
            <a:ext cx="5212080" cy="1783080"/>
          </a:xfrm>
          <a:prstGeom prst="roundRect">
            <a:avLst>
              <a:gd name="adj" fmla="val 3077"/>
            </a:avLst>
          </a:prstGeom>
          <a:solidFill>
            <a:srgbClr val="FFFFFF"/>
          </a:solidFill>
          <a:ln w="28575">
            <a:solidFill>
              <a:srgbClr val="1E7A4C"/>
            </a:solidFill>
            <a:prstDash val="solid"/>
          </a:ln>
          <a:effectLst>
            <a:outerShdw sx="100000" sy="100000" kx="0" ky="0" algn="bl" rotWithShape="0" blurRad="177800" dist="38100" dir="5400000">
              <a:srgbClr val="101314">
                <a:alpha val="10000"/>
              </a:srgbClr>
            </a:outerShdw>
          </a:effectLst>
        </p:spPr>
      </p:sp>
      <p:pic>
        <p:nvPicPr>
          <p:cNvPr id="13" name="Image 1" descr="qr-loc.png">    </p:cNvPr>
          <p:cNvPicPr>
            <a:picLocks noChangeAspect="1"/>
          </p:cNvPicPr>
          <p:nvPr/>
        </p:nvPicPr>
        <p:blipFill>
          <a:blip r:embed="rId2"/>
          <a:stretch>
            <a:fillRect/>
          </a:stretch>
        </p:blipFill>
        <p:spPr>
          <a:xfrm>
            <a:off x="6537960" y="3886200"/>
            <a:ext cx="1417320" cy="1417320"/>
          </a:xfrm>
          <a:prstGeom prst="rect">
            <a:avLst/>
          </a:prstGeom>
        </p:spPr>
      </p:pic>
      <p:sp>
        <p:nvSpPr>
          <p:cNvPr id="14" name="Text 10"/>
          <p:cNvSpPr/>
          <p:nvPr/>
        </p:nvSpPr>
        <p:spPr>
          <a:xfrm>
            <a:off x="8092440" y="3931920"/>
            <a:ext cx="3108960" cy="548640"/>
          </a:xfrm>
          <a:prstGeom prst="rect">
            <a:avLst/>
          </a:prstGeom>
          <a:noFill/>
          <a:ln/>
        </p:spPr>
        <p:txBody>
          <a:bodyPr wrap="square" lIns="0" tIns="0" rIns="0" bIns="0" rtlCol="0" anchor="ctr"/>
          <a:lstStyle/>
          <a:p>
            <a:pPr indent="0" marL="0">
              <a:buNone/>
            </a:pPr>
            <a:r>
              <a:rPr lang="en-US" sz="3000" b="1" dirty="0">
                <a:solidFill>
                  <a:srgbClr val="1E7A4C"/>
                </a:solidFill>
                <a:latin typeface="Cambria" pitchFamily="34" charset="0"/>
                <a:ea typeface="Cambria" pitchFamily="34" charset="-122"/>
                <a:cs typeface="Cambria" pitchFamily="34" charset="-120"/>
              </a:rPr>
              <a:t>A-01-3</a:t>
            </a:r>
            <a:endParaRPr lang="en-US" sz="3000" dirty="0"/>
          </a:p>
        </p:txBody>
      </p:sp>
      <p:sp>
        <p:nvSpPr>
          <p:cNvPr id="15" name="Text 11"/>
          <p:cNvSpPr/>
          <p:nvPr/>
        </p:nvSpPr>
        <p:spPr>
          <a:xfrm>
            <a:off x="8110728" y="4443984"/>
            <a:ext cx="3108960" cy="228600"/>
          </a:xfrm>
          <a:prstGeom prst="rect">
            <a:avLst/>
          </a:prstGeom>
          <a:noFill/>
          <a:ln/>
        </p:spPr>
        <p:txBody>
          <a:bodyPr wrap="square" lIns="0" tIns="0" rIns="0" bIns="0" rtlCol="0" anchor="ctr"/>
          <a:lstStyle/>
          <a:p>
            <a:pPr indent="0" marL="0">
              <a:buNone/>
            </a:pPr>
            <a:r>
              <a:rPr lang="en-US" sz="1000" spc="160" kern="0" dirty="0">
                <a:solidFill>
                  <a:srgbClr val="6D7673"/>
                </a:solidFill>
                <a:latin typeface="Courier New" pitchFamily="34" charset="0"/>
                <a:ea typeface="Courier New" pitchFamily="34" charset="-122"/>
                <a:cs typeface="Courier New" pitchFamily="34" charset="-120"/>
              </a:rPr>
              <a:t>LOCATION</a:t>
            </a:r>
            <a:endParaRPr lang="en-US" sz="1000" dirty="0"/>
          </a:p>
        </p:txBody>
      </p:sp>
      <p:sp>
        <p:nvSpPr>
          <p:cNvPr id="16" name="Text 12"/>
          <p:cNvSpPr/>
          <p:nvPr/>
        </p:nvSpPr>
        <p:spPr>
          <a:xfrm>
            <a:off x="8110728" y="4700016"/>
            <a:ext cx="3108960" cy="274320"/>
          </a:xfrm>
          <a:prstGeom prst="rect">
            <a:avLst/>
          </a:prstGeom>
          <a:noFill/>
          <a:ln/>
        </p:spPr>
        <p:txBody>
          <a:bodyPr wrap="square" lIns="0" tIns="0" rIns="0" bIns="0" rtlCol="0" anchor="ctr"/>
          <a:lstStyle/>
          <a:p>
            <a:pPr indent="0" marL="0">
              <a:buNone/>
            </a:pPr>
            <a:r>
              <a:rPr lang="en-US" sz="1450" b="1" dirty="0">
                <a:solidFill>
                  <a:srgbClr val="101314"/>
                </a:solidFill>
                <a:latin typeface="Calibri" pitchFamily="34" charset="0"/>
                <a:ea typeface="Calibri" pitchFamily="34" charset="-122"/>
                <a:cs typeface="Calibri" pitchFamily="34" charset="-120"/>
              </a:rPr>
              <a:t>Aisle A · Rack 01 · Level 3</a:t>
            </a:r>
            <a:endParaRPr lang="en-US" sz="1450" dirty="0"/>
          </a:p>
        </p:txBody>
      </p:sp>
      <p:sp>
        <p:nvSpPr>
          <p:cNvPr id="17" name="Text 13"/>
          <p:cNvSpPr/>
          <p:nvPr/>
        </p:nvSpPr>
        <p:spPr>
          <a:xfrm>
            <a:off x="8110728" y="4974336"/>
            <a:ext cx="3108960" cy="256032"/>
          </a:xfrm>
          <a:prstGeom prst="rect">
            <a:avLst/>
          </a:prstGeom>
          <a:noFill/>
          <a:ln/>
        </p:spPr>
        <p:txBody>
          <a:bodyPr wrap="square" lIns="0" tIns="0" rIns="0" bIns="0" rtlCol="0" anchor="ctr"/>
          <a:lstStyle/>
          <a:p>
            <a:pPr indent="0" marL="0">
              <a:buNone/>
            </a:pPr>
            <a:r>
              <a:rPr lang="en-US" sz="1250" dirty="0">
                <a:solidFill>
                  <a:srgbClr val="3D4644"/>
                </a:solidFill>
                <a:latin typeface="Calibri" pitchFamily="34" charset="0"/>
                <a:ea typeface="Calibri" pitchFamily="34" charset="-122"/>
                <a:cs typeface="Calibri" pitchFamily="34" charset="-120"/>
              </a:rPr>
              <a:t>holds 1 pallet</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3F0"/>
        </a:solidFill>
      </p:bgPr>
    </p:bg>
    <p:spTree>
      <p:nvGrpSpPr>
        <p:cNvPr id="1" name=""/>
        <p:cNvGrpSpPr/>
        <p:nvPr/>
      </p:nvGrpSpPr>
      <p:grpSpPr>
        <a:xfrm>
          <a:off x="0" y="0"/>
          <a:ext cx="0" cy="0"/>
          <a:chOff x="0" y="0"/>
          <a:chExt cx="0" cy="0"/>
        </a:xfrm>
      </p:grpSpPr>
      <p:sp>
        <p:nvSpPr>
          <p:cNvPr id="2" name="Text 0"/>
          <p:cNvSpPr/>
          <p:nvPr/>
        </p:nvSpPr>
        <p:spPr>
          <a:xfrm>
            <a:off x="685800" y="502920"/>
            <a:ext cx="10820095" cy="274320"/>
          </a:xfrm>
          <a:prstGeom prst="rect">
            <a:avLst/>
          </a:prstGeom>
          <a:noFill/>
          <a:ln/>
        </p:spPr>
        <p:txBody>
          <a:bodyPr wrap="square" lIns="0" tIns="0" rIns="0" bIns="0" rtlCol="0" anchor="ctr"/>
          <a:lstStyle/>
          <a:p>
            <a:pPr indent="0" marL="0">
              <a:buNone/>
            </a:pPr>
            <a:r>
              <a:rPr lang="en-US" sz="1100" b="1" spc="220" kern="0" dirty="0">
                <a:solidFill>
                  <a:srgbClr val="C9990B"/>
                </a:solidFill>
                <a:latin typeface="Courier New" pitchFamily="34" charset="0"/>
                <a:ea typeface="Courier New" pitchFamily="34" charset="-122"/>
                <a:cs typeface="Courier New" pitchFamily="34" charset="-120"/>
              </a:rPr>
              <a:t>THE PALLET NUMBER</a:t>
            </a:r>
            <a:endParaRPr lang="en-US" sz="1100" dirty="0"/>
          </a:p>
        </p:txBody>
      </p:sp>
      <p:sp>
        <p:nvSpPr>
          <p:cNvPr id="3" name="Text 1"/>
          <p:cNvSpPr/>
          <p:nvPr/>
        </p:nvSpPr>
        <p:spPr>
          <a:xfrm>
            <a:off x="685800" y="914400"/>
            <a:ext cx="9601200" cy="1051560"/>
          </a:xfrm>
          <a:prstGeom prst="rect">
            <a:avLst/>
          </a:prstGeom>
          <a:noFill/>
          <a:ln/>
        </p:spPr>
        <p:txBody>
          <a:bodyPr wrap="square" lIns="0" tIns="0" rIns="0" bIns="0" rtlCol="0" anchor="t"/>
          <a:lstStyle/>
          <a:p>
            <a:pPr indent="0" marL="0">
              <a:lnSpc>
                <a:spcPts val="4032"/>
              </a:lnSpc>
              <a:buNone/>
            </a:pPr>
            <a:r>
              <a:rPr lang="en-US" sz="3600" b="1" dirty="0">
                <a:solidFill>
                  <a:srgbClr val="101314"/>
                </a:solidFill>
                <a:latin typeface="Cambria" pitchFamily="34" charset="0"/>
                <a:ea typeface="Cambria" pitchFamily="34" charset="-122"/>
                <a:cs typeface="Cambria" pitchFamily="34" charset="-120"/>
              </a:rPr>
              <a:t>Your own product number, plus a counter.</a:t>
            </a:r>
            <a:endParaRPr lang="en-US" sz="3600" dirty="0"/>
          </a:p>
        </p:txBody>
      </p:sp>
      <p:sp>
        <p:nvSpPr>
          <p:cNvPr id="4" name="Shape 2"/>
          <p:cNvSpPr/>
          <p:nvPr/>
        </p:nvSpPr>
        <p:spPr>
          <a:xfrm>
            <a:off x="685800" y="2286000"/>
            <a:ext cx="10817352" cy="1874520"/>
          </a:xfrm>
          <a:prstGeom prst="roundRect">
            <a:avLst>
              <a:gd name="adj" fmla="val 2927"/>
            </a:avLst>
          </a:prstGeom>
          <a:solidFill>
            <a:srgbClr val="FFFFFF"/>
          </a:solidFill>
          <a:ln w="12700">
            <a:solidFill>
              <a:srgbClr val="D3D7D0"/>
            </a:solidFill>
            <a:prstDash val="solid"/>
          </a:ln>
          <a:effectLst>
            <a:outerShdw sx="100000" sy="100000" kx="0" ky="0" algn="bl" rotWithShape="0" blurRad="177800" dist="38100" dir="5400000">
              <a:srgbClr val="101314">
                <a:alpha val="10000"/>
              </a:srgbClr>
            </a:outerShdw>
          </a:effectLst>
        </p:spPr>
      </p:sp>
      <p:sp>
        <p:nvSpPr>
          <p:cNvPr id="5" name="Text 3"/>
          <p:cNvSpPr/>
          <p:nvPr/>
        </p:nvSpPr>
        <p:spPr>
          <a:xfrm>
            <a:off x="685800" y="2514600"/>
            <a:ext cx="10817352" cy="777240"/>
          </a:xfrm>
          <a:prstGeom prst="rect">
            <a:avLst/>
          </a:prstGeom>
          <a:noFill/>
          <a:ln/>
        </p:spPr>
        <p:txBody>
          <a:bodyPr wrap="square" lIns="0" tIns="0" rIns="0" bIns="0" rtlCol="0" anchor="ctr"/>
          <a:lstStyle/>
          <a:p>
            <a:pPr algn="ctr" indent="0" marL="0">
              <a:buNone/>
            </a:pPr>
            <a:r>
              <a:rPr lang="en-US" sz="5000" b="1" dirty="0">
                <a:solidFill>
                  <a:srgbClr val="101314"/>
                </a:solidFill>
                <a:latin typeface="Courier New" pitchFamily="34" charset="0"/>
                <a:ea typeface="Courier New" pitchFamily="34" charset="-122"/>
                <a:cs typeface="Courier New" pitchFamily="34" charset="-120"/>
              </a:rPr>
              <a:t>14250</a:t>
            </a:r>
            <a:pPr algn="ctr" indent="0" marL="0">
              <a:buNone/>
            </a:pPr>
            <a:r>
              <a:rPr lang="en-US" sz="5000" b="1" dirty="0">
                <a:solidFill>
                  <a:srgbClr val="C9990B"/>
                </a:solidFill>
                <a:latin typeface="Courier New" pitchFamily="34" charset="0"/>
                <a:ea typeface="Courier New" pitchFamily="34" charset="-122"/>
                <a:cs typeface="Courier New" pitchFamily="34" charset="-120"/>
              </a:rPr>
              <a:t>-001</a:t>
            </a:r>
            <a:endParaRPr lang="en-US" sz="5000" dirty="0"/>
          </a:p>
        </p:txBody>
      </p:sp>
      <p:sp>
        <p:nvSpPr>
          <p:cNvPr id="6" name="Text 4"/>
          <p:cNvSpPr/>
          <p:nvPr/>
        </p:nvSpPr>
        <p:spPr>
          <a:xfrm>
            <a:off x="2377440" y="3383280"/>
            <a:ext cx="3108960" cy="228600"/>
          </a:xfrm>
          <a:prstGeom prst="rect">
            <a:avLst/>
          </a:prstGeom>
          <a:noFill/>
          <a:ln/>
        </p:spPr>
        <p:txBody>
          <a:bodyPr wrap="square" lIns="0" tIns="0" rIns="0" bIns="0" rtlCol="0" anchor="ctr"/>
          <a:lstStyle/>
          <a:p>
            <a:pPr algn="ctr" indent="0" marL="0">
              <a:buNone/>
            </a:pPr>
            <a:r>
              <a:rPr lang="en-US" sz="1000" b="1" spc="150" kern="0" dirty="0">
                <a:solidFill>
                  <a:srgbClr val="6D7673"/>
                </a:solidFill>
                <a:latin typeface="Courier New" pitchFamily="34" charset="0"/>
                <a:ea typeface="Courier New" pitchFamily="34" charset="-122"/>
                <a:cs typeface="Courier New" pitchFamily="34" charset="-120"/>
              </a:rPr>
              <a:t>YOUR PRODUCT NUMBER</a:t>
            </a:r>
            <a:endParaRPr lang="en-US" sz="1000" dirty="0"/>
          </a:p>
        </p:txBody>
      </p:sp>
      <p:sp>
        <p:nvSpPr>
          <p:cNvPr id="7" name="Text 5"/>
          <p:cNvSpPr/>
          <p:nvPr/>
        </p:nvSpPr>
        <p:spPr>
          <a:xfrm>
            <a:off x="2377440" y="3639312"/>
            <a:ext cx="3108960" cy="457200"/>
          </a:xfrm>
          <a:prstGeom prst="rect">
            <a:avLst/>
          </a:prstGeom>
          <a:noFill/>
          <a:ln/>
        </p:spPr>
        <p:txBody>
          <a:bodyPr wrap="square" lIns="0" tIns="0" rIns="0" bIns="0" rtlCol="0" anchor="t"/>
          <a:lstStyle/>
          <a:p>
            <a:pPr algn="ctr" indent="0" marL="0">
              <a:lnSpc>
                <a:spcPts val="1950"/>
              </a:lnSpc>
              <a:buNone/>
            </a:pPr>
            <a:r>
              <a:rPr lang="en-US" sz="1300" dirty="0">
                <a:solidFill>
                  <a:srgbClr val="3D4644"/>
                </a:solidFill>
                <a:latin typeface="Calibri" pitchFamily="34" charset="0"/>
                <a:ea typeface="Calibri" pitchFamily="34" charset="-122"/>
                <a:cs typeface="Calibri" pitchFamily="34" charset="-120"/>
              </a:rPr>
              <a:t>Typed once. The name appears by itself.</a:t>
            </a:r>
            <a:endParaRPr lang="en-US" sz="1300" dirty="0"/>
          </a:p>
        </p:txBody>
      </p:sp>
      <p:sp>
        <p:nvSpPr>
          <p:cNvPr id="8" name="Text 6"/>
          <p:cNvSpPr/>
          <p:nvPr/>
        </p:nvSpPr>
        <p:spPr>
          <a:xfrm>
            <a:off x="6675120" y="3383280"/>
            <a:ext cx="3108960" cy="228600"/>
          </a:xfrm>
          <a:prstGeom prst="rect">
            <a:avLst/>
          </a:prstGeom>
          <a:noFill/>
          <a:ln/>
        </p:spPr>
        <p:txBody>
          <a:bodyPr wrap="square" lIns="0" tIns="0" rIns="0" bIns="0" rtlCol="0" anchor="ctr"/>
          <a:lstStyle/>
          <a:p>
            <a:pPr algn="ctr" indent="0" marL="0">
              <a:buNone/>
            </a:pPr>
            <a:r>
              <a:rPr lang="en-US" sz="1000" b="1" spc="150" kern="0" dirty="0">
                <a:solidFill>
                  <a:srgbClr val="6D7673"/>
                </a:solidFill>
                <a:latin typeface="Courier New" pitchFamily="34" charset="0"/>
                <a:ea typeface="Courier New" pitchFamily="34" charset="-122"/>
                <a:cs typeface="Courier New" pitchFamily="34" charset="-120"/>
              </a:rPr>
              <a:t>ADDED BY THE SYSTEM</a:t>
            </a:r>
            <a:endParaRPr lang="en-US" sz="1000" dirty="0"/>
          </a:p>
        </p:txBody>
      </p:sp>
      <p:sp>
        <p:nvSpPr>
          <p:cNvPr id="9" name="Text 7"/>
          <p:cNvSpPr/>
          <p:nvPr/>
        </p:nvSpPr>
        <p:spPr>
          <a:xfrm>
            <a:off x="6675120" y="3639312"/>
            <a:ext cx="3108960" cy="457200"/>
          </a:xfrm>
          <a:prstGeom prst="rect">
            <a:avLst/>
          </a:prstGeom>
          <a:noFill/>
          <a:ln/>
        </p:spPr>
        <p:txBody>
          <a:bodyPr wrap="square" lIns="0" tIns="0" rIns="0" bIns="0" rtlCol="0" anchor="t"/>
          <a:lstStyle/>
          <a:p>
            <a:pPr algn="ctr" indent="0" marL="0">
              <a:lnSpc>
                <a:spcPts val="1950"/>
              </a:lnSpc>
              <a:buNone/>
            </a:pPr>
            <a:r>
              <a:rPr lang="en-US" sz="1300" dirty="0">
                <a:solidFill>
                  <a:srgbClr val="3D4644"/>
                </a:solidFill>
                <a:latin typeface="Calibri" pitchFamily="34" charset="0"/>
                <a:ea typeface="Calibri" pitchFamily="34" charset="-122"/>
                <a:cs typeface="Calibri" pitchFamily="34" charset="-120"/>
              </a:rPr>
              <a:t>“The first pallet of 14250 we ever had.” Nobody types this.</a:t>
            </a:r>
            <a:endParaRPr lang="en-US" sz="1300" dirty="0"/>
          </a:p>
        </p:txBody>
      </p:sp>
      <p:sp>
        <p:nvSpPr>
          <p:cNvPr id="10" name="Text 8"/>
          <p:cNvSpPr/>
          <p:nvPr/>
        </p:nvSpPr>
        <p:spPr>
          <a:xfrm>
            <a:off x="685800" y="4480560"/>
            <a:ext cx="10424160" cy="914400"/>
          </a:xfrm>
          <a:prstGeom prst="rect">
            <a:avLst/>
          </a:prstGeom>
          <a:noFill/>
          <a:ln/>
        </p:spPr>
        <p:txBody>
          <a:bodyPr wrap="square" lIns="0" tIns="0" rIns="0" bIns="0" rtlCol="0" anchor="t"/>
          <a:lstStyle/>
          <a:p>
            <a:pPr algn="l" indent="0" marL="0">
              <a:lnSpc>
                <a:spcPts val="2250"/>
              </a:lnSpc>
              <a:buNone/>
            </a:pPr>
            <a:r>
              <a:rPr lang="en-US" sz="1500" dirty="0">
                <a:solidFill>
                  <a:srgbClr val="3D4644"/>
                </a:solidFill>
                <a:latin typeface="Calibri" pitchFamily="34" charset="0"/>
                <a:ea typeface="Calibri" pitchFamily="34" charset="-122"/>
                <a:cs typeface="Calibri" pitchFamily="34" charset="-120"/>
              </a:rPr>
              <a:t>Staff read it as “a pallet of 14250” — exactly how they already speak. The three extra digits are what let the system tell three identical pallets apart, which is the difference between knowing and guessing.</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3F0"/>
        </a:solidFill>
      </p:bgPr>
    </p:bg>
    <p:spTree>
      <p:nvGrpSpPr>
        <p:cNvPr id="1" name=""/>
        <p:cNvGrpSpPr/>
        <p:nvPr/>
      </p:nvGrpSpPr>
      <p:grpSpPr>
        <a:xfrm>
          <a:off x="0" y="0"/>
          <a:ext cx="0" cy="0"/>
          <a:chOff x="0" y="0"/>
          <a:chExt cx="0" cy="0"/>
        </a:xfrm>
      </p:grpSpPr>
      <p:sp>
        <p:nvSpPr>
          <p:cNvPr id="2" name="Text 0"/>
          <p:cNvSpPr/>
          <p:nvPr/>
        </p:nvSpPr>
        <p:spPr>
          <a:xfrm>
            <a:off x="685800" y="502920"/>
            <a:ext cx="10820095" cy="274320"/>
          </a:xfrm>
          <a:prstGeom prst="rect">
            <a:avLst/>
          </a:prstGeom>
          <a:noFill/>
          <a:ln/>
        </p:spPr>
        <p:txBody>
          <a:bodyPr wrap="square" lIns="0" tIns="0" rIns="0" bIns="0" rtlCol="0" anchor="ctr"/>
          <a:lstStyle/>
          <a:p>
            <a:pPr indent="0" marL="0">
              <a:buNone/>
            </a:pPr>
            <a:r>
              <a:rPr lang="en-US" sz="1100" b="1" spc="220" kern="0" dirty="0">
                <a:solidFill>
                  <a:srgbClr val="C9990B"/>
                </a:solidFill>
                <a:latin typeface="Courier New" pitchFamily="34" charset="0"/>
                <a:ea typeface="Courier New" pitchFamily="34" charset="-122"/>
                <a:cs typeface="Courier New" pitchFamily="34" charset="-120"/>
              </a:rPr>
              <a:t>EXAMPLE ONE</a:t>
            </a:r>
            <a:endParaRPr lang="en-US" sz="1100" dirty="0"/>
          </a:p>
        </p:txBody>
      </p:sp>
      <p:sp>
        <p:nvSpPr>
          <p:cNvPr id="3" name="Text 1"/>
          <p:cNvSpPr/>
          <p:nvPr/>
        </p:nvSpPr>
        <p:spPr>
          <a:xfrm>
            <a:off x="685800" y="914400"/>
            <a:ext cx="10820095" cy="1051560"/>
          </a:xfrm>
          <a:prstGeom prst="rect">
            <a:avLst/>
          </a:prstGeom>
          <a:noFill/>
          <a:ln/>
        </p:spPr>
        <p:txBody>
          <a:bodyPr wrap="square" lIns="0" tIns="0" rIns="0" bIns="0" rtlCol="0" anchor="t"/>
          <a:lstStyle/>
          <a:p>
            <a:pPr indent="0" marL="0">
              <a:lnSpc>
                <a:spcPts val="4256"/>
              </a:lnSpc>
              <a:buNone/>
            </a:pPr>
            <a:r>
              <a:rPr lang="en-US" sz="3800" b="1" dirty="0">
                <a:solidFill>
                  <a:srgbClr val="101314"/>
                </a:solidFill>
                <a:latin typeface="Cambria" pitchFamily="34" charset="0"/>
                <a:ea typeface="Cambria" pitchFamily="34" charset="-122"/>
                <a:cs typeface="Cambria" pitchFamily="34" charset="-120"/>
              </a:rPr>
              <a:t>A delivery arrives.</a:t>
            </a:r>
            <a:endParaRPr lang="en-US" sz="3800" dirty="0"/>
          </a:p>
        </p:txBody>
      </p:sp>
      <p:sp>
        <p:nvSpPr>
          <p:cNvPr id="4" name="Text 2"/>
          <p:cNvSpPr/>
          <p:nvPr/>
        </p:nvSpPr>
        <p:spPr>
          <a:xfrm>
            <a:off x="685800" y="2194560"/>
            <a:ext cx="5120640" cy="1280160"/>
          </a:xfrm>
          <a:prstGeom prst="rect">
            <a:avLst/>
          </a:prstGeom>
          <a:noFill/>
          <a:ln/>
        </p:spPr>
        <p:txBody>
          <a:bodyPr wrap="square" lIns="0" tIns="0" rIns="0" bIns="0" rtlCol="0" anchor="t"/>
          <a:lstStyle/>
          <a:p>
            <a:pPr algn="l" indent="0" marL="0">
              <a:lnSpc>
                <a:spcPts val="2250"/>
              </a:lnSpc>
              <a:buNone/>
            </a:pPr>
            <a:r>
              <a:rPr lang="en-US" sz="1500" dirty="0">
                <a:solidFill>
                  <a:srgbClr val="3D4644"/>
                </a:solidFill>
                <a:latin typeface="Calibri" pitchFamily="34" charset="0"/>
                <a:ea typeface="Calibri" pitchFamily="34" charset="-122"/>
                <a:cs typeface="Calibri" pitchFamily="34" charset="-120"/>
              </a:rPr>
              <a:t>Mikael opens the app and fills in three things. The product name appears by itself as soon as he types the number — so nobody can spell the same jar two different ways.</a:t>
            </a:r>
            <a:endParaRPr lang="en-US" sz="1500" dirty="0"/>
          </a:p>
        </p:txBody>
      </p:sp>
      <p:sp>
        <p:nvSpPr>
          <p:cNvPr id="5" name="Text 3"/>
          <p:cNvSpPr/>
          <p:nvPr/>
        </p:nvSpPr>
        <p:spPr>
          <a:xfrm>
            <a:off x="685800" y="3611880"/>
            <a:ext cx="5120640" cy="914400"/>
          </a:xfrm>
          <a:prstGeom prst="rect">
            <a:avLst/>
          </a:prstGeom>
          <a:noFill/>
          <a:ln/>
        </p:spPr>
        <p:txBody>
          <a:bodyPr wrap="square" lIns="0" tIns="0" rIns="0" bIns="0" rtlCol="0" anchor="t"/>
          <a:lstStyle/>
          <a:p>
            <a:pPr algn="l" indent="0" marL="0">
              <a:lnSpc>
                <a:spcPts val="2250"/>
              </a:lnSpc>
              <a:buNone/>
            </a:pPr>
            <a:r>
              <a:rPr lang="en-US" sz="1500" dirty="0">
                <a:solidFill>
                  <a:srgbClr val="3D4644"/>
                </a:solidFill>
                <a:latin typeface="Calibri" pitchFamily="34" charset="0"/>
                <a:ea typeface="Calibri" pitchFamily="34" charset="-122"/>
                <a:cs typeface="Calibri" pitchFamily="34" charset="-120"/>
              </a:rPr>
              <a:t>He presses Create pallet. The system prints a label. He slips it into the plastic pocket on the pallet.</a:t>
            </a:r>
            <a:endParaRPr lang="en-US" sz="1500" dirty="0"/>
          </a:p>
        </p:txBody>
      </p:sp>
      <p:sp>
        <p:nvSpPr>
          <p:cNvPr id="6" name="Text 4"/>
          <p:cNvSpPr/>
          <p:nvPr/>
        </p:nvSpPr>
        <p:spPr>
          <a:xfrm>
            <a:off x="685800" y="4709160"/>
            <a:ext cx="5120640" cy="274320"/>
          </a:xfrm>
          <a:prstGeom prst="rect">
            <a:avLst/>
          </a:prstGeom>
          <a:noFill/>
          <a:ln/>
        </p:spPr>
        <p:txBody>
          <a:bodyPr wrap="square" lIns="0" tIns="0" rIns="0" bIns="0" rtlCol="0" anchor="ctr"/>
          <a:lstStyle/>
          <a:p>
            <a:pPr indent="0" marL="0">
              <a:buNone/>
            </a:pPr>
            <a:r>
              <a:rPr lang="en-US" sz="1100" b="1" spc="180" kern="0" dirty="0">
                <a:solidFill>
                  <a:srgbClr val="6D7673"/>
                </a:solidFill>
                <a:latin typeface="Courier New" pitchFamily="34" charset="0"/>
                <a:ea typeface="Courier New" pitchFamily="34" charset="-122"/>
                <a:cs typeface="Courier New" pitchFamily="34" charset="-120"/>
              </a:rPr>
              <a:t>ELAPSED: ABOUT 30 SECONDS</a:t>
            </a:r>
            <a:endParaRPr lang="en-US" sz="1100" dirty="0"/>
          </a:p>
        </p:txBody>
      </p:sp>
      <p:sp>
        <p:nvSpPr>
          <p:cNvPr id="7" name="Shape 5"/>
          <p:cNvSpPr/>
          <p:nvPr/>
        </p:nvSpPr>
        <p:spPr>
          <a:xfrm>
            <a:off x="6675120" y="1691640"/>
            <a:ext cx="4846320" cy="3520440"/>
          </a:xfrm>
          <a:prstGeom prst="roundRect">
            <a:avLst>
              <a:gd name="adj" fmla="val 1558"/>
            </a:avLst>
          </a:prstGeom>
          <a:solidFill>
            <a:srgbClr val="FFFFFF"/>
          </a:solidFill>
          <a:ln w="12700">
            <a:solidFill>
              <a:srgbClr val="D3D7D0"/>
            </a:solidFill>
            <a:prstDash val="solid"/>
          </a:ln>
          <a:effectLst>
            <a:outerShdw sx="100000" sy="100000" kx="0" ky="0" algn="bl" rotWithShape="0" blurRad="177800" dist="38100" dir="5400000">
              <a:srgbClr val="101314">
                <a:alpha val="10000"/>
              </a:srgbClr>
            </a:outerShdw>
          </a:effectLst>
        </p:spPr>
      </p:sp>
      <p:sp>
        <p:nvSpPr>
          <p:cNvPr id="8" name="Text 6"/>
          <p:cNvSpPr/>
          <p:nvPr/>
        </p:nvSpPr>
        <p:spPr>
          <a:xfrm>
            <a:off x="6995160" y="1965960"/>
            <a:ext cx="4206240" cy="274320"/>
          </a:xfrm>
          <a:prstGeom prst="rect">
            <a:avLst/>
          </a:prstGeom>
          <a:noFill/>
          <a:ln/>
        </p:spPr>
        <p:txBody>
          <a:bodyPr wrap="square" lIns="0" tIns="0" rIns="0" bIns="0" rtlCol="0" anchor="ctr"/>
          <a:lstStyle/>
          <a:p>
            <a:pPr indent="0" marL="0">
              <a:buNone/>
            </a:pPr>
            <a:r>
              <a:rPr lang="en-US" sz="1050" b="1" spc="180" kern="0" dirty="0">
                <a:solidFill>
                  <a:srgbClr val="C9990B"/>
                </a:solidFill>
                <a:latin typeface="Courier New" pitchFamily="34" charset="0"/>
                <a:ea typeface="Courier New" pitchFamily="34" charset="-122"/>
                <a:cs typeface="Courier New" pitchFamily="34" charset="-120"/>
              </a:rPr>
              <a:t>CREATE PALLET</a:t>
            </a:r>
            <a:endParaRPr lang="en-US" sz="1050" dirty="0"/>
          </a:p>
        </p:txBody>
      </p:sp>
      <p:sp>
        <p:nvSpPr>
          <p:cNvPr id="9" name="Text 7"/>
          <p:cNvSpPr/>
          <p:nvPr/>
        </p:nvSpPr>
        <p:spPr>
          <a:xfrm>
            <a:off x="6995160" y="2423160"/>
            <a:ext cx="1600200" cy="365760"/>
          </a:xfrm>
          <a:prstGeom prst="rect">
            <a:avLst/>
          </a:prstGeom>
          <a:noFill/>
          <a:ln/>
        </p:spPr>
        <p:txBody>
          <a:bodyPr wrap="square" lIns="0" tIns="0" rIns="0" bIns="0" rtlCol="0" anchor="ctr"/>
          <a:lstStyle/>
          <a:p>
            <a:pPr indent="0" marL="0">
              <a:buNone/>
            </a:pPr>
            <a:r>
              <a:rPr lang="en-US" sz="1400" dirty="0">
                <a:solidFill>
                  <a:srgbClr val="6D7673"/>
                </a:solidFill>
                <a:latin typeface="Calibri" pitchFamily="34" charset="0"/>
                <a:ea typeface="Calibri" pitchFamily="34" charset="-122"/>
                <a:cs typeface="Calibri" pitchFamily="34" charset="-120"/>
              </a:rPr>
              <a:t>Product ID</a:t>
            </a:r>
            <a:endParaRPr lang="en-US" sz="1400" dirty="0"/>
          </a:p>
        </p:txBody>
      </p:sp>
      <p:sp>
        <p:nvSpPr>
          <p:cNvPr id="10" name="Text 8"/>
          <p:cNvSpPr/>
          <p:nvPr/>
        </p:nvSpPr>
        <p:spPr>
          <a:xfrm>
            <a:off x="8686800" y="2423160"/>
            <a:ext cx="2514600" cy="365760"/>
          </a:xfrm>
          <a:prstGeom prst="rect">
            <a:avLst/>
          </a:prstGeom>
          <a:noFill/>
          <a:ln/>
        </p:spPr>
        <p:txBody>
          <a:bodyPr wrap="square" lIns="0" tIns="0" rIns="0" bIns="0" rtlCol="0" anchor="ctr"/>
          <a:lstStyle/>
          <a:p>
            <a:pPr algn="r" indent="0" marL="0">
              <a:buNone/>
            </a:pPr>
            <a:r>
              <a:rPr lang="en-US" sz="1400" b="1" dirty="0">
                <a:solidFill>
                  <a:srgbClr val="101314"/>
                </a:solidFill>
                <a:latin typeface="Courier New" pitchFamily="34" charset="0"/>
                <a:ea typeface="Courier New" pitchFamily="34" charset="-122"/>
                <a:cs typeface="Courier New" pitchFamily="34" charset="-120"/>
              </a:rPr>
              <a:t>14250</a:t>
            </a:r>
            <a:endParaRPr lang="en-US" sz="1400" dirty="0"/>
          </a:p>
        </p:txBody>
      </p:sp>
      <p:sp>
        <p:nvSpPr>
          <p:cNvPr id="11" name="Shape 9"/>
          <p:cNvSpPr/>
          <p:nvPr/>
        </p:nvSpPr>
        <p:spPr>
          <a:xfrm>
            <a:off x="6995160" y="2834640"/>
            <a:ext cx="4206240" cy="0"/>
          </a:xfrm>
          <a:prstGeom prst="line">
            <a:avLst/>
          </a:prstGeom>
          <a:noFill/>
          <a:ln w="12700">
            <a:solidFill>
              <a:srgbClr val="D3D7D0"/>
            </a:solidFill>
            <a:prstDash val="solid"/>
          </a:ln>
        </p:spPr>
      </p:sp>
      <p:sp>
        <p:nvSpPr>
          <p:cNvPr id="12" name="Text 10"/>
          <p:cNvSpPr/>
          <p:nvPr/>
        </p:nvSpPr>
        <p:spPr>
          <a:xfrm>
            <a:off x="6995160" y="2990088"/>
            <a:ext cx="1600200" cy="365760"/>
          </a:xfrm>
          <a:prstGeom prst="rect">
            <a:avLst/>
          </a:prstGeom>
          <a:noFill/>
          <a:ln/>
        </p:spPr>
        <p:txBody>
          <a:bodyPr wrap="square" lIns="0" tIns="0" rIns="0" bIns="0" rtlCol="0" anchor="ctr"/>
          <a:lstStyle/>
          <a:p>
            <a:pPr indent="0" marL="0">
              <a:buNone/>
            </a:pPr>
            <a:r>
              <a:rPr lang="en-US" sz="1400" dirty="0">
                <a:solidFill>
                  <a:srgbClr val="6D7673"/>
                </a:solidFill>
                <a:latin typeface="Calibri" pitchFamily="34" charset="0"/>
                <a:ea typeface="Calibri" pitchFamily="34" charset="-122"/>
                <a:cs typeface="Calibri" pitchFamily="34" charset="-120"/>
              </a:rPr>
              <a:t>Name</a:t>
            </a:r>
            <a:endParaRPr lang="en-US" sz="1400" dirty="0"/>
          </a:p>
        </p:txBody>
      </p:sp>
      <p:sp>
        <p:nvSpPr>
          <p:cNvPr id="13" name="Text 11"/>
          <p:cNvSpPr/>
          <p:nvPr/>
        </p:nvSpPr>
        <p:spPr>
          <a:xfrm>
            <a:off x="8686800" y="2990088"/>
            <a:ext cx="2514600" cy="365760"/>
          </a:xfrm>
          <a:prstGeom prst="rect">
            <a:avLst/>
          </a:prstGeom>
          <a:noFill/>
          <a:ln/>
        </p:spPr>
        <p:txBody>
          <a:bodyPr wrap="square" lIns="0" tIns="0" rIns="0" bIns="0" rtlCol="0" anchor="ctr"/>
          <a:lstStyle/>
          <a:p>
            <a:pPr algn="r" indent="0" marL="0">
              <a:buNone/>
            </a:pPr>
            <a:r>
              <a:rPr lang="en-US" sz="1400" b="1" dirty="0">
                <a:solidFill>
                  <a:srgbClr val="1E7A4C"/>
                </a:solidFill>
                <a:latin typeface="Calibri" pitchFamily="34" charset="0"/>
                <a:ea typeface="Calibri" pitchFamily="34" charset="-122"/>
                <a:cs typeface="Calibri" pitchFamily="34" charset="-120"/>
              </a:rPr>
              <a:t>Amber Jar 50 ml  ✓</a:t>
            </a:r>
            <a:endParaRPr lang="en-US" sz="1400" dirty="0"/>
          </a:p>
        </p:txBody>
      </p:sp>
      <p:sp>
        <p:nvSpPr>
          <p:cNvPr id="14" name="Shape 12"/>
          <p:cNvSpPr/>
          <p:nvPr/>
        </p:nvSpPr>
        <p:spPr>
          <a:xfrm>
            <a:off x="6995160" y="3401568"/>
            <a:ext cx="4206240" cy="0"/>
          </a:xfrm>
          <a:prstGeom prst="line">
            <a:avLst/>
          </a:prstGeom>
          <a:noFill/>
          <a:ln w="12700">
            <a:solidFill>
              <a:srgbClr val="D3D7D0"/>
            </a:solidFill>
            <a:prstDash val="solid"/>
          </a:ln>
        </p:spPr>
      </p:sp>
      <p:sp>
        <p:nvSpPr>
          <p:cNvPr id="15" name="Text 13"/>
          <p:cNvSpPr/>
          <p:nvPr/>
        </p:nvSpPr>
        <p:spPr>
          <a:xfrm>
            <a:off x="6995160" y="3557016"/>
            <a:ext cx="1600200" cy="365760"/>
          </a:xfrm>
          <a:prstGeom prst="rect">
            <a:avLst/>
          </a:prstGeom>
          <a:noFill/>
          <a:ln/>
        </p:spPr>
        <p:txBody>
          <a:bodyPr wrap="square" lIns="0" tIns="0" rIns="0" bIns="0" rtlCol="0" anchor="ctr"/>
          <a:lstStyle/>
          <a:p>
            <a:pPr indent="0" marL="0">
              <a:buNone/>
            </a:pPr>
            <a:r>
              <a:rPr lang="en-US" sz="1400" dirty="0">
                <a:solidFill>
                  <a:srgbClr val="6D7673"/>
                </a:solidFill>
                <a:latin typeface="Calibri" pitchFamily="34" charset="0"/>
                <a:ea typeface="Calibri" pitchFamily="34" charset="-122"/>
                <a:cs typeface="Calibri" pitchFamily="34" charset="-120"/>
              </a:rPr>
              <a:t>Quantity</a:t>
            </a:r>
            <a:endParaRPr lang="en-US" sz="1400" dirty="0"/>
          </a:p>
        </p:txBody>
      </p:sp>
      <p:sp>
        <p:nvSpPr>
          <p:cNvPr id="16" name="Text 14"/>
          <p:cNvSpPr/>
          <p:nvPr/>
        </p:nvSpPr>
        <p:spPr>
          <a:xfrm>
            <a:off x="8686800" y="3557016"/>
            <a:ext cx="2514600" cy="365760"/>
          </a:xfrm>
          <a:prstGeom prst="rect">
            <a:avLst/>
          </a:prstGeom>
          <a:noFill/>
          <a:ln/>
        </p:spPr>
        <p:txBody>
          <a:bodyPr wrap="square" lIns="0" tIns="0" rIns="0" bIns="0" rtlCol="0" anchor="ctr"/>
          <a:lstStyle/>
          <a:p>
            <a:pPr algn="r" indent="0" marL="0">
              <a:buNone/>
            </a:pPr>
            <a:r>
              <a:rPr lang="en-US" sz="1400" b="1" dirty="0">
                <a:solidFill>
                  <a:srgbClr val="101314"/>
                </a:solidFill>
                <a:latin typeface="Courier New" pitchFamily="34" charset="0"/>
                <a:ea typeface="Courier New" pitchFamily="34" charset="-122"/>
                <a:cs typeface="Courier New" pitchFamily="34" charset="-120"/>
              </a:rPr>
              <a:t>120 pcs</a:t>
            </a:r>
            <a:endParaRPr lang="en-US" sz="1400" dirty="0"/>
          </a:p>
        </p:txBody>
      </p:sp>
      <p:sp>
        <p:nvSpPr>
          <p:cNvPr id="17" name="Shape 15"/>
          <p:cNvSpPr/>
          <p:nvPr/>
        </p:nvSpPr>
        <p:spPr>
          <a:xfrm>
            <a:off x="6995160" y="3968496"/>
            <a:ext cx="4206240" cy="0"/>
          </a:xfrm>
          <a:prstGeom prst="line">
            <a:avLst/>
          </a:prstGeom>
          <a:noFill/>
          <a:ln w="12700">
            <a:solidFill>
              <a:srgbClr val="D3D7D0"/>
            </a:solidFill>
            <a:prstDash val="solid"/>
          </a:ln>
        </p:spPr>
      </p:sp>
      <p:sp>
        <p:nvSpPr>
          <p:cNvPr id="18" name="Text 16"/>
          <p:cNvSpPr/>
          <p:nvPr/>
        </p:nvSpPr>
        <p:spPr>
          <a:xfrm>
            <a:off x="6995160" y="4160520"/>
            <a:ext cx="4206240" cy="274320"/>
          </a:xfrm>
          <a:prstGeom prst="rect">
            <a:avLst/>
          </a:prstGeom>
          <a:noFill/>
          <a:ln/>
        </p:spPr>
        <p:txBody>
          <a:bodyPr wrap="square" lIns="0" tIns="0" rIns="0" bIns="0" rtlCol="0" anchor="ctr"/>
          <a:lstStyle/>
          <a:p>
            <a:pPr indent="0" marL="0">
              <a:buNone/>
            </a:pPr>
            <a:r>
              <a:rPr lang="en-US" sz="1300" dirty="0">
                <a:solidFill>
                  <a:srgbClr val="C9990B"/>
                </a:solidFill>
                <a:latin typeface="Calibri" pitchFamily="34" charset="0"/>
                <a:ea typeface="Calibri" pitchFamily="34" charset="-122"/>
                <a:cs typeface="Calibri" pitchFamily="34" charset="-120"/>
              </a:rPr>
              <a:t>+ Add another product to this pallet</a:t>
            </a:r>
            <a:endParaRPr lang="en-US" sz="1300" dirty="0"/>
          </a:p>
        </p:txBody>
      </p:sp>
      <p:sp>
        <p:nvSpPr>
          <p:cNvPr id="19" name="Shape 17"/>
          <p:cNvSpPr/>
          <p:nvPr/>
        </p:nvSpPr>
        <p:spPr>
          <a:xfrm>
            <a:off x="6995160" y="4572000"/>
            <a:ext cx="4206240" cy="457200"/>
          </a:xfrm>
          <a:prstGeom prst="roundRect">
            <a:avLst>
              <a:gd name="adj" fmla="val 12000"/>
            </a:avLst>
          </a:prstGeom>
          <a:solidFill>
            <a:srgbClr val="1E7A4C"/>
          </a:solidFill>
          <a:ln w="12700">
            <a:solidFill>
              <a:srgbClr val="1E7A4C"/>
            </a:solidFill>
            <a:prstDash val="solid"/>
          </a:ln>
        </p:spPr>
      </p:sp>
      <p:sp>
        <p:nvSpPr>
          <p:cNvPr id="20" name="Text 18"/>
          <p:cNvSpPr/>
          <p:nvPr/>
        </p:nvSpPr>
        <p:spPr>
          <a:xfrm>
            <a:off x="6995160" y="4572000"/>
            <a:ext cx="4206240" cy="457200"/>
          </a:xfrm>
          <a:prstGeom prst="rect">
            <a:avLst/>
          </a:prstGeom>
          <a:noFill/>
          <a:ln/>
        </p:spPr>
        <p:txBody>
          <a:bodyPr wrap="square" lIns="0" tIns="0" rIns="0" bIns="0"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Create pallet &amp; print label</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F3F0"/>
        </a:solidFill>
      </p:bgPr>
    </p:bg>
    <p:spTree>
      <p:nvGrpSpPr>
        <p:cNvPr id="1" name=""/>
        <p:cNvGrpSpPr/>
        <p:nvPr/>
      </p:nvGrpSpPr>
      <p:grpSpPr>
        <a:xfrm>
          <a:off x="0" y="0"/>
          <a:ext cx="0" cy="0"/>
          <a:chOff x="0" y="0"/>
          <a:chExt cx="0" cy="0"/>
        </a:xfrm>
      </p:grpSpPr>
      <p:sp>
        <p:nvSpPr>
          <p:cNvPr id="2" name="Text 0"/>
          <p:cNvSpPr/>
          <p:nvPr/>
        </p:nvSpPr>
        <p:spPr>
          <a:xfrm>
            <a:off x="685800" y="502920"/>
            <a:ext cx="10820095" cy="274320"/>
          </a:xfrm>
          <a:prstGeom prst="rect">
            <a:avLst/>
          </a:prstGeom>
          <a:noFill/>
          <a:ln/>
        </p:spPr>
        <p:txBody>
          <a:bodyPr wrap="square" lIns="0" tIns="0" rIns="0" bIns="0" rtlCol="0" anchor="ctr"/>
          <a:lstStyle/>
          <a:p>
            <a:pPr indent="0" marL="0">
              <a:buNone/>
            </a:pPr>
            <a:r>
              <a:rPr lang="en-US" sz="1100" b="1" spc="220" kern="0" dirty="0">
                <a:solidFill>
                  <a:srgbClr val="C9990B"/>
                </a:solidFill>
                <a:latin typeface="Courier New" pitchFamily="34" charset="0"/>
                <a:ea typeface="Courier New" pitchFamily="34" charset="-122"/>
                <a:cs typeface="Courier New" pitchFamily="34" charset="-120"/>
              </a:rPr>
              <a:t>EXAMPLE TWO</a:t>
            </a:r>
            <a:endParaRPr lang="en-US" sz="1100" dirty="0"/>
          </a:p>
        </p:txBody>
      </p:sp>
      <p:sp>
        <p:nvSpPr>
          <p:cNvPr id="3" name="Text 1"/>
          <p:cNvSpPr/>
          <p:nvPr/>
        </p:nvSpPr>
        <p:spPr>
          <a:xfrm>
            <a:off x="685800" y="914400"/>
            <a:ext cx="10820095" cy="1051560"/>
          </a:xfrm>
          <a:prstGeom prst="rect">
            <a:avLst/>
          </a:prstGeom>
          <a:noFill/>
          <a:ln/>
        </p:spPr>
        <p:txBody>
          <a:bodyPr wrap="square" lIns="0" tIns="0" rIns="0" bIns="0" rtlCol="0" anchor="t"/>
          <a:lstStyle/>
          <a:p>
            <a:pPr indent="0" marL="0">
              <a:lnSpc>
                <a:spcPts val="4256"/>
              </a:lnSpc>
              <a:buNone/>
            </a:pPr>
            <a:r>
              <a:rPr lang="en-US" sz="3800" b="1" dirty="0">
                <a:solidFill>
                  <a:srgbClr val="101314"/>
                </a:solidFill>
                <a:latin typeface="Cambria" pitchFamily="34" charset="0"/>
                <a:ea typeface="Cambria" pitchFamily="34" charset="-122"/>
                <a:cs typeface="Cambria" pitchFamily="34" charset="-120"/>
              </a:rPr>
              <a:t>Putting it on the shelf.</a:t>
            </a:r>
            <a:endParaRPr lang="en-US" sz="3800" dirty="0"/>
          </a:p>
        </p:txBody>
      </p:sp>
      <p:sp>
        <p:nvSpPr>
          <p:cNvPr id="4" name="Shape 2"/>
          <p:cNvSpPr/>
          <p:nvPr/>
        </p:nvSpPr>
        <p:spPr>
          <a:xfrm>
            <a:off x="685800" y="2286000"/>
            <a:ext cx="2505456" cy="2286000"/>
          </a:xfrm>
          <a:prstGeom prst="roundRect">
            <a:avLst>
              <a:gd name="adj" fmla="val 2400"/>
            </a:avLst>
          </a:prstGeom>
          <a:solidFill>
            <a:srgbClr val="FFFFFF"/>
          </a:solidFill>
          <a:ln w="12700">
            <a:solidFill>
              <a:srgbClr val="D3D7D0"/>
            </a:solidFill>
            <a:prstDash val="solid"/>
          </a:ln>
          <a:effectLst>
            <a:outerShdw sx="100000" sy="100000" kx="0" ky="0" algn="bl" rotWithShape="0" blurRad="177800" dist="38100" dir="5400000">
              <a:srgbClr val="101314">
                <a:alpha val="10000"/>
              </a:srgbClr>
            </a:outerShdw>
          </a:effectLst>
        </p:spPr>
      </p:sp>
      <p:sp>
        <p:nvSpPr>
          <p:cNvPr id="5" name="Text 3"/>
          <p:cNvSpPr/>
          <p:nvPr/>
        </p:nvSpPr>
        <p:spPr>
          <a:xfrm>
            <a:off x="960120" y="2542032"/>
            <a:ext cx="1956816" cy="228600"/>
          </a:xfrm>
          <a:prstGeom prst="rect">
            <a:avLst/>
          </a:prstGeom>
          <a:noFill/>
          <a:ln/>
        </p:spPr>
        <p:txBody>
          <a:bodyPr wrap="square" lIns="0" tIns="0" rIns="0" bIns="0" rtlCol="0" anchor="ctr"/>
          <a:lstStyle/>
          <a:p>
            <a:pPr indent="0" marL="0">
              <a:buNone/>
            </a:pPr>
            <a:r>
              <a:rPr lang="en-US" sz="1050" b="1" spc="160" kern="0" dirty="0">
                <a:solidFill>
                  <a:srgbClr val="C9990B"/>
                </a:solidFill>
                <a:latin typeface="Courier New" pitchFamily="34" charset="0"/>
                <a:ea typeface="Courier New" pitchFamily="34" charset="-122"/>
                <a:cs typeface="Courier New" pitchFamily="34" charset="-120"/>
              </a:rPr>
              <a:t>STEP 1</a:t>
            </a:r>
            <a:endParaRPr lang="en-US" sz="1050" dirty="0"/>
          </a:p>
        </p:txBody>
      </p:sp>
      <p:sp>
        <p:nvSpPr>
          <p:cNvPr id="6" name="Text 4"/>
          <p:cNvSpPr/>
          <p:nvPr/>
        </p:nvSpPr>
        <p:spPr>
          <a:xfrm>
            <a:off x="960120" y="2834640"/>
            <a:ext cx="1956816" cy="594360"/>
          </a:xfrm>
          <a:prstGeom prst="rect">
            <a:avLst/>
          </a:prstGeom>
          <a:noFill/>
          <a:ln/>
        </p:spPr>
        <p:txBody>
          <a:bodyPr wrap="square" lIns="0" tIns="0" rIns="0" bIns="0" rtlCol="0" anchor="t"/>
          <a:lstStyle/>
          <a:p>
            <a:pPr indent="0" marL="0">
              <a:buNone/>
            </a:pPr>
            <a:r>
              <a:rPr lang="en-US" sz="1700" b="1" dirty="0">
                <a:solidFill>
                  <a:srgbClr val="101314"/>
                </a:solidFill>
                <a:latin typeface="Cambria" pitchFamily="34" charset="0"/>
                <a:ea typeface="Cambria" pitchFamily="34" charset="-122"/>
                <a:cs typeface="Cambria" pitchFamily="34" charset="-120"/>
              </a:rPr>
              <a:t>Scan the shelf</a:t>
            </a:r>
            <a:endParaRPr lang="en-US" sz="1700" dirty="0"/>
          </a:p>
        </p:txBody>
      </p:sp>
      <p:sp>
        <p:nvSpPr>
          <p:cNvPr id="7" name="Text 5"/>
          <p:cNvSpPr/>
          <p:nvPr/>
        </p:nvSpPr>
        <p:spPr>
          <a:xfrm>
            <a:off x="960120" y="3474720"/>
            <a:ext cx="1956816" cy="777240"/>
          </a:xfrm>
          <a:prstGeom prst="rect">
            <a:avLst/>
          </a:prstGeom>
          <a:noFill/>
          <a:ln/>
        </p:spPr>
        <p:txBody>
          <a:bodyPr wrap="square" lIns="0" tIns="0" rIns="0" bIns="0" rtlCol="0" anchor="t"/>
          <a:lstStyle/>
          <a:p>
            <a:pPr algn="l" indent="0" marL="0">
              <a:lnSpc>
                <a:spcPts val="2025"/>
              </a:lnSpc>
              <a:buNone/>
            </a:pPr>
            <a:r>
              <a:rPr lang="en-US" sz="1350" dirty="0">
                <a:solidFill>
                  <a:srgbClr val="3D4644"/>
                </a:solidFill>
                <a:latin typeface="Calibri" pitchFamily="34" charset="0"/>
                <a:ea typeface="Calibri" pitchFamily="34" charset="-122"/>
                <a:cs typeface="Calibri" pitchFamily="34" charset="-120"/>
              </a:rPr>
              <a:t>Point the phone at the sticker on the rack beam.</a:t>
            </a:r>
            <a:endParaRPr lang="en-US" sz="1350" dirty="0"/>
          </a:p>
        </p:txBody>
      </p:sp>
      <p:sp>
        <p:nvSpPr>
          <p:cNvPr id="8" name="Text 6"/>
          <p:cNvSpPr/>
          <p:nvPr/>
        </p:nvSpPr>
        <p:spPr>
          <a:xfrm>
            <a:off x="960120" y="4224528"/>
            <a:ext cx="1956816" cy="228600"/>
          </a:xfrm>
          <a:prstGeom prst="rect">
            <a:avLst/>
          </a:prstGeom>
          <a:noFill/>
          <a:ln/>
        </p:spPr>
        <p:txBody>
          <a:bodyPr wrap="square" lIns="0" tIns="0" rIns="0" bIns="0" rtlCol="0" anchor="ctr"/>
          <a:lstStyle/>
          <a:p>
            <a:pPr indent="0" marL="0">
              <a:buNone/>
            </a:pPr>
            <a:r>
              <a:rPr lang="en-US" sz="1100" dirty="0">
                <a:solidFill>
                  <a:srgbClr val="6D7673"/>
                </a:solidFill>
                <a:latin typeface="Courier New" pitchFamily="34" charset="0"/>
                <a:ea typeface="Courier New" pitchFamily="34" charset="-122"/>
                <a:cs typeface="Courier New" pitchFamily="34" charset="-120"/>
              </a:rPr>
              <a:t>2 seconds</a:t>
            </a:r>
            <a:endParaRPr lang="en-US" sz="1100" dirty="0"/>
          </a:p>
        </p:txBody>
      </p:sp>
      <p:sp>
        <p:nvSpPr>
          <p:cNvPr id="9" name="Shape 7"/>
          <p:cNvSpPr/>
          <p:nvPr/>
        </p:nvSpPr>
        <p:spPr>
          <a:xfrm>
            <a:off x="3447288" y="2286000"/>
            <a:ext cx="2505456" cy="2286000"/>
          </a:xfrm>
          <a:prstGeom prst="roundRect">
            <a:avLst>
              <a:gd name="adj" fmla="val 2400"/>
            </a:avLst>
          </a:prstGeom>
          <a:solidFill>
            <a:srgbClr val="FFFFFF"/>
          </a:solidFill>
          <a:ln w="12700">
            <a:solidFill>
              <a:srgbClr val="D3D7D0"/>
            </a:solidFill>
            <a:prstDash val="solid"/>
          </a:ln>
          <a:effectLst>
            <a:outerShdw sx="100000" sy="100000" kx="0" ky="0" algn="bl" rotWithShape="0" blurRad="177800" dist="38100" dir="5400000">
              <a:srgbClr val="101314">
                <a:alpha val="10000"/>
              </a:srgbClr>
            </a:outerShdw>
          </a:effectLst>
        </p:spPr>
      </p:sp>
      <p:sp>
        <p:nvSpPr>
          <p:cNvPr id="10" name="Text 8"/>
          <p:cNvSpPr/>
          <p:nvPr/>
        </p:nvSpPr>
        <p:spPr>
          <a:xfrm>
            <a:off x="3721608" y="2542032"/>
            <a:ext cx="1956816" cy="228600"/>
          </a:xfrm>
          <a:prstGeom prst="rect">
            <a:avLst/>
          </a:prstGeom>
          <a:noFill/>
          <a:ln/>
        </p:spPr>
        <p:txBody>
          <a:bodyPr wrap="square" lIns="0" tIns="0" rIns="0" bIns="0" rtlCol="0" anchor="ctr"/>
          <a:lstStyle/>
          <a:p>
            <a:pPr indent="0" marL="0">
              <a:buNone/>
            </a:pPr>
            <a:r>
              <a:rPr lang="en-US" sz="1050" b="1" spc="160" kern="0" dirty="0">
                <a:solidFill>
                  <a:srgbClr val="C9990B"/>
                </a:solidFill>
                <a:latin typeface="Courier New" pitchFamily="34" charset="0"/>
                <a:ea typeface="Courier New" pitchFamily="34" charset="-122"/>
                <a:cs typeface="Courier New" pitchFamily="34" charset="-120"/>
              </a:rPr>
              <a:t>STEP 2</a:t>
            </a:r>
            <a:endParaRPr lang="en-US" sz="1050" dirty="0"/>
          </a:p>
        </p:txBody>
      </p:sp>
      <p:sp>
        <p:nvSpPr>
          <p:cNvPr id="11" name="Text 9"/>
          <p:cNvSpPr/>
          <p:nvPr/>
        </p:nvSpPr>
        <p:spPr>
          <a:xfrm>
            <a:off x="3721608" y="2834640"/>
            <a:ext cx="1956816" cy="594360"/>
          </a:xfrm>
          <a:prstGeom prst="rect">
            <a:avLst/>
          </a:prstGeom>
          <a:noFill/>
          <a:ln/>
        </p:spPr>
        <p:txBody>
          <a:bodyPr wrap="square" lIns="0" tIns="0" rIns="0" bIns="0" rtlCol="0" anchor="t"/>
          <a:lstStyle/>
          <a:p>
            <a:pPr indent="0" marL="0">
              <a:buNone/>
            </a:pPr>
            <a:r>
              <a:rPr lang="en-US" sz="1700" b="1" dirty="0">
                <a:solidFill>
                  <a:srgbClr val="101314"/>
                </a:solidFill>
                <a:latin typeface="Cambria" pitchFamily="34" charset="0"/>
                <a:ea typeface="Cambria" pitchFamily="34" charset="-122"/>
                <a:cs typeface="Cambria" pitchFamily="34" charset="-120"/>
              </a:rPr>
              <a:t>Scan the pallet</a:t>
            </a:r>
            <a:endParaRPr lang="en-US" sz="1700" dirty="0"/>
          </a:p>
        </p:txBody>
      </p:sp>
      <p:sp>
        <p:nvSpPr>
          <p:cNvPr id="12" name="Text 10"/>
          <p:cNvSpPr/>
          <p:nvPr/>
        </p:nvSpPr>
        <p:spPr>
          <a:xfrm>
            <a:off x="3721608" y="3474720"/>
            <a:ext cx="1956816" cy="777240"/>
          </a:xfrm>
          <a:prstGeom prst="rect">
            <a:avLst/>
          </a:prstGeom>
          <a:noFill/>
          <a:ln/>
        </p:spPr>
        <p:txBody>
          <a:bodyPr wrap="square" lIns="0" tIns="0" rIns="0" bIns="0" rtlCol="0" anchor="t"/>
          <a:lstStyle/>
          <a:p>
            <a:pPr algn="l" indent="0" marL="0">
              <a:lnSpc>
                <a:spcPts val="2025"/>
              </a:lnSpc>
              <a:buNone/>
            </a:pPr>
            <a:r>
              <a:rPr lang="en-US" sz="1350" dirty="0">
                <a:solidFill>
                  <a:srgbClr val="3D4644"/>
                </a:solidFill>
                <a:latin typeface="Calibri" pitchFamily="34" charset="0"/>
                <a:ea typeface="Calibri" pitchFamily="34" charset="-122"/>
                <a:cs typeface="Calibri" pitchFamily="34" charset="-120"/>
              </a:rPr>
              <a:t>Point it at the label in the pallet pocket.</a:t>
            </a:r>
            <a:endParaRPr lang="en-US" sz="1350" dirty="0"/>
          </a:p>
        </p:txBody>
      </p:sp>
      <p:sp>
        <p:nvSpPr>
          <p:cNvPr id="13" name="Text 11"/>
          <p:cNvSpPr/>
          <p:nvPr/>
        </p:nvSpPr>
        <p:spPr>
          <a:xfrm>
            <a:off x="3721608" y="4224528"/>
            <a:ext cx="1956816" cy="228600"/>
          </a:xfrm>
          <a:prstGeom prst="rect">
            <a:avLst/>
          </a:prstGeom>
          <a:noFill/>
          <a:ln/>
        </p:spPr>
        <p:txBody>
          <a:bodyPr wrap="square" lIns="0" tIns="0" rIns="0" bIns="0" rtlCol="0" anchor="ctr"/>
          <a:lstStyle/>
          <a:p>
            <a:pPr indent="0" marL="0">
              <a:buNone/>
            </a:pPr>
            <a:r>
              <a:rPr lang="en-US" sz="1100" dirty="0">
                <a:solidFill>
                  <a:srgbClr val="6D7673"/>
                </a:solidFill>
                <a:latin typeface="Courier New" pitchFamily="34" charset="0"/>
                <a:ea typeface="Courier New" pitchFamily="34" charset="-122"/>
                <a:cs typeface="Courier New" pitchFamily="34" charset="-120"/>
              </a:rPr>
              <a:t>2 seconds</a:t>
            </a:r>
            <a:endParaRPr lang="en-US" sz="1100" dirty="0"/>
          </a:p>
        </p:txBody>
      </p:sp>
      <p:sp>
        <p:nvSpPr>
          <p:cNvPr id="14" name="Shape 12"/>
          <p:cNvSpPr/>
          <p:nvPr/>
        </p:nvSpPr>
        <p:spPr>
          <a:xfrm>
            <a:off x="6208776" y="2286000"/>
            <a:ext cx="2505456" cy="2286000"/>
          </a:xfrm>
          <a:prstGeom prst="roundRect">
            <a:avLst>
              <a:gd name="adj" fmla="val 2400"/>
            </a:avLst>
          </a:prstGeom>
          <a:solidFill>
            <a:srgbClr val="FFFFFF"/>
          </a:solidFill>
          <a:ln w="12700">
            <a:solidFill>
              <a:srgbClr val="D3D7D0"/>
            </a:solidFill>
            <a:prstDash val="solid"/>
          </a:ln>
          <a:effectLst>
            <a:outerShdw sx="100000" sy="100000" kx="0" ky="0" algn="bl" rotWithShape="0" blurRad="177800" dist="38100" dir="5400000">
              <a:srgbClr val="101314">
                <a:alpha val="10000"/>
              </a:srgbClr>
            </a:outerShdw>
          </a:effectLst>
        </p:spPr>
      </p:sp>
      <p:sp>
        <p:nvSpPr>
          <p:cNvPr id="15" name="Text 13"/>
          <p:cNvSpPr/>
          <p:nvPr/>
        </p:nvSpPr>
        <p:spPr>
          <a:xfrm>
            <a:off x="6483096" y="2542032"/>
            <a:ext cx="1956816" cy="228600"/>
          </a:xfrm>
          <a:prstGeom prst="rect">
            <a:avLst/>
          </a:prstGeom>
          <a:noFill/>
          <a:ln/>
        </p:spPr>
        <p:txBody>
          <a:bodyPr wrap="square" lIns="0" tIns="0" rIns="0" bIns="0" rtlCol="0" anchor="ctr"/>
          <a:lstStyle/>
          <a:p>
            <a:pPr indent="0" marL="0">
              <a:buNone/>
            </a:pPr>
            <a:r>
              <a:rPr lang="en-US" sz="1050" b="1" spc="160" kern="0" dirty="0">
                <a:solidFill>
                  <a:srgbClr val="C9990B"/>
                </a:solidFill>
                <a:latin typeface="Courier New" pitchFamily="34" charset="0"/>
                <a:ea typeface="Courier New" pitchFamily="34" charset="-122"/>
                <a:cs typeface="Courier New" pitchFamily="34" charset="-120"/>
              </a:rPr>
              <a:t>STEP 3</a:t>
            </a:r>
            <a:endParaRPr lang="en-US" sz="1050" dirty="0"/>
          </a:p>
        </p:txBody>
      </p:sp>
      <p:sp>
        <p:nvSpPr>
          <p:cNvPr id="16" name="Text 14"/>
          <p:cNvSpPr/>
          <p:nvPr/>
        </p:nvSpPr>
        <p:spPr>
          <a:xfrm>
            <a:off x="6483096" y="2834640"/>
            <a:ext cx="1956816" cy="594360"/>
          </a:xfrm>
          <a:prstGeom prst="rect">
            <a:avLst/>
          </a:prstGeom>
          <a:noFill/>
          <a:ln/>
        </p:spPr>
        <p:txBody>
          <a:bodyPr wrap="square" lIns="0" tIns="0" rIns="0" bIns="0" rtlCol="0" anchor="t"/>
          <a:lstStyle/>
          <a:p>
            <a:pPr indent="0" marL="0">
              <a:buNone/>
            </a:pPr>
            <a:r>
              <a:rPr lang="en-US" sz="1700" b="1" dirty="0">
                <a:solidFill>
                  <a:srgbClr val="101314"/>
                </a:solidFill>
                <a:latin typeface="Cambria" pitchFamily="34" charset="0"/>
                <a:ea typeface="Cambria" pitchFamily="34" charset="-122"/>
                <a:cs typeface="Cambria" pitchFamily="34" charset="-120"/>
              </a:rPr>
              <a:t>Confirm</a:t>
            </a:r>
            <a:endParaRPr lang="en-US" sz="1700" dirty="0"/>
          </a:p>
        </p:txBody>
      </p:sp>
      <p:sp>
        <p:nvSpPr>
          <p:cNvPr id="17" name="Text 15"/>
          <p:cNvSpPr/>
          <p:nvPr/>
        </p:nvSpPr>
        <p:spPr>
          <a:xfrm>
            <a:off x="6483096" y="3474720"/>
            <a:ext cx="1956816" cy="777240"/>
          </a:xfrm>
          <a:prstGeom prst="rect">
            <a:avLst/>
          </a:prstGeom>
          <a:noFill/>
          <a:ln/>
        </p:spPr>
        <p:txBody>
          <a:bodyPr wrap="square" lIns="0" tIns="0" rIns="0" bIns="0" rtlCol="0" anchor="t"/>
          <a:lstStyle/>
          <a:p>
            <a:pPr algn="l" indent="0" marL="0">
              <a:lnSpc>
                <a:spcPts val="2025"/>
              </a:lnSpc>
              <a:buNone/>
            </a:pPr>
            <a:r>
              <a:rPr lang="en-US" sz="1350" dirty="0">
                <a:solidFill>
                  <a:srgbClr val="3D4644"/>
                </a:solidFill>
                <a:latin typeface="Calibri" pitchFamily="34" charset="0"/>
                <a:ea typeface="Calibri" pitchFamily="34" charset="-122"/>
                <a:cs typeface="Calibri" pitchFamily="34" charset="-120"/>
              </a:rPr>
              <a:t>The screen shows what will happen. One tap.</a:t>
            </a:r>
            <a:endParaRPr lang="en-US" sz="1350" dirty="0"/>
          </a:p>
        </p:txBody>
      </p:sp>
      <p:sp>
        <p:nvSpPr>
          <p:cNvPr id="18" name="Text 16"/>
          <p:cNvSpPr/>
          <p:nvPr/>
        </p:nvSpPr>
        <p:spPr>
          <a:xfrm>
            <a:off x="6483096" y="4224528"/>
            <a:ext cx="1956816" cy="228600"/>
          </a:xfrm>
          <a:prstGeom prst="rect">
            <a:avLst/>
          </a:prstGeom>
          <a:noFill/>
          <a:ln/>
        </p:spPr>
        <p:txBody>
          <a:bodyPr wrap="square" lIns="0" tIns="0" rIns="0" bIns="0" rtlCol="0" anchor="ctr"/>
          <a:lstStyle/>
          <a:p>
            <a:pPr indent="0" marL="0">
              <a:buNone/>
            </a:pPr>
            <a:r>
              <a:rPr lang="en-US" sz="1100" dirty="0">
                <a:solidFill>
                  <a:srgbClr val="6D7673"/>
                </a:solidFill>
                <a:latin typeface="Courier New" pitchFamily="34" charset="0"/>
                <a:ea typeface="Courier New" pitchFamily="34" charset="-122"/>
                <a:cs typeface="Courier New" pitchFamily="34" charset="-120"/>
              </a:rPr>
              <a:t>2 seconds</a:t>
            </a:r>
            <a:endParaRPr lang="en-US" sz="1100" dirty="0"/>
          </a:p>
        </p:txBody>
      </p:sp>
      <p:sp>
        <p:nvSpPr>
          <p:cNvPr id="19" name="Shape 17"/>
          <p:cNvSpPr/>
          <p:nvPr/>
        </p:nvSpPr>
        <p:spPr>
          <a:xfrm>
            <a:off x="8970264" y="2286000"/>
            <a:ext cx="2505456" cy="2286000"/>
          </a:xfrm>
          <a:prstGeom prst="roundRect">
            <a:avLst>
              <a:gd name="adj" fmla="val 2400"/>
            </a:avLst>
          </a:prstGeom>
          <a:solidFill>
            <a:srgbClr val="F6DFDA"/>
          </a:solidFill>
          <a:ln w="22225">
            <a:solidFill>
              <a:srgbClr val="A93B2C"/>
            </a:solidFill>
            <a:prstDash val="solid"/>
          </a:ln>
          <a:effectLst>
            <a:outerShdw sx="100000" sy="100000" kx="0" ky="0" algn="bl" rotWithShape="0" blurRad="177800" dist="38100" dir="5400000">
              <a:srgbClr val="101314">
                <a:alpha val="10000"/>
              </a:srgbClr>
            </a:outerShdw>
          </a:effectLst>
        </p:spPr>
      </p:sp>
      <p:sp>
        <p:nvSpPr>
          <p:cNvPr id="20" name="Text 18"/>
          <p:cNvSpPr/>
          <p:nvPr/>
        </p:nvSpPr>
        <p:spPr>
          <a:xfrm>
            <a:off x="9244584" y="2542032"/>
            <a:ext cx="1956816" cy="228600"/>
          </a:xfrm>
          <a:prstGeom prst="rect">
            <a:avLst/>
          </a:prstGeom>
          <a:noFill/>
          <a:ln/>
        </p:spPr>
        <p:txBody>
          <a:bodyPr wrap="square" lIns="0" tIns="0" rIns="0" bIns="0" rtlCol="0" anchor="ctr"/>
          <a:lstStyle/>
          <a:p>
            <a:pPr indent="0" marL="0">
              <a:buNone/>
            </a:pPr>
            <a:r>
              <a:rPr lang="en-US" sz="1050" b="1" spc="160" kern="0" dirty="0">
                <a:solidFill>
                  <a:srgbClr val="A93B2C"/>
                </a:solidFill>
                <a:latin typeface="Courier New" pitchFamily="34" charset="0"/>
                <a:ea typeface="Courier New" pitchFamily="34" charset="-122"/>
                <a:cs typeface="Courier New" pitchFamily="34" charset="-120"/>
              </a:rPr>
              <a:t>RESULT</a:t>
            </a:r>
            <a:endParaRPr lang="en-US" sz="1050" dirty="0"/>
          </a:p>
        </p:txBody>
      </p:sp>
      <p:sp>
        <p:nvSpPr>
          <p:cNvPr id="21" name="Text 19"/>
          <p:cNvSpPr/>
          <p:nvPr/>
        </p:nvSpPr>
        <p:spPr>
          <a:xfrm>
            <a:off x="9244584" y="2834640"/>
            <a:ext cx="1956816" cy="594360"/>
          </a:xfrm>
          <a:prstGeom prst="rect">
            <a:avLst/>
          </a:prstGeom>
          <a:noFill/>
          <a:ln/>
        </p:spPr>
        <p:txBody>
          <a:bodyPr wrap="square" lIns="0" tIns="0" rIns="0" bIns="0" rtlCol="0" anchor="t"/>
          <a:lstStyle/>
          <a:p>
            <a:pPr indent="0" marL="0">
              <a:buNone/>
            </a:pPr>
            <a:r>
              <a:rPr lang="en-US" sz="1700" b="1" dirty="0">
                <a:solidFill>
                  <a:srgbClr val="A93B2C"/>
                </a:solidFill>
                <a:latin typeface="Cambria" pitchFamily="34" charset="0"/>
                <a:ea typeface="Cambria" pitchFamily="34" charset="-122"/>
                <a:cs typeface="Cambria" pitchFamily="34" charset="-120"/>
              </a:rPr>
              <a:t>The shelf turns red</a:t>
            </a:r>
            <a:endParaRPr lang="en-US" sz="1700" dirty="0"/>
          </a:p>
        </p:txBody>
      </p:sp>
      <p:sp>
        <p:nvSpPr>
          <p:cNvPr id="22" name="Text 20"/>
          <p:cNvSpPr/>
          <p:nvPr/>
        </p:nvSpPr>
        <p:spPr>
          <a:xfrm>
            <a:off x="9244584" y="3474720"/>
            <a:ext cx="1956816" cy="777240"/>
          </a:xfrm>
          <a:prstGeom prst="rect">
            <a:avLst/>
          </a:prstGeom>
          <a:noFill/>
          <a:ln/>
        </p:spPr>
        <p:txBody>
          <a:bodyPr wrap="square" lIns="0" tIns="0" rIns="0" bIns="0" rtlCol="0" anchor="t"/>
          <a:lstStyle/>
          <a:p>
            <a:pPr algn="l" indent="0" marL="0">
              <a:lnSpc>
                <a:spcPts val="2025"/>
              </a:lnSpc>
              <a:buNone/>
            </a:pPr>
            <a:r>
              <a:rPr lang="en-US" sz="1350" dirty="0">
                <a:solidFill>
                  <a:srgbClr val="3D4644"/>
                </a:solidFill>
                <a:latin typeface="Calibri" pitchFamily="34" charset="0"/>
                <a:ea typeface="Calibri" pitchFamily="34" charset="-122"/>
                <a:cs typeface="Calibri" pitchFamily="34" charset="-120"/>
              </a:rPr>
              <a:t>On every screen in the building, within a second.</a:t>
            </a:r>
            <a:endParaRPr lang="en-US" sz="1350" dirty="0"/>
          </a:p>
        </p:txBody>
      </p:sp>
      <p:sp>
        <p:nvSpPr>
          <p:cNvPr id="23" name="Text 21"/>
          <p:cNvSpPr/>
          <p:nvPr/>
        </p:nvSpPr>
        <p:spPr>
          <a:xfrm>
            <a:off x="9244584" y="4224528"/>
            <a:ext cx="1956816" cy="228600"/>
          </a:xfrm>
          <a:prstGeom prst="rect">
            <a:avLst/>
          </a:prstGeom>
          <a:noFill/>
          <a:ln/>
        </p:spPr>
        <p:txBody>
          <a:bodyPr wrap="square" lIns="0" tIns="0" rIns="0" bIns="0" rtlCol="0" anchor="ctr"/>
          <a:lstStyle/>
          <a:p>
            <a:pPr indent="0" marL="0">
              <a:buNone/>
            </a:pPr>
            <a:r>
              <a:rPr lang="en-US" sz="1100" dirty="0">
                <a:solidFill>
                  <a:srgbClr val="6D7673"/>
                </a:solidFill>
                <a:latin typeface="Courier New" pitchFamily="34" charset="0"/>
                <a:ea typeface="Courier New" pitchFamily="34" charset="-122"/>
                <a:cs typeface="Courier New" pitchFamily="34" charset="-120"/>
              </a:rPr>
              <a:t>instant</a:t>
            </a:r>
            <a:endParaRPr lang="en-US" sz="1100" dirty="0"/>
          </a:p>
        </p:txBody>
      </p:sp>
      <p:sp>
        <p:nvSpPr>
          <p:cNvPr id="24" name="Text 22"/>
          <p:cNvSpPr/>
          <p:nvPr/>
        </p:nvSpPr>
        <p:spPr>
          <a:xfrm>
            <a:off x="685800" y="4937760"/>
            <a:ext cx="10424160" cy="731520"/>
          </a:xfrm>
          <a:prstGeom prst="rect">
            <a:avLst/>
          </a:prstGeom>
          <a:noFill/>
          <a:ln/>
        </p:spPr>
        <p:txBody>
          <a:bodyPr wrap="square" lIns="0" tIns="0" rIns="0" bIns="0" rtlCol="0" anchor="t"/>
          <a:lstStyle/>
          <a:p>
            <a:pPr algn="l" indent="0" marL="0">
              <a:lnSpc>
                <a:spcPts val="2250"/>
              </a:lnSpc>
              <a:buNone/>
            </a:pPr>
            <a:r>
              <a:rPr lang="en-US" sz="1500" dirty="0">
                <a:solidFill>
                  <a:srgbClr val="3D4644"/>
                </a:solidFill>
                <a:latin typeface="Calibri" pitchFamily="34" charset="0"/>
                <a:ea typeface="Calibri" pitchFamily="34" charset="-122"/>
                <a:cs typeface="Calibri" pitchFamily="34" charset="-120"/>
              </a:rPr>
              <a:t>Nothing is saved until both scans are done. If someone is interrupted halfway, the app forgets it after ninety seconds and records nothing at all.</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F3F0"/>
        </a:solidFill>
      </p:bgPr>
    </p:bg>
    <p:spTree>
      <p:nvGrpSpPr>
        <p:cNvPr id="1" name=""/>
        <p:cNvGrpSpPr/>
        <p:nvPr/>
      </p:nvGrpSpPr>
      <p:grpSpPr>
        <a:xfrm>
          <a:off x="0" y="0"/>
          <a:ext cx="0" cy="0"/>
          <a:chOff x="0" y="0"/>
          <a:chExt cx="0" cy="0"/>
        </a:xfrm>
      </p:grpSpPr>
      <p:sp>
        <p:nvSpPr>
          <p:cNvPr id="2" name="Text 0"/>
          <p:cNvSpPr/>
          <p:nvPr/>
        </p:nvSpPr>
        <p:spPr>
          <a:xfrm>
            <a:off x="685800" y="502920"/>
            <a:ext cx="10820095" cy="274320"/>
          </a:xfrm>
          <a:prstGeom prst="rect">
            <a:avLst/>
          </a:prstGeom>
          <a:noFill/>
          <a:ln/>
        </p:spPr>
        <p:txBody>
          <a:bodyPr wrap="square" lIns="0" tIns="0" rIns="0" bIns="0" rtlCol="0" anchor="ctr"/>
          <a:lstStyle/>
          <a:p>
            <a:pPr indent="0" marL="0">
              <a:buNone/>
            </a:pPr>
            <a:r>
              <a:rPr lang="en-US" sz="1100" b="1" spc="220" kern="0" dirty="0">
                <a:solidFill>
                  <a:srgbClr val="C9990B"/>
                </a:solidFill>
                <a:latin typeface="Courier New" pitchFamily="34" charset="0"/>
                <a:ea typeface="Courier New" pitchFamily="34" charset="-122"/>
                <a:cs typeface="Courier New" pitchFamily="34" charset="-120"/>
              </a:rPr>
              <a:t>THE SCREEN ON THE OFFICE WALL</a:t>
            </a:r>
            <a:endParaRPr lang="en-US" sz="1100" dirty="0"/>
          </a:p>
        </p:txBody>
      </p:sp>
      <p:sp>
        <p:nvSpPr>
          <p:cNvPr id="3" name="Text 1"/>
          <p:cNvSpPr/>
          <p:nvPr/>
        </p:nvSpPr>
        <p:spPr>
          <a:xfrm>
            <a:off x="685800" y="914400"/>
            <a:ext cx="10820095" cy="1051560"/>
          </a:xfrm>
          <a:prstGeom prst="rect">
            <a:avLst/>
          </a:prstGeom>
          <a:noFill/>
          <a:ln/>
        </p:spPr>
        <p:txBody>
          <a:bodyPr wrap="square" lIns="0" tIns="0" rIns="0" bIns="0" rtlCol="0" anchor="t"/>
          <a:lstStyle/>
          <a:p>
            <a:pPr indent="0" marL="0">
              <a:lnSpc>
                <a:spcPts val="4256"/>
              </a:lnSpc>
              <a:buNone/>
            </a:pPr>
            <a:r>
              <a:rPr lang="en-US" sz="3800" b="1" dirty="0">
                <a:solidFill>
                  <a:srgbClr val="101314"/>
                </a:solidFill>
                <a:latin typeface="Cambria" pitchFamily="34" charset="0"/>
                <a:ea typeface="Cambria" pitchFamily="34" charset="-122"/>
                <a:cs typeface="Cambria" pitchFamily="34" charset="-120"/>
              </a:rPr>
              <a:t>Green means free. Red means full.</a:t>
            </a:r>
            <a:endParaRPr lang="en-US" sz="3800" dirty="0"/>
          </a:p>
        </p:txBody>
      </p:sp>
      <p:sp>
        <p:nvSpPr>
          <p:cNvPr id="4" name="Shape 2"/>
          <p:cNvSpPr/>
          <p:nvPr/>
        </p:nvSpPr>
        <p:spPr>
          <a:xfrm>
            <a:off x="685800" y="2194560"/>
            <a:ext cx="10817352" cy="2834640"/>
          </a:xfrm>
          <a:prstGeom prst="roundRect">
            <a:avLst>
              <a:gd name="adj" fmla="val 1935"/>
            </a:avLst>
          </a:prstGeom>
          <a:solidFill>
            <a:srgbClr val="FFFFFF"/>
          </a:solidFill>
          <a:ln w="12700">
            <a:solidFill>
              <a:srgbClr val="D3D7D0"/>
            </a:solidFill>
            <a:prstDash val="solid"/>
          </a:ln>
          <a:effectLst>
            <a:outerShdw sx="100000" sy="100000" kx="0" ky="0" algn="bl" rotWithShape="0" blurRad="177800" dist="38100" dir="5400000">
              <a:srgbClr val="101314">
                <a:alpha val="10000"/>
              </a:srgbClr>
            </a:outerShdw>
          </a:effectLst>
        </p:spPr>
      </p:sp>
      <p:sp>
        <p:nvSpPr>
          <p:cNvPr id="5" name="Text 3"/>
          <p:cNvSpPr/>
          <p:nvPr/>
        </p:nvSpPr>
        <p:spPr>
          <a:xfrm>
            <a:off x="960120" y="2423160"/>
            <a:ext cx="3657600" cy="274320"/>
          </a:xfrm>
          <a:prstGeom prst="rect">
            <a:avLst/>
          </a:prstGeom>
          <a:noFill/>
          <a:ln/>
        </p:spPr>
        <p:txBody>
          <a:bodyPr wrap="square" lIns="0" tIns="0" rIns="0" bIns="0" rtlCol="0" anchor="ctr"/>
          <a:lstStyle/>
          <a:p>
            <a:pPr indent="0" marL="0">
              <a:buNone/>
            </a:pPr>
            <a:r>
              <a:rPr lang="en-US" sz="1100" b="1" spc="180" kern="0" dirty="0">
                <a:solidFill>
                  <a:srgbClr val="6D7673"/>
                </a:solidFill>
                <a:latin typeface="Courier New" pitchFamily="34" charset="0"/>
                <a:ea typeface="Courier New" pitchFamily="34" charset="-122"/>
                <a:cs typeface="Courier New" pitchFamily="34" charset="-120"/>
              </a:rPr>
              <a:t>AISLE A — LIVE</a:t>
            </a:r>
            <a:endParaRPr lang="en-US" sz="1100" dirty="0"/>
          </a:p>
        </p:txBody>
      </p:sp>
      <p:sp>
        <p:nvSpPr>
          <p:cNvPr id="6" name="Shape 4"/>
          <p:cNvSpPr/>
          <p:nvPr/>
        </p:nvSpPr>
        <p:spPr>
          <a:xfrm>
            <a:off x="960120" y="2788920"/>
            <a:ext cx="1572768" cy="786384"/>
          </a:xfrm>
          <a:prstGeom prst="roundRect">
            <a:avLst>
              <a:gd name="adj" fmla="val 4651"/>
            </a:avLst>
          </a:prstGeom>
          <a:solidFill>
            <a:srgbClr val="F6DFDA"/>
          </a:solidFill>
          <a:ln w="12700">
            <a:solidFill>
              <a:srgbClr val="A93B2C"/>
            </a:solidFill>
            <a:prstDash val="solid"/>
          </a:ln>
        </p:spPr>
      </p:sp>
      <p:sp>
        <p:nvSpPr>
          <p:cNvPr id="7" name="Text 5"/>
          <p:cNvSpPr/>
          <p:nvPr/>
        </p:nvSpPr>
        <p:spPr>
          <a:xfrm>
            <a:off x="960120" y="2788920"/>
            <a:ext cx="1572768" cy="786384"/>
          </a:xfrm>
          <a:prstGeom prst="rect">
            <a:avLst/>
          </a:prstGeom>
          <a:noFill/>
          <a:ln/>
        </p:spPr>
        <p:txBody>
          <a:bodyPr wrap="square" lIns="0" tIns="0" rIns="0" bIns="0" rtlCol="0" anchor="ctr"/>
          <a:lstStyle/>
          <a:p>
            <a:pPr algn="ctr" indent="0" marL="0">
              <a:buNone/>
            </a:pPr>
            <a:r>
              <a:rPr lang="en-US" sz="1200" b="1" dirty="0">
                <a:solidFill>
                  <a:srgbClr val="A93B2C"/>
                </a:solidFill>
                <a:latin typeface="Courier New" pitchFamily="34" charset="0"/>
                <a:ea typeface="Courier New" pitchFamily="34" charset="-122"/>
                <a:cs typeface="Courier New" pitchFamily="34" charset="-120"/>
              </a:rPr>
              <a:t>01-3</a:t>
            </a:r>
            <a:endParaRPr lang="en-US" sz="1200" dirty="0"/>
          </a:p>
        </p:txBody>
      </p:sp>
      <p:sp>
        <p:nvSpPr>
          <p:cNvPr id="8" name="Shape 6"/>
          <p:cNvSpPr/>
          <p:nvPr/>
        </p:nvSpPr>
        <p:spPr>
          <a:xfrm>
            <a:off x="2660904" y="2788920"/>
            <a:ext cx="1572768" cy="786384"/>
          </a:xfrm>
          <a:prstGeom prst="roundRect">
            <a:avLst>
              <a:gd name="adj" fmla="val 4651"/>
            </a:avLst>
          </a:prstGeom>
          <a:solidFill>
            <a:srgbClr val="DCEEE3"/>
          </a:solidFill>
          <a:ln w="12700">
            <a:solidFill>
              <a:srgbClr val="1E7A4C"/>
            </a:solidFill>
            <a:prstDash val="solid"/>
          </a:ln>
        </p:spPr>
      </p:sp>
      <p:sp>
        <p:nvSpPr>
          <p:cNvPr id="9" name="Text 7"/>
          <p:cNvSpPr/>
          <p:nvPr/>
        </p:nvSpPr>
        <p:spPr>
          <a:xfrm>
            <a:off x="2660904" y="2788920"/>
            <a:ext cx="1572768" cy="786384"/>
          </a:xfrm>
          <a:prstGeom prst="rect">
            <a:avLst/>
          </a:prstGeom>
          <a:noFill/>
          <a:ln/>
        </p:spPr>
        <p:txBody>
          <a:bodyPr wrap="square" lIns="0" tIns="0" rIns="0" bIns="0" rtlCol="0" anchor="ctr"/>
          <a:lstStyle/>
          <a:p>
            <a:pPr algn="ctr" indent="0" marL="0">
              <a:buNone/>
            </a:pPr>
            <a:r>
              <a:rPr lang="en-US" sz="1200" b="1" dirty="0">
                <a:solidFill>
                  <a:srgbClr val="1E7A4C"/>
                </a:solidFill>
                <a:latin typeface="Courier New" pitchFamily="34" charset="0"/>
                <a:ea typeface="Courier New" pitchFamily="34" charset="-122"/>
                <a:cs typeface="Courier New" pitchFamily="34" charset="-120"/>
              </a:rPr>
              <a:t>02-3</a:t>
            </a:r>
            <a:endParaRPr lang="en-US" sz="1200" dirty="0"/>
          </a:p>
        </p:txBody>
      </p:sp>
      <p:sp>
        <p:nvSpPr>
          <p:cNvPr id="10" name="Shape 8"/>
          <p:cNvSpPr/>
          <p:nvPr/>
        </p:nvSpPr>
        <p:spPr>
          <a:xfrm>
            <a:off x="4361688" y="2788920"/>
            <a:ext cx="1572768" cy="786384"/>
          </a:xfrm>
          <a:prstGeom prst="roundRect">
            <a:avLst>
              <a:gd name="adj" fmla="val 4651"/>
            </a:avLst>
          </a:prstGeom>
          <a:solidFill>
            <a:srgbClr val="DCEEE3"/>
          </a:solidFill>
          <a:ln w="12700">
            <a:solidFill>
              <a:srgbClr val="1E7A4C"/>
            </a:solidFill>
            <a:prstDash val="solid"/>
          </a:ln>
        </p:spPr>
      </p:sp>
      <p:sp>
        <p:nvSpPr>
          <p:cNvPr id="11" name="Text 9"/>
          <p:cNvSpPr/>
          <p:nvPr/>
        </p:nvSpPr>
        <p:spPr>
          <a:xfrm>
            <a:off x="4361688" y="2788920"/>
            <a:ext cx="1572768" cy="786384"/>
          </a:xfrm>
          <a:prstGeom prst="rect">
            <a:avLst/>
          </a:prstGeom>
          <a:noFill/>
          <a:ln/>
        </p:spPr>
        <p:txBody>
          <a:bodyPr wrap="square" lIns="0" tIns="0" rIns="0" bIns="0" rtlCol="0" anchor="ctr"/>
          <a:lstStyle/>
          <a:p>
            <a:pPr algn="ctr" indent="0" marL="0">
              <a:buNone/>
            </a:pPr>
            <a:r>
              <a:rPr lang="en-US" sz="1200" b="1" dirty="0">
                <a:solidFill>
                  <a:srgbClr val="1E7A4C"/>
                </a:solidFill>
                <a:latin typeface="Courier New" pitchFamily="34" charset="0"/>
                <a:ea typeface="Courier New" pitchFamily="34" charset="-122"/>
                <a:cs typeface="Courier New" pitchFamily="34" charset="-120"/>
              </a:rPr>
              <a:t>03-3</a:t>
            </a:r>
            <a:endParaRPr lang="en-US" sz="1200" dirty="0"/>
          </a:p>
        </p:txBody>
      </p:sp>
      <p:sp>
        <p:nvSpPr>
          <p:cNvPr id="12" name="Shape 10"/>
          <p:cNvSpPr/>
          <p:nvPr/>
        </p:nvSpPr>
        <p:spPr>
          <a:xfrm>
            <a:off x="6062472" y="2788920"/>
            <a:ext cx="1572768" cy="786384"/>
          </a:xfrm>
          <a:prstGeom prst="roundRect">
            <a:avLst>
              <a:gd name="adj" fmla="val 4651"/>
            </a:avLst>
          </a:prstGeom>
          <a:solidFill>
            <a:srgbClr val="DCEEE3"/>
          </a:solidFill>
          <a:ln w="12700">
            <a:solidFill>
              <a:srgbClr val="1E7A4C"/>
            </a:solidFill>
            <a:prstDash val="solid"/>
          </a:ln>
        </p:spPr>
      </p:sp>
      <p:sp>
        <p:nvSpPr>
          <p:cNvPr id="13" name="Text 11"/>
          <p:cNvSpPr/>
          <p:nvPr/>
        </p:nvSpPr>
        <p:spPr>
          <a:xfrm>
            <a:off x="6062472" y="2788920"/>
            <a:ext cx="1572768" cy="786384"/>
          </a:xfrm>
          <a:prstGeom prst="rect">
            <a:avLst/>
          </a:prstGeom>
          <a:noFill/>
          <a:ln/>
        </p:spPr>
        <p:txBody>
          <a:bodyPr wrap="square" lIns="0" tIns="0" rIns="0" bIns="0" rtlCol="0" anchor="ctr"/>
          <a:lstStyle/>
          <a:p>
            <a:pPr algn="ctr" indent="0" marL="0">
              <a:buNone/>
            </a:pPr>
            <a:r>
              <a:rPr lang="en-US" sz="1200" b="1" dirty="0">
                <a:solidFill>
                  <a:srgbClr val="1E7A4C"/>
                </a:solidFill>
                <a:latin typeface="Courier New" pitchFamily="34" charset="0"/>
                <a:ea typeface="Courier New" pitchFamily="34" charset="-122"/>
                <a:cs typeface="Courier New" pitchFamily="34" charset="-120"/>
              </a:rPr>
              <a:t>04-3</a:t>
            </a:r>
            <a:endParaRPr lang="en-US" sz="1200" dirty="0"/>
          </a:p>
        </p:txBody>
      </p:sp>
      <p:sp>
        <p:nvSpPr>
          <p:cNvPr id="14" name="Shape 12"/>
          <p:cNvSpPr/>
          <p:nvPr/>
        </p:nvSpPr>
        <p:spPr>
          <a:xfrm>
            <a:off x="7763256" y="2788920"/>
            <a:ext cx="1572768" cy="786384"/>
          </a:xfrm>
          <a:prstGeom prst="roundRect">
            <a:avLst>
              <a:gd name="adj" fmla="val 4651"/>
            </a:avLst>
          </a:prstGeom>
          <a:solidFill>
            <a:srgbClr val="F6DFDA"/>
          </a:solidFill>
          <a:ln w="12700">
            <a:solidFill>
              <a:srgbClr val="A93B2C"/>
            </a:solidFill>
            <a:prstDash val="solid"/>
          </a:ln>
        </p:spPr>
      </p:sp>
      <p:sp>
        <p:nvSpPr>
          <p:cNvPr id="15" name="Text 13"/>
          <p:cNvSpPr/>
          <p:nvPr/>
        </p:nvSpPr>
        <p:spPr>
          <a:xfrm>
            <a:off x="7763256" y="2788920"/>
            <a:ext cx="1572768" cy="786384"/>
          </a:xfrm>
          <a:prstGeom prst="rect">
            <a:avLst/>
          </a:prstGeom>
          <a:noFill/>
          <a:ln/>
        </p:spPr>
        <p:txBody>
          <a:bodyPr wrap="square" lIns="0" tIns="0" rIns="0" bIns="0" rtlCol="0" anchor="ctr"/>
          <a:lstStyle/>
          <a:p>
            <a:pPr algn="ctr" indent="0" marL="0">
              <a:buNone/>
            </a:pPr>
            <a:r>
              <a:rPr lang="en-US" sz="1200" b="1" dirty="0">
                <a:solidFill>
                  <a:srgbClr val="A93B2C"/>
                </a:solidFill>
                <a:latin typeface="Courier New" pitchFamily="34" charset="0"/>
                <a:ea typeface="Courier New" pitchFamily="34" charset="-122"/>
                <a:cs typeface="Courier New" pitchFamily="34" charset="-120"/>
              </a:rPr>
              <a:t>05-3</a:t>
            </a:r>
            <a:endParaRPr lang="en-US" sz="1200" dirty="0"/>
          </a:p>
        </p:txBody>
      </p:sp>
      <p:sp>
        <p:nvSpPr>
          <p:cNvPr id="16" name="Shape 14"/>
          <p:cNvSpPr/>
          <p:nvPr/>
        </p:nvSpPr>
        <p:spPr>
          <a:xfrm>
            <a:off x="9464040" y="2788920"/>
            <a:ext cx="1572768" cy="786384"/>
          </a:xfrm>
          <a:prstGeom prst="roundRect">
            <a:avLst>
              <a:gd name="adj" fmla="val 4651"/>
            </a:avLst>
          </a:prstGeom>
          <a:solidFill>
            <a:srgbClr val="DCEEE3"/>
          </a:solidFill>
          <a:ln w="12700">
            <a:solidFill>
              <a:srgbClr val="1E7A4C"/>
            </a:solidFill>
            <a:prstDash val="solid"/>
          </a:ln>
        </p:spPr>
      </p:sp>
      <p:sp>
        <p:nvSpPr>
          <p:cNvPr id="17" name="Text 15"/>
          <p:cNvSpPr/>
          <p:nvPr/>
        </p:nvSpPr>
        <p:spPr>
          <a:xfrm>
            <a:off x="9464040" y="2788920"/>
            <a:ext cx="1572768" cy="786384"/>
          </a:xfrm>
          <a:prstGeom prst="rect">
            <a:avLst/>
          </a:prstGeom>
          <a:noFill/>
          <a:ln/>
        </p:spPr>
        <p:txBody>
          <a:bodyPr wrap="square" lIns="0" tIns="0" rIns="0" bIns="0" rtlCol="0" anchor="ctr"/>
          <a:lstStyle/>
          <a:p>
            <a:pPr algn="ctr" indent="0" marL="0">
              <a:buNone/>
            </a:pPr>
            <a:r>
              <a:rPr lang="en-US" sz="1200" b="1" dirty="0">
                <a:solidFill>
                  <a:srgbClr val="1E7A4C"/>
                </a:solidFill>
                <a:latin typeface="Courier New" pitchFamily="34" charset="0"/>
                <a:ea typeface="Courier New" pitchFamily="34" charset="-122"/>
                <a:cs typeface="Courier New" pitchFamily="34" charset="-120"/>
              </a:rPr>
              <a:t>06-3</a:t>
            </a:r>
            <a:endParaRPr lang="en-US" sz="1200" dirty="0"/>
          </a:p>
        </p:txBody>
      </p:sp>
      <p:sp>
        <p:nvSpPr>
          <p:cNvPr id="18" name="Shape 16"/>
          <p:cNvSpPr/>
          <p:nvPr/>
        </p:nvSpPr>
        <p:spPr>
          <a:xfrm>
            <a:off x="960120" y="3703320"/>
            <a:ext cx="1572768" cy="786384"/>
          </a:xfrm>
          <a:prstGeom prst="roundRect">
            <a:avLst>
              <a:gd name="adj" fmla="val 4651"/>
            </a:avLst>
          </a:prstGeom>
          <a:solidFill>
            <a:srgbClr val="DCEEE3"/>
          </a:solidFill>
          <a:ln w="12700">
            <a:solidFill>
              <a:srgbClr val="1E7A4C"/>
            </a:solidFill>
            <a:prstDash val="solid"/>
          </a:ln>
        </p:spPr>
      </p:sp>
      <p:sp>
        <p:nvSpPr>
          <p:cNvPr id="19" name="Text 17"/>
          <p:cNvSpPr/>
          <p:nvPr/>
        </p:nvSpPr>
        <p:spPr>
          <a:xfrm>
            <a:off x="960120" y="3703320"/>
            <a:ext cx="1572768" cy="786384"/>
          </a:xfrm>
          <a:prstGeom prst="rect">
            <a:avLst/>
          </a:prstGeom>
          <a:noFill/>
          <a:ln/>
        </p:spPr>
        <p:txBody>
          <a:bodyPr wrap="square" lIns="0" tIns="0" rIns="0" bIns="0" rtlCol="0" anchor="ctr"/>
          <a:lstStyle/>
          <a:p>
            <a:pPr algn="ctr" indent="0" marL="0">
              <a:buNone/>
            </a:pPr>
            <a:r>
              <a:rPr lang="en-US" sz="1200" b="1" dirty="0">
                <a:solidFill>
                  <a:srgbClr val="1E7A4C"/>
                </a:solidFill>
                <a:latin typeface="Courier New" pitchFamily="34" charset="0"/>
                <a:ea typeface="Courier New" pitchFamily="34" charset="-122"/>
                <a:cs typeface="Courier New" pitchFamily="34" charset="-120"/>
              </a:rPr>
              <a:t>01-2</a:t>
            </a:r>
            <a:endParaRPr lang="en-US" sz="1200" dirty="0"/>
          </a:p>
        </p:txBody>
      </p:sp>
      <p:sp>
        <p:nvSpPr>
          <p:cNvPr id="20" name="Shape 18"/>
          <p:cNvSpPr/>
          <p:nvPr/>
        </p:nvSpPr>
        <p:spPr>
          <a:xfrm>
            <a:off x="2660904" y="3703320"/>
            <a:ext cx="1572768" cy="786384"/>
          </a:xfrm>
          <a:prstGeom prst="roundRect">
            <a:avLst>
              <a:gd name="adj" fmla="val 4651"/>
            </a:avLst>
          </a:prstGeom>
          <a:solidFill>
            <a:srgbClr val="F6DFDA"/>
          </a:solidFill>
          <a:ln w="12700">
            <a:solidFill>
              <a:srgbClr val="A93B2C"/>
            </a:solidFill>
            <a:prstDash val="solid"/>
          </a:ln>
        </p:spPr>
      </p:sp>
      <p:sp>
        <p:nvSpPr>
          <p:cNvPr id="21" name="Text 19"/>
          <p:cNvSpPr/>
          <p:nvPr/>
        </p:nvSpPr>
        <p:spPr>
          <a:xfrm>
            <a:off x="2660904" y="3703320"/>
            <a:ext cx="1572768" cy="786384"/>
          </a:xfrm>
          <a:prstGeom prst="rect">
            <a:avLst/>
          </a:prstGeom>
          <a:noFill/>
          <a:ln/>
        </p:spPr>
        <p:txBody>
          <a:bodyPr wrap="square" lIns="0" tIns="0" rIns="0" bIns="0" rtlCol="0" anchor="ctr"/>
          <a:lstStyle/>
          <a:p>
            <a:pPr algn="ctr" indent="0" marL="0">
              <a:buNone/>
            </a:pPr>
            <a:r>
              <a:rPr lang="en-US" sz="1200" b="1" dirty="0">
                <a:solidFill>
                  <a:srgbClr val="A93B2C"/>
                </a:solidFill>
                <a:latin typeface="Courier New" pitchFamily="34" charset="0"/>
                <a:ea typeface="Courier New" pitchFamily="34" charset="-122"/>
                <a:cs typeface="Courier New" pitchFamily="34" charset="-120"/>
              </a:rPr>
              <a:t>02-2</a:t>
            </a:r>
            <a:endParaRPr lang="en-US" sz="1200" dirty="0"/>
          </a:p>
        </p:txBody>
      </p:sp>
      <p:sp>
        <p:nvSpPr>
          <p:cNvPr id="22" name="Shape 20"/>
          <p:cNvSpPr/>
          <p:nvPr/>
        </p:nvSpPr>
        <p:spPr>
          <a:xfrm>
            <a:off x="4361688" y="3703320"/>
            <a:ext cx="1572768" cy="786384"/>
          </a:xfrm>
          <a:prstGeom prst="roundRect">
            <a:avLst>
              <a:gd name="adj" fmla="val 4651"/>
            </a:avLst>
          </a:prstGeom>
          <a:solidFill>
            <a:srgbClr val="DCEEE3"/>
          </a:solidFill>
          <a:ln w="12700">
            <a:solidFill>
              <a:srgbClr val="1E7A4C"/>
            </a:solidFill>
            <a:prstDash val="solid"/>
          </a:ln>
        </p:spPr>
      </p:sp>
      <p:sp>
        <p:nvSpPr>
          <p:cNvPr id="23" name="Text 21"/>
          <p:cNvSpPr/>
          <p:nvPr/>
        </p:nvSpPr>
        <p:spPr>
          <a:xfrm>
            <a:off x="4361688" y="3703320"/>
            <a:ext cx="1572768" cy="786384"/>
          </a:xfrm>
          <a:prstGeom prst="rect">
            <a:avLst/>
          </a:prstGeom>
          <a:noFill/>
          <a:ln/>
        </p:spPr>
        <p:txBody>
          <a:bodyPr wrap="square" lIns="0" tIns="0" rIns="0" bIns="0" rtlCol="0" anchor="ctr"/>
          <a:lstStyle/>
          <a:p>
            <a:pPr algn="ctr" indent="0" marL="0">
              <a:buNone/>
            </a:pPr>
            <a:r>
              <a:rPr lang="en-US" sz="1200" b="1" dirty="0">
                <a:solidFill>
                  <a:srgbClr val="1E7A4C"/>
                </a:solidFill>
                <a:latin typeface="Courier New" pitchFamily="34" charset="0"/>
                <a:ea typeface="Courier New" pitchFamily="34" charset="-122"/>
                <a:cs typeface="Courier New" pitchFamily="34" charset="-120"/>
              </a:rPr>
              <a:t>03-2</a:t>
            </a:r>
            <a:endParaRPr lang="en-US" sz="1200" dirty="0"/>
          </a:p>
        </p:txBody>
      </p:sp>
      <p:sp>
        <p:nvSpPr>
          <p:cNvPr id="24" name="Shape 22"/>
          <p:cNvSpPr/>
          <p:nvPr/>
        </p:nvSpPr>
        <p:spPr>
          <a:xfrm>
            <a:off x="6062472" y="3703320"/>
            <a:ext cx="1572768" cy="786384"/>
          </a:xfrm>
          <a:prstGeom prst="roundRect">
            <a:avLst>
              <a:gd name="adj" fmla="val 4651"/>
            </a:avLst>
          </a:prstGeom>
          <a:solidFill>
            <a:srgbClr val="DCEEE3"/>
          </a:solidFill>
          <a:ln w="12700">
            <a:solidFill>
              <a:srgbClr val="1E7A4C"/>
            </a:solidFill>
            <a:prstDash val="solid"/>
          </a:ln>
        </p:spPr>
      </p:sp>
      <p:sp>
        <p:nvSpPr>
          <p:cNvPr id="25" name="Text 23"/>
          <p:cNvSpPr/>
          <p:nvPr/>
        </p:nvSpPr>
        <p:spPr>
          <a:xfrm>
            <a:off x="6062472" y="3703320"/>
            <a:ext cx="1572768" cy="786384"/>
          </a:xfrm>
          <a:prstGeom prst="rect">
            <a:avLst/>
          </a:prstGeom>
          <a:noFill/>
          <a:ln/>
        </p:spPr>
        <p:txBody>
          <a:bodyPr wrap="square" lIns="0" tIns="0" rIns="0" bIns="0" rtlCol="0" anchor="ctr"/>
          <a:lstStyle/>
          <a:p>
            <a:pPr algn="ctr" indent="0" marL="0">
              <a:buNone/>
            </a:pPr>
            <a:r>
              <a:rPr lang="en-US" sz="1200" b="1" dirty="0">
                <a:solidFill>
                  <a:srgbClr val="1E7A4C"/>
                </a:solidFill>
                <a:latin typeface="Courier New" pitchFamily="34" charset="0"/>
                <a:ea typeface="Courier New" pitchFamily="34" charset="-122"/>
                <a:cs typeface="Courier New" pitchFamily="34" charset="-120"/>
              </a:rPr>
              <a:t>04-2</a:t>
            </a:r>
            <a:endParaRPr lang="en-US" sz="1200" dirty="0"/>
          </a:p>
        </p:txBody>
      </p:sp>
      <p:sp>
        <p:nvSpPr>
          <p:cNvPr id="26" name="Shape 24"/>
          <p:cNvSpPr/>
          <p:nvPr/>
        </p:nvSpPr>
        <p:spPr>
          <a:xfrm>
            <a:off x="7763256" y="3703320"/>
            <a:ext cx="1572768" cy="786384"/>
          </a:xfrm>
          <a:prstGeom prst="roundRect">
            <a:avLst>
              <a:gd name="adj" fmla="val 4651"/>
            </a:avLst>
          </a:prstGeom>
          <a:solidFill>
            <a:srgbClr val="DCEEE3"/>
          </a:solidFill>
          <a:ln w="12700">
            <a:solidFill>
              <a:srgbClr val="1E7A4C"/>
            </a:solidFill>
            <a:prstDash val="solid"/>
          </a:ln>
        </p:spPr>
      </p:sp>
      <p:sp>
        <p:nvSpPr>
          <p:cNvPr id="27" name="Text 25"/>
          <p:cNvSpPr/>
          <p:nvPr/>
        </p:nvSpPr>
        <p:spPr>
          <a:xfrm>
            <a:off x="7763256" y="3703320"/>
            <a:ext cx="1572768" cy="786384"/>
          </a:xfrm>
          <a:prstGeom prst="rect">
            <a:avLst/>
          </a:prstGeom>
          <a:noFill/>
          <a:ln/>
        </p:spPr>
        <p:txBody>
          <a:bodyPr wrap="square" lIns="0" tIns="0" rIns="0" bIns="0" rtlCol="0" anchor="ctr"/>
          <a:lstStyle/>
          <a:p>
            <a:pPr algn="ctr" indent="0" marL="0">
              <a:buNone/>
            </a:pPr>
            <a:r>
              <a:rPr lang="en-US" sz="1200" b="1" dirty="0">
                <a:solidFill>
                  <a:srgbClr val="1E7A4C"/>
                </a:solidFill>
                <a:latin typeface="Courier New" pitchFamily="34" charset="0"/>
                <a:ea typeface="Courier New" pitchFamily="34" charset="-122"/>
                <a:cs typeface="Courier New" pitchFamily="34" charset="-120"/>
              </a:rPr>
              <a:t>05-2</a:t>
            </a:r>
            <a:endParaRPr lang="en-US" sz="1200" dirty="0"/>
          </a:p>
        </p:txBody>
      </p:sp>
      <p:sp>
        <p:nvSpPr>
          <p:cNvPr id="28" name="Shape 26"/>
          <p:cNvSpPr/>
          <p:nvPr/>
        </p:nvSpPr>
        <p:spPr>
          <a:xfrm>
            <a:off x="9464040" y="3703320"/>
            <a:ext cx="1572768" cy="786384"/>
          </a:xfrm>
          <a:prstGeom prst="roundRect">
            <a:avLst>
              <a:gd name="adj" fmla="val 4651"/>
            </a:avLst>
          </a:prstGeom>
          <a:solidFill>
            <a:srgbClr val="F6DFDA"/>
          </a:solidFill>
          <a:ln w="12700">
            <a:solidFill>
              <a:srgbClr val="A93B2C"/>
            </a:solidFill>
            <a:prstDash val="solid"/>
          </a:ln>
        </p:spPr>
      </p:sp>
      <p:sp>
        <p:nvSpPr>
          <p:cNvPr id="29" name="Text 27"/>
          <p:cNvSpPr/>
          <p:nvPr/>
        </p:nvSpPr>
        <p:spPr>
          <a:xfrm>
            <a:off x="9464040" y="3703320"/>
            <a:ext cx="1572768" cy="786384"/>
          </a:xfrm>
          <a:prstGeom prst="rect">
            <a:avLst/>
          </a:prstGeom>
          <a:noFill/>
          <a:ln/>
        </p:spPr>
        <p:txBody>
          <a:bodyPr wrap="square" lIns="0" tIns="0" rIns="0" bIns="0" rtlCol="0" anchor="ctr"/>
          <a:lstStyle/>
          <a:p>
            <a:pPr algn="ctr" indent="0" marL="0">
              <a:buNone/>
            </a:pPr>
            <a:r>
              <a:rPr lang="en-US" sz="1200" b="1" dirty="0">
                <a:solidFill>
                  <a:srgbClr val="A93B2C"/>
                </a:solidFill>
                <a:latin typeface="Courier New" pitchFamily="34" charset="0"/>
                <a:ea typeface="Courier New" pitchFamily="34" charset="-122"/>
                <a:cs typeface="Courier New" pitchFamily="34" charset="-120"/>
              </a:rPr>
              <a:t>06-2</a:t>
            </a:r>
            <a:endParaRPr lang="en-US" sz="1200" dirty="0"/>
          </a:p>
        </p:txBody>
      </p:sp>
      <p:sp>
        <p:nvSpPr>
          <p:cNvPr id="30" name="Shape 28"/>
          <p:cNvSpPr/>
          <p:nvPr/>
        </p:nvSpPr>
        <p:spPr>
          <a:xfrm>
            <a:off x="960120" y="4507992"/>
            <a:ext cx="310896" cy="237744"/>
          </a:xfrm>
          <a:prstGeom prst="roundRect">
            <a:avLst>
              <a:gd name="adj" fmla="val 69231"/>
            </a:avLst>
          </a:prstGeom>
          <a:solidFill>
            <a:srgbClr val="DCEEE3"/>
          </a:solidFill>
          <a:ln w="12700">
            <a:solidFill>
              <a:srgbClr val="1E7A4C"/>
            </a:solidFill>
            <a:prstDash val="solid"/>
          </a:ln>
        </p:spPr>
      </p:sp>
      <p:sp>
        <p:nvSpPr>
          <p:cNvPr id="31" name="Text 29"/>
          <p:cNvSpPr/>
          <p:nvPr/>
        </p:nvSpPr>
        <p:spPr>
          <a:xfrm>
            <a:off x="960120" y="4507992"/>
            <a:ext cx="310896" cy="237744"/>
          </a:xfrm>
          <a:prstGeom prst="rect">
            <a:avLst/>
          </a:prstGeom>
          <a:noFill/>
          <a:ln/>
        </p:spPr>
        <p:txBody>
          <a:bodyPr wrap="square" lIns="0" tIns="0" rIns="0" bIns="0" rtlCol="0" anchor="ctr"/>
          <a:lstStyle/>
          <a:p>
            <a:pPr algn="ctr" indent="0" marL="0">
              <a:buNone/>
            </a:pPr>
            <a:endParaRPr lang="en-US" sz="1150" dirty="0"/>
          </a:p>
        </p:txBody>
      </p:sp>
      <p:sp>
        <p:nvSpPr>
          <p:cNvPr id="32" name="Text 30"/>
          <p:cNvSpPr/>
          <p:nvPr/>
        </p:nvSpPr>
        <p:spPr>
          <a:xfrm>
            <a:off x="1353312" y="4480560"/>
            <a:ext cx="2834640" cy="292608"/>
          </a:xfrm>
          <a:prstGeom prst="rect">
            <a:avLst/>
          </a:prstGeom>
          <a:noFill/>
          <a:ln/>
        </p:spPr>
        <p:txBody>
          <a:bodyPr wrap="square" lIns="0" tIns="0" rIns="0" bIns="0" rtlCol="0" anchor="ctr"/>
          <a:lstStyle/>
          <a:p>
            <a:pPr indent="0" marL="0">
              <a:buNone/>
            </a:pPr>
            <a:r>
              <a:rPr lang="en-US" sz="1300" dirty="0">
                <a:solidFill>
                  <a:srgbClr val="3D4644"/>
                </a:solidFill>
                <a:latin typeface="Calibri" pitchFamily="34" charset="0"/>
                <a:ea typeface="Calibri" pitchFamily="34" charset="-122"/>
                <a:cs typeface="Calibri" pitchFamily="34" charset="-120"/>
              </a:rPr>
              <a:t>Empty — ready for a pallet</a:t>
            </a:r>
            <a:endParaRPr lang="en-US" sz="1300" dirty="0"/>
          </a:p>
        </p:txBody>
      </p:sp>
      <p:sp>
        <p:nvSpPr>
          <p:cNvPr id="33" name="Shape 31"/>
          <p:cNvSpPr/>
          <p:nvPr/>
        </p:nvSpPr>
        <p:spPr>
          <a:xfrm>
            <a:off x="4343400" y="4507992"/>
            <a:ext cx="310896" cy="237744"/>
          </a:xfrm>
          <a:prstGeom prst="roundRect">
            <a:avLst>
              <a:gd name="adj" fmla="val 69231"/>
            </a:avLst>
          </a:prstGeom>
          <a:solidFill>
            <a:srgbClr val="F6DFDA"/>
          </a:solidFill>
          <a:ln w="12700">
            <a:solidFill>
              <a:srgbClr val="A93B2C"/>
            </a:solidFill>
            <a:prstDash val="solid"/>
          </a:ln>
        </p:spPr>
      </p:sp>
      <p:sp>
        <p:nvSpPr>
          <p:cNvPr id="34" name="Text 32"/>
          <p:cNvSpPr/>
          <p:nvPr/>
        </p:nvSpPr>
        <p:spPr>
          <a:xfrm>
            <a:off x="4343400" y="4507992"/>
            <a:ext cx="310896" cy="237744"/>
          </a:xfrm>
          <a:prstGeom prst="rect">
            <a:avLst/>
          </a:prstGeom>
          <a:noFill/>
          <a:ln/>
        </p:spPr>
        <p:txBody>
          <a:bodyPr wrap="square" lIns="0" tIns="0" rIns="0" bIns="0" rtlCol="0" anchor="ctr"/>
          <a:lstStyle/>
          <a:p>
            <a:pPr algn="ctr" indent="0" marL="0">
              <a:buNone/>
            </a:pPr>
            <a:endParaRPr lang="en-US" sz="1150" dirty="0"/>
          </a:p>
        </p:txBody>
      </p:sp>
      <p:sp>
        <p:nvSpPr>
          <p:cNvPr id="35" name="Text 33"/>
          <p:cNvSpPr/>
          <p:nvPr/>
        </p:nvSpPr>
        <p:spPr>
          <a:xfrm>
            <a:off x="4736592" y="4480560"/>
            <a:ext cx="3840480" cy="292608"/>
          </a:xfrm>
          <a:prstGeom prst="rect">
            <a:avLst/>
          </a:prstGeom>
          <a:noFill/>
          <a:ln/>
        </p:spPr>
        <p:txBody>
          <a:bodyPr wrap="square" lIns="0" tIns="0" rIns="0" bIns="0" rtlCol="0" anchor="ctr"/>
          <a:lstStyle/>
          <a:p>
            <a:pPr indent="0" marL="0">
              <a:buNone/>
            </a:pPr>
            <a:r>
              <a:rPr lang="en-US" sz="1300" dirty="0">
                <a:solidFill>
                  <a:srgbClr val="3D4644"/>
                </a:solidFill>
                <a:latin typeface="Calibri" pitchFamily="34" charset="0"/>
                <a:ea typeface="Calibri" pitchFamily="34" charset="-122"/>
                <a:cs typeface="Calibri" pitchFamily="34" charset="-120"/>
              </a:rPr>
              <a:t>Occupied — tap to see what is there</a:t>
            </a:r>
            <a:endParaRPr lang="en-US" sz="1300" dirty="0"/>
          </a:p>
        </p:txBody>
      </p:sp>
      <p:sp>
        <p:nvSpPr>
          <p:cNvPr id="36" name="Text 34"/>
          <p:cNvSpPr/>
          <p:nvPr/>
        </p:nvSpPr>
        <p:spPr>
          <a:xfrm>
            <a:off x="685800" y="5212080"/>
            <a:ext cx="10424160" cy="822960"/>
          </a:xfrm>
          <a:prstGeom prst="rect">
            <a:avLst/>
          </a:prstGeom>
          <a:noFill/>
          <a:ln/>
        </p:spPr>
        <p:txBody>
          <a:bodyPr wrap="square" lIns="0" tIns="0" rIns="0" bIns="0" rtlCol="0" anchor="t"/>
          <a:lstStyle/>
          <a:p>
            <a:pPr algn="l" indent="0" marL="0">
              <a:lnSpc>
                <a:spcPts val="2250"/>
              </a:lnSpc>
              <a:buNone/>
            </a:pPr>
            <a:r>
              <a:rPr lang="en-US" sz="1500" dirty="0">
                <a:solidFill>
                  <a:srgbClr val="3D4644"/>
                </a:solidFill>
                <a:latin typeface="Calibri" pitchFamily="34" charset="0"/>
                <a:ea typeface="Calibri" pitchFamily="34" charset="-122"/>
                <a:cs typeface="Calibri" pitchFamily="34" charset="-120"/>
              </a:rPr>
              <a:t>Every square is one shelf place, with its code written on it. Tap one and you see the pallet standing there, who put it there, and when. The screen updates itself the moment anyone scans.</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2F3F0"/>
        </a:solidFill>
      </p:bgPr>
    </p:bg>
    <p:spTree>
      <p:nvGrpSpPr>
        <p:cNvPr id="1" name=""/>
        <p:cNvGrpSpPr/>
        <p:nvPr/>
      </p:nvGrpSpPr>
      <p:grpSpPr>
        <a:xfrm>
          <a:off x="0" y="0"/>
          <a:ext cx="0" cy="0"/>
          <a:chOff x="0" y="0"/>
          <a:chExt cx="0" cy="0"/>
        </a:xfrm>
      </p:grpSpPr>
      <p:sp>
        <p:nvSpPr>
          <p:cNvPr id="2" name="Text 0"/>
          <p:cNvSpPr/>
          <p:nvPr/>
        </p:nvSpPr>
        <p:spPr>
          <a:xfrm>
            <a:off x="685800" y="502920"/>
            <a:ext cx="10820095" cy="274320"/>
          </a:xfrm>
          <a:prstGeom prst="rect">
            <a:avLst/>
          </a:prstGeom>
          <a:noFill/>
          <a:ln/>
        </p:spPr>
        <p:txBody>
          <a:bodyPr wrap="square" lIns="0" tIns="0" rIns="0" bIns="0" rtlCol="0" anchor="ctr"/>
          <a:lstStyle/>
          <a:p>
            <a:pPr indent="0" marL="0">
              <a:buNone/>
            </a:pPr>
            <a:r>
              <a:rPr lang="en-US" sz="1100" b="1" spc="220" kern="0" dirty="0">
                <a:solidFill>
                  <a:srgbClr val="C9990B"/>
                </a:solidFill>
                <a:latin typeface="Courier New" pitchFamily="34" charset="0"/>
                <a:ea typeface="Courier New" pitchFamily="34" charset="-122"/>
                <a:cs typeface="Courier New" pitchFamily="34" charset="-120"/>
              </a:rPr>
              <a:t>EXAMPLE THREE</a:t>
            </a:r>
            <a:endParaRPr lang="en-US" sz="1100" dirty="0"/>
          </a:p>
        </p:txBody>
      </p:sp>
      <p:sp>
        <p:nvSpPr>
          <p:cNvPr id="3" name="Text 1"/>
          <p:cNvSpPr/>
          <p:nvPr/>
        </p:nvSpPr>
        <p:spPr>
          <a:xfrm>
            <a:off x="685800" y="914400"/>
            <a:ext cx="10820095" cy="1051560"/>
          </a:xfrm>
          <a:prstGeom prst="rect">
            <a:avLst/>
          </a:prstGeom>
          <a:noFill/>
          <a:ln/>
        </p:spPr>
        <p:txBody>
          <a:bodyPr wrap="square" lIns="0" tIns="0" rIns="0" bIns="0" rtlCol="0" anchor="t"/>
          <a:lstStyle/>
          <a:p>
            <a:pPr indent="0" marL="0">
              <a:lnSpc>
                <a:spcPts val="4256"/>
              </a:lnSpc>
              <a:buNone/>
            </a:pPr>
            <a:r>
              <a:rPr lang="en-US" sz="3800" b="1" dirty="0">
                <a:solidFill>
                  <a:srgbClr val="101314"/>
                </a:solidFill>
                <a:latin typeface="Cambria" pitchFamily="34" charset="0"/>
                <a:ea typeface="Cambria" pitchFamily="34" charset="-122"/>
                <a:cs typeface="Cambria" pitchFamily="34" charset="-120"/>
              </a:rPr>
              <a:t>Production needs the jars.</a:t>
            </a:r>
            <a:endParaRPr lang="en-US" sz="3800" dirty="0"/>
          </a:p>
        </p:txBody>
      </p:sp>
      <p:sp>
        <p:nvSpPr>
          <p:cNvPr id="4" name="Text 2"/>
          <p:cNvSpPr/>
          <p:nvPr/>
        </p:nvSpPr>
        <p:spPr>
          <a:xfrm>
            <a:off x="685800" y="2194560"/>
            <a:ext cx="4846320" cy="1188720"/>
          </a:xfrm>
          <a:prstGeom prst="rect">
            <a:avLst/>
          </a:prstGeom>
          <a:noFill/>
          <a:ln/>
        </p:spPr>
        <p:txBody>
          <a:bodyPr wrap="square" lIns="0" tIns="0" rIns="0" bIns="0" rtlCol="0" anchor="t"/>
          <a:lstStyle/>
          <a:p>
            <a:pPr algn="l" indent="0" marL="0">
              <a:lnSpc>
                <a:spcPts val="2250"/>
              </a:lnSpc>
              <a:buNone/>
            </a:pPr>
            <a:r>
              <a:rPr lang="en-US" sz="1500" dirty="0">
                <a:solidFill>
                  <a:srgbClr val="3D4644"/>
                </a:solidFill>
                <a:latin typeface="Calibri" pitchFamily="34" charset="0"/>
                <a:ea typeface="Calibri" pitchFamily="34" charset="-122"/>
                <a:cs typeface="Calibri" pitchFamily="34" charset="-120"/>
              </a:rPr>
              <a:t>Anna scans the shelf, scans the pallet, taps Take. The square turns green again and is offered to the next pallet that needs a home.</a:t>
            </a:r>
            <a:endParaRPr lang="en-US" sz="1500" dirty="0"/>
          </a:p>
        </p:txBody>
      </p:sp>
      <p:sp>
        <p:nvSpPr>
          <p:cNvPr id="5" name="Text 3"/>
          <p:cNvSpPr/>
          <p:nvPr/>
        </p:nvSpPr>
        <p:spPr>
          <a:xfrm>
            <a:off x="685800" y="3520440"/>
            <a:ext cx="4846320" cy="1280160"/>
          </a:xfrm>
          <a:prstGeom prst="rect">
            <a:avLst/>
          </a:prstGeom>
          <a:noFill/>
          <a:ln/>
        </p:spPr>
        <p:txBody>
          <a:bodyPr wrap="square" lIns="0" tIns="0" rIns="0" bIns="0" rtlCol="0" anchor="t"/>
          <a:lstStyle/>
          <a:p>
            <a:pPr algn="l" indent="0" marL="0">
              <a:lnSpc>
                <a:spcPts val="2250"/>
              </a:lnSpc>
              <a:buNone/>
            </a:pPr>
            <a:r>
              <a:rPr lang="en-US" sz="1500" dirty="0">
                <a:solidFill>
                  <a:srgbClr val="3D4644"/>
                </a:solidFill>
                <a:latin typeface="Calibri" pitchFamily="34" charset="0"/>
                <a:ea typeface="Calibri" pitchFamily="34" charset="-122"/>
                <a:cs typeface="Calibri" pitchFamily="34" charset="-120"/>
              </a:rPr>
              <a:t>If she brings it back with 60 jars left, she puts it anywhere that is green and does the same two scans. The system does not mind where — it only wants to know.</a:t>
            </a:r>
            <a:endParaRPr lang="en-US" sz="1500" dirty="0"/>
          </a:p>
        </p:txBody>
      </p:sp>
      <p:sp>
        <p:nvSpPr>
          <p:cNvPr id="6" name="Shape 4"/>
          <p:cNvSpPr/>
          <p:nvPr/>
        </p:nvSpPr>
        <p:spPr>
          <a:xfrm>
            <a:off x="6309360" y="1828800"/>
            <a:ext cx="5212080" cy="960120"/>
          </a:xfrm>
          <a:prstGeom prst="roundRect">
            <a:avLst>
              <a:gd name="adj" fmla="val 5714"/>
            </a:avLst>
          </a:prstGeom>
          <a:solidFill>
            <a:srgbClr val="FFFFFF"/>
          </a:solidFill>
          <a:ln w="12700">
            <a:solidFill>
              <a:srgbClr val="D3D7D0"/>
            </a:solidFill>
            <a:prstDash val="solid"/>
          </a:ln>
          <a:effectLst>
            <a:outerShdw sx="100000" sy="100000" kx="0" ky="0" algn="bl" rotWithShape="0" blurRad="177800" dist="38100" dir="5400000">
              <a:srgbClr val="101314">
                <a:alpha val="10000"/>
              </a:srgbClr>
            </a:outerShdw>
          </a:effectLst>
        </p:spPr>
      </p:sp>
      <p:sp>
        <p:nvSpPr>
          <p:cNvPr id="7" name="Text 5"/>
          <p:cNvSpPr/>
          <p:nvPr/>
        </p:nvSpPr>
        <p:spPr>
          <a:xfrm>
            <a:off x="6583680" y="1975104"/>
            <a:ext cx="1188720" cy="274320"/>
          </a:xfrm>
          <a:prstGeom prst="rect">
            <a:avLst/>
          </a:prstGeom>
          <a:noFill/>
          <a:ln/>
        </p:spPr>
        <p:txBody>
          <a:bodyPr wrap="square" lIns="0" tIns="0" rIns="0" bIns="0" rtlCol="0" anchor="ctr"/>
          <a:lstStyle/>
          <a:p>
            <a:pPr indent="0" marL="0">
              <a:buNone/>
            </a:pPr>
            <a:r>
              <a:rPr lang="en-US" sz="1150" b="1" spc="140" kern="0" dirty="0">
                <a:solidFill>
                  <a:srgbClr val="C9990B"/>
                </a:solidFill>
                <a:latin typeface="Courier New" pitchFamily="34" charset="0"/>
                <a:ea typeface="Courier New" pitchFamily="34" charset="-122"/>
                <a:cs typeface="Courier New" pitchFamily="34" charset="-120"/>
              </a:rPr>
              <a:t>09:41</a:t>
            </a:r>
            <a:endParaRPr lang="en-US" sz="1150" dirty="0"/>
          </a:p>
        </p:txBody>
      </p:sp>
      <p:sp>
        <p:nvSpPr>
          <p:cNvPr id="8" name="Text 6"/>
          <p:cNvSpPr/>
          <p:nvPr/>
        </p:nvSpPr>
        <p:spPr>
          <a:xfrm>
            <a:off x="6583680" y="2231136"/>
            <a:ext cx="4663440" cy="274320"/>
          </a:xfrm>
          <a:prstGeom prst="rect">
            <a:avLst/>
          </a:prstGeom>
          <a:noFill/>
          <a:ln/>
        </p:spPr>
        <p:txBody>
          <a:bodyPr wrap="square" lIns="0" tIns="0" rIns="0" bIns="0" rtlCol="0" anchor="ctr"/>
          <a:lstStyle/>
          <a:p>
            <a:pPr indent="0" marL="0">
              <a:buNone/>
            </a:pPr>
            <a:r>
              <a:rPr lang="en-US" sz="1500" b="1" dirty="0">
                <a:solidFill>
                  <a:srgbClr val="101314"/>
                </a:solidFill>
                <a:latin typeface="Cambria" pitchFamily="34" charset="0"/>
                <a:ea typeface="Cambria" pitchFamily="34" charset="-122"/>
                <a:cs typeface="Cambria" pitchFamily="34" charset="-120"/>
              </a:rPr>
              <a:t>Scan shelf + pallet → Take</a:t>
            </a:r>
            <a:endParaRPr lang="en-US" sz="1500" dirty="0"/>
          </a:p>
        </p:txBody>
      </p:sp>
      <p:sp>
        <p:nvSpPr>
          <p:cNvPr id="9" name="Text 7"/>
          <p:cNvSpPr/>
          <p:nvPr/>
        </p:nvSpPr>
        <p:spPr>
          <a:xfrm>
            <a:off x="6583680" y="2487168"/>
            <a:ext cx="4663440" cy="256032"/>
          </a:xfrm>
          <a:prstGeom prst="rect">
            <a:avLst/>
          </a:prstGeom>
          <a:noFill/>
          <a:ln/>
        </p:spPr>
        <p:txBody>
          <a:bodyPr wrap="square" lIns="0" tIns="0" rIns="0" bIns="0" rtlCol="0" anchor="t"/>
          <a:lstStyle/>
          <a:p>
            <a:pPr algn="l" indent="0" marL="0">
              <a:lnSpc>
                <a:spcPts val="1875"/>
              </a:lnSpc>
              <a:buNone/>
            </a:pPr>
            <a:r>
              <a:rPr lang="en-US" sz="1250" dirty="0">
                <a:solidFill>
                  <a:srgbClr val="3D4644"/>
                </a:solidFill>
                <a:latin typeface="Calibri" pitchFamily="34" charset="0"/>
                <a:ea typeface="Calibri" pitchFamily="34" charset="-122"/>
                <a:cs typeface="Calibri" pitchFamily="34" charset="-120"/>
              </a:rPr>
              <a:t>A-01-3 turns green. The pallet is “in Anna's hands”, not lost.</a:t>
            </a:r>
            <a:endParaRPr lang="en-US" sz="1250" dirty="0"/>
          </a:p>
        </p:txBody>
      </p:sp>
      <p:sp>
        <p:nvSpPr>
          <p:cNvPr id="10" name="Shape 8"/>
          <p:cNvSpPr/>
          <p:nvPr/>
        </p:nvSpPr>
        <p:spPr>
          <a:xfrm>
            <a:off x="6309360" y="2971800"/>
            <a:ext cx="5212080" cy="960120"/>
          </a:xfrm>
          <a:prstGeom prst="roundRect">
            <a:avLst>
              <a:gd name="adj" fmla="val 5714"/>
            </a:avLst>
          </a:prstGeom>
          <a:solidFill>
            <a:srgbClr val="FFFFFF"/>
          </a:solidFill>
          <a:ln w="12700">
            <a:solidFill>
              <a:srgbClr val="D3D7D0"/>
            </a:solidFill>
            <a:prstDash val="solid"/>
          </a:ln>
          <a:effectLst>
            <a:outerShdw sx="100000" sy="100000" kx="0" ky="0" algn="bl" rotWithShape="0" blurRad="177800" dist="38100" dir="5400000">
              <a:srgbClr val="101314">
                <a:alpha val="10000"/>
              </a:srgbClr>
            </a:outerShdw>
          </a:effectLst>
        </p:spPr>
      </p:sp>
      <p:sp>
        <p:nvSpPr>
          <p:cNvPr id="11" name="Text 9"/>
          <p:cNvSpPr/>
          <p:nvPr/>
        </p:nvSpPr>
        <p:spPr>
          <a:xfrm>
            <a:off x="6583680" y="3118104"/>
            <a:ext cx="1188720" cy="274320"/>
          </a:xfrm>
          <a:prstGeom prst="rect">
            <a:avLst/>
          </a:prstGeom>
          <a:noFill/>
          <a:ln/>
        </p:spPr>
        <p:txBody>
          <a:bodyPr wrap="square" lIns="0" tIns="0" rIns="0" bIns="0" rtlCol="0" anchor="ctr"/>
          <a:lstStyle/>
          <a:p>
            <a:pPr indent="0" marL="0">
              <a:buNone/>
            </a:pPr>
            <a:r>
              <a:rPr lang="en-US" sz="1150" b="1" spc="140" kern="0" dirty="0">
                <a:solidFill>
                  <a:srgbClr val="C9990B"/>
                </a:solidFill>
                <a:latin typeface="Courier New" pitchFamily="34" charset="0"/>
                <a:ea typeface="Courier New" pitchFamily="34" charset="-122"/>
                <a:cs typeface="Courier New" pitchFamily="34" charset="-120"/>
              </a:rPr>
              <a:t>13:20</a:t>
            </a:r>
            <a:endParaRPr lang="en-US" sz="1150" dirty="0"/>
          </a:p>
        </p:txBody>
      </p:sp>
      <p:sp>
        <p:nvSpPr>
          <p:cNvPr id="12" name="Text 10"/>
          <p:cNvSpPr/>
          <p:nvPr/>
        </p:nvSpPr>
        <p:spPr>
          <a:xfrm>
            <a:off x="6583680" y="3374136"/>
            <a:ext cx="4663440" cy="274320"/>
          </a:xfrm>
          <a:prstGeom prst="rect">
            <a:avLst/>
          </a:prstGeom>
          <a:noFill/>
          <a:ln/>
        </p:spPr>
        <p:txBody>
          <a:bodyPr wrap="square" lIns="0" tIns="0" rIns="0" bIns="0" rtlCol="0" anchor="ctr"/>
          <a:lstStyle/>
          <a:p>
            <a:pPr indent="0" marL="0">
              <a:buNone/>
            </a:pPr>
            <a:r>
              <a:rPr lang="en-US" sz="1500" b="1" dirty="0">
                <a:solidFill>
                  <a:srgbClr val="101314"/>
                </a:solidFill>
                <a:latin typeface="Cambria" pitchFamily="34" charset="0"/>
                <a:ea typeface="Cambria" pitchFamily="34" charset="-122"/>
                <a:cs typeface="Cambria" pitchFamily="34" charset="-120"/>
              </a:rPr>
              <a:t>Back with 60 jars left</a:t>
            </a:r>
            <a:endParaRPr lang="en-US" sz="1500" dirty="0"/>
          </a:p>
        </p:txBody>
      </p:sp>
      <p:sp>
        <p:nvSpPr>
          <p:cNvPr id="13" name="Text 11"/>
          <p:cNvSpPr/>
          <p:nvPr/>
        </p:nvSpPr>
        <p:spPr>
          <a:xfrm>
            <a:off x="6583680" y="3630168"/>
            <a:ext cx="4663440" cy="256032"/>
          </a:xfrm>
          <a:prstGeom prst="rect">
            <a:avLst/>
          </a:prstGeom>
          <a:noFill/>
          <a:ln/>
        </p:spPr>
        <p:txBody>
          <a:bodyPr wrap="square" lIns="0" tIns="0" rIns="0" bIns="0" rtlCol="0" anchor="t"/>
          <a:lstStyle/>
          <a:p>
            <a:pPr algn="l" indent="0" marL="0">
              <a:lnSpc>
                <a:spcPts val="1875"/>
              </a:lnSpc>
              <a:buNone/>
            </a:pPr>
            <a:r>
              <a:rPr lang="en-US" sz="1250" dirty="0">
                <a:solidFill>
                  <a:srgbClr val="3D4644"/>
                </a:solidFill>
                <a:latin typeface="Calibri" pitchFamily="34" charset="0"/>
                <a:ea typeface="Calibri" pitchFamily="34" charset="-122"/>
                <a:cs typeface="Calibri" pitchFamily="34" charset="-120"/>
              </a:rPr>
              <a:t>She scans B-02-1 and the pallet. B-02-1 turns red.</a:t>
            </a:r>
            <a:endParaRPr lang="en-US" sz="1250" dirty="0"/>
          </a:p>
        </p:txBody>
      </p:sp>
      <p:sp>
        <p:nvSpPr>
          <p:cNvPr id="14" name="Shape 12"/>
          <p:cNvSpPr/>
          <p:nvPr/>
        </p:nvSpPr>
        <p:spPr>
          <a:xfrm>
            <a:off x="6309360" y="4114800"/>
            <a:ext cx="5212080" cy="960120"/>
          </a:xfrm>
          <a:prstGeom prst="roundRect">
            <a:avLst>
              <a:gd name="adj" fmla="val 5714"/>
            </a:avLst>
          </a:prstGeom>
          <a:solidFill>
            <a:srgbClr val="FFFFFF"/>
          </a:solidFill>
          <a:ln w="12700">
            <a:solidFill>
              <a:srgbClr val="D3D7D0"/>
            </a:solidFill>
            <a:prstDash val="solid"/>
          </a:ln>
          <a:effectLst>
            <a:outerShdw sx="100000" sy="100000" kx="0" ky="0" algn="bl" rotWithShape="0" blurRad="177800" dist="38100" dir="5400000">
              <a:srgbClr val="101314">
                <a:alpha val="10000"/>
              </a:srgbClr>
            </a:outerShdw>
          </a:effectLst>
        </p:spPr>
      </p:sp>
      <p:sp>
        <p:nvSpPr>
          <p:cNvPr id="15" name="Text 13"/>
          <p:cNvSpPr/>
          <p:nvPr/>
        </p:nvSpPr>
        <p:spPr>
          <a:xfrm>
            <a:off x="6583680" y="4261104"/>
            <a:ext cx="1188720" cy="274320"/>
          </a:xfrm>
          <a:prstGeom prst="rect">
            <a:avLst/>
          </a:prstGeom>
          <a:noFill/>
          <a:ln/>
        </p:spPr>
        <p:txBody>
          <a:bodyPr wrap="square" lIns="0" tIns="0" rIns="0" bIns="0" rtlCol="0" anchor="ctr"/>
          <a:lstStyle/>
          <a:p>
            <a:pPr indent="0" marL="0">
              <a:buNone/>
            </a:pPr>
            <a:r>
              <a:rPr lang="en-US" sz="1150" b="1" spc="140" kern="0" dirty="0">
                <a:solidFill>
                  <a:srgbClr val="C9990B"/>
                </a:solidFill>
                <a:latin typeface="Courier New" pitchFamily="34" charset="0"/>
                <a:ea typeface="Courier New" pitchFamily="34" charset="-122"/>
                <a:cs typeface="Courier New" pitchFamily="34" charset="-120"/>
              </a:rPr>
              <a:t>FRIDAY</a:t>
            </a:r>
            <a:endParaRPr lang="en-US" sz="1150" dirty="0"/>
          </a:p>
        </p:txBody>
      </p:sp>
      <p:sp>
        <p:nvSpPr>
          <p:cNvPr id="16" name="Text 14"/>
          <p:cNvSpPr/>
          <p:nvPr/>
        </p:nvSpPr>
        <p:spPr>
          <a:xfrm>
            <a:off x="6583680" y="4517136"/>
            <a:ext cx="4663440" cy="274320"/>
          </a:xfrm>
          <a:prstGeom prst="rect">
            <a:avLst/>
          </a:prstGeom>
          <a:noFill/>
          <a:ln/>
        </p:spPr>
        <p:txBody>
          <a:bodyPr wrap="square" lIns="0" tIns="0" rIns="0" bIns="0" rtlCol="0" anchor="ctr"/>
          <a:lstStyle/>
          <a:p>
            <a:pPr indent="0" marL="0">
              <a:buNone/>
            </a:pPr>
            <a:r>
              <a:rPr lang="en-US" sz="1500" b="1" dirty="0">
                <a:solidFill>
                  <a:srgbClr val="101314"/>
                </a:solidFill>
                <a:latin typeface="Cambria" pitchFamily="34" charset="0"/>
                <a:ea typeface="Cambria" pitchFamily="34" charset="-122"/>
                <a:cs typeface="Cambria" pitchFamily="34" charset="-120"/>
              </a:rPr>
              <a:t>Last jars used → Close</a:t>
            </a:r>
            <a:endParaRPr lang="en-US" sz="1500" dirty="0"/>
          </a:p>
        </p:txBody>
      </p:sp>
      <p:sp>
        <p:nvSpPr>
          <p:cNvPr id="17" name="Text 15"/>
          <p:cNvSpPr/>
          <p:nvPr/>
        </p:nvSpPr>
        <p:spPr>
          <a:xfrm>
            <a:off x="6583680" y="4773168"/>
            <a:ext cx="4663440" cy="256032"/>
          </a:xfrm>
          <a:prstGeom prst="rect">
            <a:avLst/>
          </a:prstGeom>
          <a:noFill/>
          <a:ln/>
        </p:spPr>
        <p:txBody>
          <a:bodyPr wrap="square" lIns="0" tIns="0" rIns="0" bIns="0" rtlCol="0" anchor="t"/>
          <a:lstStyle/>
          <a:p>
            <a:pPr algn="l" indent="0" marL="0">
              <a:lnSpc>
                <a:spcPts val="1875"/>
              </a:lnSpc>
              <a:buNone/>
            </a:pPr>
            <a:r>
              <a:rPr lang="en-US" sz="1250" dirty="0">
                <a:solidFill>
                  <a:srgbClr val="3D4644"/>
                </a:solidFill>
                <a:latin typeface="Calibri" pitchFamily="34" charset="0"/>
                <a:ea typeface="Calibri" pitchFamily="34" charset="-122"/>
                <a:cs typeface="Calibri" pitchFamily="34" charset="-120"/>
              </a:rPr>
              <a:t>The shelf turns green, the label goes in the bin.</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2F3F0"/>
        </a:solidFill>
      </p:bgPr>
    </p:bg>
    <p:spTree>
      <p:nvGrpSpPr>
        <p:cNvPr id="1" name=""/>
        <p:cNvGrpSpPr/>
        <p:nvPr/>
      </p:nvGrpSpPr>
      <p:grpSpPr>
        <a:xfrm>
          <a:off x="0" y="0"/>
          <a:ext cx="0" cy="0"/>
          <a:chOff x="0" y="0"/>
          <a:chExt cx="0" cy="0"/>
        </a:xfrm>
      </p:grpSpPr>
      <p:sp>
        <p:nvSpPr>
          <p:cNvPr id="2" name="Text 0"/>
          <p:cNvSpPr/>
          <p:nvPr/>
        </p:nvSpPr>
        <p:spPr>
          <a:xfrm>
            <a:off x="685800" y="502920"/>
            <a:ext cx="10820095" cy="274320"/>
          </a:xfrm>
          <a:prstGeom prst="rect">
            <a:avLst/>
          </a:prstGeom>
          <a:noFill/>
          <a:ln/>
        </p:spPr>
        <p:txBody>
          <a:bodyPr wrap="square" lIns="0" tIns="0" rIns="0" bIns="0" rtlCol="0" anchor="ctr"/>
          <a:lstStyle/>
          <a:p>
            <a:pPr indent="0" marL="0">
              <a:buNone/>
            </a:pPr>
            <a:r>
              <a:rPr lang="en-US" sz="1100" b="1" spc="220" kern="0" dirty="0">
                <a:solidFill>
                  <a:srgbClr val="C9990B"/>
                </a:solidFill>
                <a:latin typeface="Courier New" pitchFamily="34" charset="0"/>
                <a:ea typeface="Courier New" pitchFamily="34" charset="-122"/>
                <a:cs typeface="Courier New" pitchFamily="34" charset="-120"/>
              </a:rPr>
              <a:t>EXAMPLE FOUR</a:t>
            </a:r>
            <a:endParaRPr lang="en-US" sz="1100" dirty="0"/>
          </a:p>
        </p:txBody>
      </p:sp>
      <p:sp>
        <p:nvSpPr>
          <p:cNvPr id="3" name="Text 1"/>
          <p:cNvSpPr/>
          <p:nvPr/>
        </p:nvSpPr>
        <p:spPr>
          <a:xfrm>
            <a:off x="685800" y="914400"/>
            <a:ext cx="5669280" cy="1188720"/>
          </a:xfrm>
          <a:prstGeom prst="rect">
            <a:avLst/>
          </a:prstGeom>
          <a:noFill/>
          <a:ln/>
        </p:spPr>
        <p:txBody>
          <a:bodyPr wrap="square" lIns="0" tIns="0" rIns="0" bIns="0" rtlCol="0" anchor="t"/>
          <a:lstStyle/>
          <a:p>
            <a:pPr indent="0" marL="0">
              <a:lnSpc>
                <a:spcPts val="4032"/>
              </a:lnSpc>
              <a:buNone/>
            </a:pPr>
            <a:r>
              <a:rPr lang="en-US" sz="3600" b="1" dirty="0">
                <a:solidFill>
                  <a:srgbClr val="101314"/>
                </a:solidFill>
                <a:latin typeface="Cambria" pitchFamily="34" charset="0"/>
                <a:ea typeface="Cambria" pitchFamily="34" charset="-122"/>
                <a:cs typeface="Cambria" pitchFamily="34" charset="-120"/>
              </a:rPr>
              <a:t>“Where are the amber</a:t>
            </a:r>
            <a:endParaRPr lang="en-US" sz="3600" dirty="0"/>
          </a:p>
          <a:p>
            <a:pPr indent="0" marL="0">
              <a:lnSpc>
                <a:spcPts val="4032"/>
              </a:lnSpc>
              <a:buNone/>
            </a:pPr>
            <a:r>
              <a:rPr lang="en-US" sz="3600" b="1" dirty="0">
                <a:solidFill>
                  <a:srgbClr val="101314"/>
                </a:solidFill>
                <a:latin typeface="Cambria" pitchFamily="34" charset="0"/>
                <a:ea typeface="Cambria" pitchFamily="34" charset="-122"/>
                <a:cs typeface="Cambria" pitchFamily="34" charset="-120"/>
              </a:rPr>
              <a:t>jars?”</a:t>
            </a:r>
            <a:endParaRPr lang="en-US" sz="3600" dirty="0"/>
          </a:p>
        </p:txBody>
      </p:sp>
      <p:sp>
        <p:nvSpPr>
          <p:cNvPr id="4" name="Text 2"/>
          <p:cNvSpPr/>
          <p:nvPr/>
        </p:nvSpPr>
        <p:spPr>
          <a:xfrm>
            <a:off x="685800" y="2331720"/>
            <a:ext cx="4937760" cy="1188720"/>
          </a:xfrm>
          <a:prstGeom prst="rect">
            <a:avLst/>
          </a:prstGeom>
          <a:noFill/>
          <a:ln/>
        </p:spPr>
        <p:txBody>
          <a:bodyPr wrap="square" lIns="0" tIns="0" rIns="0" bIns="0" rtlCol="0" anchor="t"/>
          <a:lstStyle/>
          <a:p>
            <a:pPr algn="l" indent="0" marL="0">
              <a:lnSpc>
                <a:spcPts val="2250"/>
              </a:lnSpc>
              <a:buNone/>
            </a:pPr>
            <a:r>
              <a:rPr lang="en-US" sz="1500" dirty="0">
                <a:solidFill>
                  <a:srgbClr val="3D4644"/>
                </a:solidFill>
                <a:latin typeface="Calibri" pitchFamily="34" charset="0"/>
                <a:ea typeface="Calibri" pitchFamily="34" charset="-122"/>
                <a:cs typeface="Calibri" pitchFamily="34" charset="-120"/>
              </a:rPr>
              <a:t>Type the name or the number. Every place holding it appears, oldest pallet first — so the right one to take is always at the top of the list.</a:t>
            </a:r>
            <a:endParaRPr lang="en-US" sz="1500" dirty="0"/>
          </a:p>
        </p:txBody>
      </p:sp>
      <p:sp>
        <p:nvSpPr>
          <p:cNvPr id="5" name="Text 3"/>
          <p:cNvSpPr/>
          <p:nvPr/>
        </p:nvSpPr>
        <p:spPr>
          <a:xfrm>
            <a:off x="685800" y="3566160"/>
            <a:ext cx="4937760" cy="914400"/>
          </a:xfrm>
          <a:prstGeom prst="rect">
            <a:avLst/>
          </a:prstGeom>
          <a:noFill/>
          <a:ln/>
        </p:spPr>
        <p:txBody>
          <a:bodyPr wrap="square" lIns="0" tIns="0" rIns="0" bIns="0" rtlCol="0" anchor="t"/>
          <a:lstStyle/>
          <a:p>
            <a:pPr algn="l" indent="0" marL="0">
              <a:lnSpc>
                <a:spcPts val="2250"/>
              </a:lnSpc>
              <a:buNone/>
            </a:pPr>
            <a:r>
              <a:rPr lang="en-US" sz="1500" b="1" dirty="0">
                <a:solidFill>
                  <a:srgbClr val="101314"/>
                </a:solidFill>
                <a:latin typeface="Calibri" pitchFamily="34" charset="0"/>
                <a:ea typeface="Calibri" pitchFamily="34" charset="-122"/>
                <a:cs typeface="Calibri" pitchFamily="34" charset="-120"/>
              </a:rPr>
              <a:t>This is the change people notice in the first week. Twenty minutes of walking becomes three seconds of typing.</a:t>
            </a:r>
            <a:endParaRPr lang="en-US" sz="1500" dirty="0"/>
          </a:p>
        </p:txBody>
      </p:sp>
      <p:sp>
        <p:nvSpPr>
          <p:cNvPr id="6" name="Shape 4"/>
          <p:cNvSpPr/>
          <p:nvPr/>
        </p:nvSpPr>
        <p:spPr>
          <a:xfrm>
            <a:off x="6309360" y="1828800"/>
            <a:ext cx="5212080" cy="502920"/>
          </a:xfrm>
          <a:prstGeom prst="roundRect">
            <a:avLst>
              <a:gd name="adj" fmla="val 49091"/>
            </a:avLst>
          </a:prstGeom>
          <a:solidFill>
            <a:srgbClr val="E7E9E4"/>
          </a:solidFill>
          <a:ln w="12700">
            <a:solidFill>
              <a:srgbClr val="D3D7D0"/>
            </a:solidFill>
            <a:prstDash val="solid"/>
          </a:ln>
        </p:spPr>
      </p:sp>
      <p:sp>
        <p:nvSpPr>
          <p:cNvPr id="7" name="Text 5"/>
          <p:cNvSpPr/>
          <p:nvPr/>
        </p:nvSpPr>
        <p:spPr>
          <a:xfrm>
            <a:off x="6675120" y="1828800"/>
            <a:ext cx="4572000" cy="502920"/>
          </a:xfrm>
          <a:prstGeom prst="rect">
            <a:avLst/>
          </a:prstGeom>
          <a:noFill/>
          <a:ln/>
        </p:spPr>
        <p:txBody>
          <a:bodyPr wrap="square" lIns="0" tIns="0" rIns="0" bIns="0" rtlCol="0" anchor="ctr"/>
          <a:lstStyle/>
          <a:p>
            <a:pPr indent="0" marL="0">
              <a:buNone/>
            </a:pPr>
            <a:r>
              <a:rPr lang="en-US" sz="1500" dirty="0">
                <a:solidFill>
                  <a:srgbClr val="3D4644"/>
                </a:solidFill>
                <a:latin typeface="Courier New" pitchFamily="34" charset="0"/>
                <a:ea typeface="Courier New" pitchFamily="34" charset="-122"/>
                <a:cs typeface="Courier New" pitchFamily="34" charset="-120"/>
              </a:rPr>
              <a:t>amber jar</a:t>
            </a:r>
            <a:endParaRPr lang="en-US" sz="1500" dirty="0"/>
          </a:p>
        </p:txBody>
      </p:sp>
      <p:sp>
        <p:nvSpPr>
          <p:cNvPr id="8" name="Shape 6"/>
          <p:cNvSpPr/>
          <p:nvPr/>
        </p:nvSpPr>
        <p:spPr>
          <a:xfrm>
            <a:off x="6309360" y="2514600"/>
            <a:ext cx="5212080" cy="1965960"/>
          </a:xfrm>
          <a:prstGeom prst="roundRect">
            <a:avLst>
              <a:gd name="adj" fmla="val 2791"/>
            </a:avLst>
          </a:prstGeom>
          <a:solidFill>
            <a:srgbClr val="FFFFFF"/>
          </a:solidFill>
          <a:ln w="12700">
            <a:solidFill>
              <a:srgbClr val="D3D7D0"/>
            </a:solidFill>
            <a:prstDash val="solid"/>
          </a:ln>
          <a:effectLst>
            <a:outerShdw sx="100000" sy="100000" kx="0" ky="0" algn="bl" rotWithShape="0" blurRad="177800" dist="38100" dir="5400000">
              <a:srgbClr val="101314">
                <a:alpha val="10000"/>
              </a:srgbClr>
            </a:outerShdw>
          </a:effectLst>
        </p:spPr>
      </p:sp>
      <p:sp>
        <p:nvSpPr>
          <p:cNvPr id="9" name="Text 7"/>
          <p:cNvSpPr/>
          <p:nvPr/>
        </p:nvSpPr>
        <p:spPr>
          <a:xfrm>
            <a:off x="6583680" y="2697480"/>
            <a:ext cx="2743200" cy="411480"/>
          </a:xfrm>
          <a:prstGeom prst="rect">
            <a:avLst/>
          </a:prstGeom>
          <a:noFill/>
          <a:ln/>
        </p:spPr>
        <p:txBody>
          <a:bodyPr wrap="square" lIns="0" tIns="0" rIns="0" bIns="0" rtlCol="0" anchor="ctr"/>
          <a:lstStyle/>
          <a:p>
            <a:pPr indent="0" marL="0">
              <a:buNone/>
            </a:pPr>
            <a:r>
              <a:rPr lang="en-US" sz="1400" dirty="0">
                <a:solidFill>
                  <a:srgbClr val="101314"/>
                </a:solidFill>
                <a:latin typeface="Courier New" pitchFamily="34" charset="0"/>
                <a:ea typeface="Courier New" pitchFamily="34" charset="-122"/>
                <a:cs typeface="Courier New" pitchFamily="34" charset="-120"/>
              </a:rPr>
              <a:t>14250-004  ·  A-01-3</a:t>
            </a:r>
            <a:endParaRPr lang="en-US" sz="1400" dirty="0"/>
          </a:p>
        </p:txBody>
      </p:sp>
      <p:sp>
        <p:nvSpPr>
          <p:cNvPr id="10" name="Text 8"/>
          <p:cNvSpPr/>
          <p:nvPr/>
        </p:nvSpPr>
        <p:spPr>
          <a:xfrm>
            <a:off x="9418320" y="2697480"/>
            <a:ext cx="1828800" cy="411480"/>
          </a:xfrm>
          <a:prstGeom prst="rect">
            <a:avLst/>
          </a:prstGeom>
          <a:noFill/>
          <a:ln/>
        </p:spPr>
        <p:txBody>
          <a:bodyPr wrap="square" lIns="0" tIns="0" rIns="0" bIns="0" rtlCol="0" anchor="ctr"/>
          <a:lstStyle/>
          <a:p>
            <a:pPr algn="r" indent="0" marL="0">
              <a:buNone/>
            </a:pPr>
            <a:r>
              <a:rPr lang="en-US" sz="1200" b="1" dirty="0">
                <a:solidFill>
                  <a:srgbClr val="C9990B"/>
                </a:solidFill>
                <a:latin typeface="Calibri" pitchFamily="34" charset="0"/>
                <a:ea typeface="Calibri" pitchFamily="34" charset="-122"/>
                <a:cs typeface="Calibri" pitchFamily="34" charset="-120"/>
              </a:rPr>
              <a:t>oldest — take this</a:t>
            </a:r>
            <a:endParaRPr lang="en-US" sz="1200" dirty="0"/>
          </a:p>
        </p:txBody>
      </p:sp>
      <p:sp>
        <p:nvSpPr>
          <p:cNvPr id="11" name="Shape 9"/>
          <p:cNvSpPr/>
          <p:nvPr/>
        </p:nvSpPr>
        <p:spPr>
          <a:xfrm>
            <a:off x="6583680" y="3154680"/>
            <a:ext cx="4663440" cy="0"/>
          </a:xfrm>
          <a:prstGeom prst="line">
            <a:avLst/>
          </a:prstGeom>
          <a:noFill/>
          <a:ln w="12700">
            <a:solidFill>
              <a:srgbClr val="D3D7D0"/>
            </a:solidFill>
            <a:prstDash val="solid"/>
          </a:ln>
        </p:spPr>
      </p:sp>
      <p:sp>
        <p:nvSpPr>
          <p:cNvPr id="12" name="Text 10"/>
          <p:cNvSpPr/>
          <p:nvPr/>
        </p:nvSpPr>
        <p:spPr>
          <a:xfrm>
            <a:off x="6583680" y="3291840"/>
            <a:ext cx="2743200" cy="411480"/>
          </a:xfrm>
          <a:prstGeom prst="rect">
            <a:avLst/>
          </a:prstGeom>
          <a:noFill/>
          <a:ln/>
        </p:spPr>
        <p:txBody>
          <a:bodyPr wrap="square" lIns="0" tIns="0" rIns="0" bIns="0" rtlCol="0" anchor="ctr"/>
          <a:lstStyle/>
          <a:p>
            <a:pPr indent="0" marL="0">
              <a:buNone/>
            </a:pPr>
            <a:r>
              <a:rPr lang="en-US" sz="1400" dirty="0">
                <a:solidFill>
                  <a:srgbClr val="101314"/>
                </a:solidFill>
                <a:latin typeface="Courier New" pitchFamily="34" charset="0"/>
                <a:ea typeface="Courier New" pitchFamily="34" charset="-122"/>
                <a:cs typeface="Courier New" pitchFamily="34" charset="-120"/>
              </a:rPr>
              <a:t>14250-005  ·  B-02-1</a:t>
            </a:r>
            <a:endParaRPr lang="en-US" sz="1400" dirty="0"/>
          </a:p>
        </p:txBody>
      </p:sp>
      <p:sp>
        <p:nvSpPr>
          <p:cNvPr id="13" name="Text 11"/>
          <p:cNvSpPr/>
          <p:nvPr/>
        </p:nvSpPr>
        <p:spPr>
          <a:xfrm>
            <a:off x="9418320" y="3291840"/>
            <a:ext cx="1828800" cy="411480"/>
          </a:xfrm>
          <a:prstGeom prst="rect">
            <a:avLst/>
          </a:prstGeom>
          <a:noFill/>
          <a:ln/>
        </p:spPr>
        <p:txBody>
          <a:bodyPr wrap="square" lIns="0" tIns="0" rIns="0" bIns="0" rtlCol="0" anchor="ctr"/>
          <a:lstStyle/>
          <a:p>
            <a:pPr algn="r" indent="0" marL="0">
              <a:buNone/>
            </a:pPr>
            <a:r>
              <a:rPr lang="en-US" sz="1200" dirty="0">
                <a:solidFill>
                  <a:srgbClr val="6D7673"/>
                </a:solidFill>
                <a:latin typeface="Calibri" pitchFamily="34" charset="0"/>
                <a:ea typeface="Calibri" pitchFamily="34" charset="-122"/>
                <a:cs typeface="Calibri" pitchFamily="34" charset="-120"/>
              </a:rPr>
              <a:t>120 pcs</a:t>
            </a:r>
            <a:endParaRPr lang="en-US" sz="1200" dirty="0"/>
          </a:p>
        </p:txBody>
      </p:sp>
      <p:sp>
        <p:nvSpPr>
          <p:cNvPr id="14" name="Shape 12"/>
          <p:cNvSpPr/>
          <p:nvPr/>
        </p:nvSpPr>
        <p:spPr>
          <a:xfrm>
            <a:off x="6583680" y="3749040"/>
            <a:ext cx="4663440" cy="0"/>
          </a:xfrm>
          <a:prstGeom prst="line">
            <a:avLst/>
          </a:prstGeom>
          <a:noFill/>
          <a:ln w="12700">
            <a:solidFill>
              <a:srgbClr val="D3D7D0"/>
            </a:solidFill>
            <a:prstDash val="solid"/>
          </a:ln>
        </p:spPr>
      </p:sp>
      <p:sp>
        <p:nvSpPr>
          <p:cNvPr id="15" name="Text 13"/>
          <p:cNvSpPr/>
          <p:nvPr/>
        </p:nvSpPr>
        <p:spPr>
          <a:xfrm>
            <a:off x="6583680" y="3886200"/>
            <a:ext cx="2743200" cy="411480"/>
          </a:xfrm>
          <a:prstGeom prst="rect">
            <a:avLst/>
          </a:prstGeom>
          <a:noFill/>
          <a:ln/>
        </p:spPr>
        <p:txBody>
          <a:bodyPr wrap="square" lIns="0" tIns="0" rIns="0" bIns="0" rtlCol="0" anchor="ctr"/>
          <a:lstStyle/>
          <a:p>
            <a:pPr indent="0" marL="0">
              <a:buNone/>
            </a:pPr>
            <a:r>
              <a:rPr lang="en-US" sz="1400" dirty="0">
                <a:solidFill>
                  <a:srgbClr val="101314"/>
                </a:solidFill>
                <a:latin typeface="Courier New" pitchFamily="34" charset="0"/>
                <a:ea typeface="Courier New" pitchFamily="34" charset="-122"/>
                <a:cs typeface="Courier New" pitchFamily="34" charset="-120"/>
              </a:rPr>
              <a:t>14250-007  ·  C-03-2</a:t>
            </a:r>
            <a:endParaRPr lang="en-US" sz="1400" dirty="0"/>
          </a:p>
        </p:txBody>
      </p:sp>
      <p:sp>
        <p:nvSpPr>
          <p:cNvPr id="16" name="Text 14"/>
          <p:cNvSpPr/>
          <p:nvPr/>
        </p:nvSpPr>
        <p:spPr>
          <a:xfrm>
            <a:off x="9418320" y="3886200"/>
            <a:ext cx="1828800" cy="411480"/>
          </a:xfrm>
          <a:prstGeom prst="rect">
            <a:avLst/>
          </a:prstGeom>
          <a:noFill/>
          <a:ln/>
        </p:spPr>
        <p:txBody>
          <a:bodyPr wrap="square" lIns="0" tIns="0" rIns="0" bIns="0" rtlCol="0" anchor="ctr"/>
          <a:lstStyle/>
          <a:p>
            <a:pPr algn="r" indent="0" marL="0">
              <a:buNone/>
            </a:pPr>
            <a:r>
              <a:rPr lang="en-US" sz="1200" dirty="0">
                <a:solidFill>
                  <a:srgbClr val="6D7673"/>
                </a:solidFill>
                <a:latin typeface="Calibri" pitchFamily="34" charset="0"/>
                <a:ea typeface="Calibri" pitchFamily="34" charset="-122"/>
                <a:cs typeface="Calibri" pitchFamily="34" charset="-120"/>
              </a:rPr>
              <a:t>120 pcs</a:t>
            </a:r>
            <a:endParaRPr lang="en-US" sz="1200" dirty="0"/>
          </a:p>
        </p:txBody>
      </p:sp>
      <p:sp>
        <p:nvSpPr>
          <p:cNvPr id="17" name="Text 15"/>
          <p:cNvSpPr/>
          <p:nvPr/>
        </p:nvSpPr>
        <p:spPr>
          <a:xfrm>
            <a:off x="6309360" y="4617720"/>
            <a:ext cx="5212080" cy="274320"/>
          </a:xfrm>
          <a:prstGeom prst="rect">
            <a:avLst/>
          </a:prstGeom>
          <a:noFill/>
          <a:ln/>
        </p:spPr>
        <p:txBody>
          <a:bodyPr wrap="square" lIns="0" tIns="0" rIns="0" bIns="0" rtlCol="0" anchor="ctr"/>
          <a:lstStyle/>
          <a:p>
            <a:pPr indent="0" marL="0">
              <a:buNone/>
            </a:pPr>
            <a:r>
              <a:rPr lang="en-US" sz="1300" dirty="0">
                <a:solidFill>
                  <a:srgbClr val="6D7673"/>
                </a:solidFill>
                <a:latin typeface="Calibri" pitchFamily="34" charset="0"/>
                <a:ea typeface="Calibri" pitchFamily="34" charset="-122"/>
                <a:cs typeface="Calibri" pitchFamily="34" charset="-120"/>
              </a:rPr>
              <a:t>Three pallets, three places, one glance.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2F3F0"/>
        </a:solidFill>
      </p:bgPr>
    </p:bg>
    <p:spTree>
      <p:nvGrpSpPr>
        <p:cNvPr id="1" name=""/>
        <p:cNvGrpSpPr/>
        <p:nvPr/>
      </p:nvGrpSpPr>
      <p:grpSpPr>
        <a:xfrm>
          <a:off x="0" y="0"/>
          <a:ext cx="0" cy="0"/>
          <a:chOff x="0" y="0"/>
          <a:chExt cx="0" cy="0"/>
        </a:xfrm>
      </p:grpSpPr>
      <p:sp>
        <p:nvSpPr>
          <p:cNvPr id="2" name="Text 0"/>
          <p:cNvSpPr/>
          <p:nvPr/>
        </p:nvSpPr>
        <p:spPr>
          <a:xfrm>
            <a:off x="685800" y="502920"/>
            <a:ext cx="10820095" cy="274320"/>
          </a:xfrm>
          <a:prstGeom prst="rect">
            <a:avLst/>
          </a:prstGeom>
          <a:noFill/>
          <a:ln/>
        </p:spPr>
        <p:txBody>
          <a:bodyPr wrap="square" lIns="0" tIns="0" rIns="0" bIns="0" rtlCol="0" anchor="ctr"/>
          <a:lstStyle/>
          <a:p>
            <a:pPr indent="0" marL="0">
              <a:buNone/>
            </a:pPr>
            <a:r>
              <a:rPr lang="en-US" sz="1100" b="1" spc="220" kern="0" dirty="0">
                <a:solidFill>
                  <a:srgbClr val="C9990B"/>
                </a:solidFill>
                <a:latin typeface="Courier New" pitchFamily="34" charset="0"/>
                <a:ea typeface="Courier New" pitchFamily="34" charset="-122"/>
                <a:cs typeface="Courier New" pitchFamily="34" charset="-120"/>
              </a:rPr>
              <a:t>THE MEMORY</a:t>
            </a:r>
            <a:endParaRPr lang="en-US" sz="1100" dirty="0"/>
          </a:p>
        </p:txBody>
      </p:sp>
      <p:sp>
        <p:nvSpPr>
          <p:cNvPr id="3" name="Text 1"/>
          <p:cNvSpPr/>
          <p:nvPr/>
        </p:nvSpPr>
        <p:spPr>
          <a:xfrm>
            <a:off x="685800" y="914400"/>
            <a:ext cx="10820095" cy="1463040"/>
          </a:xfrm>
          <a:prstGeom prst="rect">
            <a:avLst/>
          </a:prstGeom>
          <a:noFill/>
          <a:ln/>
        </p:spPr>
        <p:txBody>
          <a:bodyPr wrap="square" lIns="0" tIns="0" rIns="0" bIns="0" rtlCol="0" anchor="t"/>
          <a:lstStyle/>
          <a:p>
            <a:pPr indent="0" marL="0">
              <a:lnSpc>
                <a:spcPts val="3808"/>
              </a:lnSpc>
              <a:buNone/>
            </a:pPr>
            <a:r>
              <a:rPr lang="en-US" sz="3400" b="1" dirty="0">
                <a:solidFill>
                  <a:srgbClr val="101314"/>
                </a:solidFill>
                <a:latin typeface="Cambria" pitchFamily="34" charset="0"/>
                <a:ea typeface="Cambria" pitchFamily="34" charset="-122"/>
                <a:cs typeface="Cambria" pitchFamily="34" charset="-120"/>
              </a:rPr>
              <a:t>Every action is written down.</a:t>
            </a:r>
            <a:endParaRPr lang="en-US" sz="3400" dirty="0"/>
          </a:p>
          <a:p>
            <a:pPr indent="0" marL="0">
              <a:lnSpc>
                <a:spcPts val="3808"/>
              </a:lnSpc>
              <a:buNone/>
            </a:pPr>
            <a:r>
              <a:rPr lang="en-US" sz="3400" b="1" dirty="0">
                <a:solidFill>
                  <a:srgbClr val="101314"/>
                </a:solidFill>
                <a:latin typeface="Cambria" pitchFamily="34" charset="0"/>
                <a:ea typeface="Cambria" pitchFamily="34" charset="-122"/>
                <a:cs typeface="Cambria" pitchFamily="34" charset="-120"/>
              </a:rPr>
              <a:t>Nothing is ever erased.</a:t>
            </a:r>
            <a:endParaRPr lang="en-US" sz="3400" dirty="0"/>
          </a:p>
        </p:txBody>
      </p:sp>
      <p:sp>
        <p:nvSpPr>
          <p:cNvPr id="4" name="Shape 2"/>
          <p:cNvSpPr/>
          <p:nvPr/>
        </p:nvSpPr>
        <p:spPr>
          <a:xfrm>
            <a:off x="685800" y="2788920"/>
            <a:ext cx="10817352" cy="2514600"/>
          </a:xfrm>
          <a:prstGeom prst="roundRect">
            <a:avLst>
              <a:gd name="adj" fmla="val 2182"/>
            </a:avLst>
          </a:prstGeom>
          <a:solidFill>
            <a:srgbClr val="FFFFFF"/>
          </a:solidFill>
          <a:ln w="12700">
            <a:solidFill>
              <a:srgbClr val="D3D7D0"/>
            </a:solidFill>
            <a:prstDash val="solid"/>
          </a:ln>
          <a:effectLst>
            <a:outerShdw sx="100000" sy="100000" kx="0" ky="0" algn="bl" rotWithShape="0" blurRad="177800" dist="38100" dir="5400000">
              <a:srgbClr val="101314">
                <a:alpha val="10000"/>
              </a:srgbClr>
            </a:outerShdw>
          </a:effectLst>
        </p:spPr>
      </p:sp>
      <p:sp>
        <p:nvSpPr>
          <p:cNvPr id="5" name="Shape 3"/>
          <p:cNvSpPr/>
          <p:nvPr/>
        </p:nvSpPr>
        <p:spPr>
          <a:xfrm>
            <a:off x="694944" y="2798064"/>
            <a:ext cx="10799064" cy="457200"/>
          </a:xfrm>
          <a:prstGeom prst="rect">
            <a:avLst/>
          </a:prstGeom>
          <a:solidFill>
            <a:srgbClr val="E7E9E4"/>
          </a:solidFill>
          <a:ln w="12700">
            <a:solidFill>
              <a:srgbClr val="E7E9E4"/>
            </a:solidFill>
            <a:prstDash val="solid"/>
          </a:ln>
        </p:spPr>
      </p:sp>
      <p:sp>
        <p:nvSpPr>
          <p:cNvPr id="6" name="Text 4"/>
          <p:cNvSpPr/>
          <p:nvPr/>
        </p:nvSpPr>
        <p:spPr>
          <a:xfrm>
            <a:off x="868680" y="2798064"/>
            <a:ext cx="1691640" cy="457200"/>
          </a:xfrm>
          <a:prstGeom prst="rect">
            <a:avLst/>
          </a:prstGeom>
          <a:noFill/>
          <a:ln/>
        </p:spPr>
        <p:txBody>
          <a:bodyPr wrap="square" lIns="0" tIns="0" rIns="0" bIns="0" rtlCol="0" anchor="ctr"/>
          <a:lstStyle/>
          <a:p>
            <a:pPr indent="0" marL="0">
              <a:buNone/>
            </a:pPr>
            <a:r>
              <a:rPr lang="en-US" sz="950" b="1" spc="130" kern="0" dirty="0">
                <a:solidFill>
                  <a:srgbClr val="6D7673"/>
                </a:solidFill>
                <a:latin typeface="Courier New" pitchFamily="34" charset="0"/>
                <a:ea typeface="Courier New" pitchFamily="34" charset="-122"/>
                <a:cs typeface="Courier New" pitchFamily="34" charset="-120"/>
              </a:rPr>
              <a:t>TIME</a:t>
            </a:r>
            <a:endParaRPr lang="en-US" sz="950" dirty="0"/>
          </a:p>
        </p:txBody>
      </p:sp>
      <p:sp>
        <p:nvSpPr>
          <p:cNvPr id="7" name="Text 5"/>
          <p:cNvSpPr/>
          <p:nvPr/>
        </p:nvSpPr>
        <p:spPr>
          <a:xfrm>
            <a:off x="2606040" y="2798064"/>
            <a:ext cx="1280160" cy="457200"/>
          </a:xfrm>
          <a:prstGeom prst="rect">
            <a:avLst/>
          </a:prstGeom>
          <a:noFill/>
          <a:ln/>
        </p:spPr>
        <p:txBody>
          <a:bodyPr wrap="square" lIns="0" tIns="0" rIns="0" bIns="0" rtlCol="0" anchor="ctr"/>
          <a:lstStyle/>
          <a:p>
            <a:pPr indent="0" marL="0">
              <a:buNone/>
            </a:pPr>
            <a:r>
              <a:rPr lang="en-US" sz="950" b="1" spc="130" kern="0" dirty="0">
                <a:solidFill>
                  <a:srgbClr val="6D7673"/>
                </a:solidFill>
                <a:latin typeface="Courier New" pitchFamily="34" charset="0"/>
                <a:ea typeface="Courier New" pitchFamily="34" charset="-122"/>
                <a:cs typeface="Courier New" pitchFamily="34" charset="-120"/>
              </a:rPr>
              <a:t>PERSON</a:t>
            </a:r>
            <a:endParaRPr lang="en-US" sz="950" dirty="0"/>
          </a:p>
        </p:txBody>
      </p:sp>
      <p:sp>
        <p:nvSpPr>
          <p:cNvPr id="8" name="Text 6"/>
          <p:cNvSpPr/>
          <p:nvPr/>
        </p:nvSpPr>
        <p:spPr>
          <a:xfrm>
            <a:off x="3931920" y="2798064"/>
            <a:ext cx="1280160" cy="457200"/>
          </a:xfrm>
          <a:prstGeom prst="rect">
            <a:avLst/>
          </a:prstGeom>
          <a:noFill/>
          <a:ln/>
        </p:spPr>
        <p:txBody>
          <a:bodyPr wrap="square" lIns="0" tIns="0" rIns="0" bIns="0" rtlCol="0" anchor="ctr"/>
          <a:lstStyle/>
          <a:p>
            <a:pPr indent="0" marL="0">
              <a:buNone/>
            </a:pPr>
            <a:r>
              <a:rPr lang="en-US" sz="950" b="1" spc="130" kern="0" dirty="0">
                <a:solidFill>
                  <a:srgbClr val="6D7673"/>
                </a:solidFill>
                <a:latin typeface="Courier New" pitchFamily="34" charset="0"/>
                <a:ea typeface="Courier New" pitchFamily="34" charset="-122"/>
                <a:cs typeface="Courier New" pitchFamily="34" charset="-120"/>
              </a:rPr>
              <a:t>ACTION</a:t>
            </a:r>
            <a:endParaRPr lang="en-US" sz="950" dirty="0"/>
          </a:p>
        </p:txBody>
      </p:sp>
      <p:sp>
        <p:nvSpPr>
          <p:cNvPr id="9" name="Text 7"/>
          <p:cNvSpPr/>
          <p:nvPr/>
        </p:nvSpPr>
        <p:spPr>
          <a:xfrm>
            <a:off x="5257800" y="2798064"/>
            <a:ext cx="1691640" cy="457200"/>
          </a:xfrm>
          <a:prstGeom prst="rect">
            <a:avLst/>
          </a:prstGeom>
          <a:noFill/>
          <a:ln/>
        </p:spPr>
        <p:txBody>
          <a:bodyPr wrap="square" lIns="0" tIns="0" rIns="0" bIns="0" rtlCol="0" anchor="ctr"/>
          <a:lstStyle/>
          <a:p>
            <a:pPr indent="0" marL="0">
              <a:buNone/>
            </a:pPr>
            <a:r>
              <a:rPr lang="en-US" sz="950" b="1" spc="130" kern="0" dirty="0">
                <a:solidFill>
                  <a:srgbClr val="6D7673"/>
                </a:solidFill>
                <a:latin typeface="Courier New" pitchFamily="34" charset="0"/>
                <a:ea typeface="Courier New" pitchFamily="34" charset="-122"/>
                <a:cs typeface="Courier New" pitchFamily="34" charset="-120"/>
              </a:rPr>
              <a:t>PALLET</a:t>
            </a:r>
            <a:endParaRPr lang="en-US" sz="950" dirty="0"/>
          </a:p>
        </p:txBody>
      </p:sp>
      <p:sp>
        <p:nvSpPr>
          <p:cNvPr id="10" name="Text 8"/>
          <p:cNvSpPr/>
          <p:nvPr/>
        </p:nvSpPr>
        <p:spPr>
          <a:xfrm>
            <a:off x="6995160" y="2798064"/>
            <a:ext cx="1280160" cy="457200"/>
          </a:xfrm>
          <a:prstGeom prst="rect">
            <a:avLst/>
          </a:prstGeom>
          <a:noFill/>
          <a:ln/>
        </p:spPr>
        <p:txBody>
          <a:bodyPr wrap="square" lIns="0" tIns="0" rIns="0" bIns="0" rtlCol="0" anchor="ctr"/>
          <a:lstStyle/>
          <a:p>
            <a:pPr indent="0" marL="0">
              <a:buNone/>
            </a:pPr>
            <a:r>
              <a:rPr lang="en-US" sz="950" b="1" spc="130" kern="0" dirty="0">
                <a:solidFill>
                  <a:srgbClr val="6D7673"/>
                </a:solidFill>
                <a:latin typeface="Courier New" pitchFamily="34" charset="0"/>
                <a:ea typeface="Courier New" pitchFamily="34" charset="-122"/>
                <a:cs typeface="Courier New" pitchFamily="34" charset="-120"/>
              </a:rPr>
              <a:t>PLACE</a:t>
            </a:r>
            <a:endParaRPr lang="en-US" sz="950" dirty="0"/>
          </a:p>
        </p:txBody>
      </p:sp>
      <p:sp>
        <p:nvSpPr>
          <p:cNvPr id="11" name="Text 9"/>
          <p:cNvSpPr/>
          <p:nvPr/>
        </p:nvSpPr>
        <p:spPr>
          <a:xfrm>
            <a:off x="8321040" y="2798064"/>
            <a:ext cx="2926080" cy="457200"/>
          </a:xfrm>
          <a:prstGeom prst="rect">
            <a:avLst/>
          </a:prstGeom>
          <a:noFill/>
          <a:ln/>
        </p:spPr>
        <p:txBody>
          <a:bodyPr wrap="square" lIns="0" tIns="0" rIns="0" bIns="0" rtlCol="0" anchor="ctr"/>
          <a:lstStyle/>
          <a:p>
            <a:pPr indent="0" marL="0">
              <a:buNone/>
            </a:pPr>
            <a:r>
              <a:rPr lang="en-US" sz="950" b="1" spc="130" kern="0" dirty="0">
                <a:solidFill>
                  <a:srgbClr val="6D7673"/>
                </a:solidFill>
                <a:latin typeface="Courier New" pitchFamily="34" charset="0"/>
                <a:ea typeface="Courier New" pitchFamily="34" charset="-122"/>
                <a:cs typeface="Courier New" pitchFamily="34" charset="-120"/>
              </a:rPr>
              <a:t>NOTE</a:t>
            </a:r>
            <a:endParaRPr lang="en-US" sz="950" dirty="0"/>
          </a:p>
        </p:txBody>
      </p:sp>
      <p:sp>
        <p:nvSpPr>
          <p:cNvPr id="12" name="Text 10"/>
          <p:cNvSpPr/>
          <p:nvPr/>
        </p:nvSpPr>
        <p:spPr>
          <a:xfrm>
            <a:off x="868680" y="3310128"/>
            <a:ext cx="1691640" cy="347472"/>
          </a:xfrm>
          <a:prstGeom prst="rect">
            <a:avLst/>
          </a:prstGeom>
          <a:noFill/>
          <a:ln/>
        </p:spPr>
        <p:txBody>
          <a:bodyPr wrap="square" lIns="0" tIns="0" rIns="0" bIns="0" rtlCol="0" anchor="ctr"/>
          <a:lstStyle/>
          <a:p>
            <a:pPr indent="0" marL="0">
              <a:buNone/>
            </a:pPr>
            <a:r>
              <a:rPr lang="en-US" sz="1150" dirty="0">
                <a:solidFill>
                  <a:srgbClr val="3D4644"/>
                </a:solidFill>
                <a:latin typeface="Courier New" pitchFamily="34" charset="0"/>
                <a:ea typeface="Courier New" pitchFamily="34" charset="-122"/>
                <a:cs typeface="Courier New" pitchFamily="34" charset="-120"/>
              </a:rPr>
              <a:t>18.08 08:10</a:t>
            </a:r>
            <a:endParaRPr lang="en-US" sz="1150" dirty="0"/>
          </a:p>
        </p:txBody>
      </p:sp>
      <p:sp>
        <p:nvSpPr>
          <p:cNvPr id="13" name="Text 11"/>
          <p:cNvSpPr/>
          <p:nvPr/>
        </p:nvSpPr>
        <p:spPr>
          <a:xfrm>
            <a:off x="2606040" y="3310128"/>
            <a:ext cx="1280160" cy="347472"/>
          </a:xfrm>
          <a:prstGeom prst="rect">
            <a:avLst/>
          </a:prstGeom>
          <a:noFill/>
          <a:ln/>
        </p:spPr>
        <p:txBody>
          <a:bodyPr wrap="square" lIns="0" tIns="0" rIns="0" bIns="0" rtlCol="0" anchor="ctr"/>
          <a:lstStyle/>
          <a:p>
            <a:pPr indent="0" marL="0">
              <a:buNone/>
            </a:pPr>
            <a:r>
              <a:rPr lang="en-US" sz="1150" dirty="0">
                <a:solidFill>
                  <a:srgbClr val="3D4644"/>
                </a:solidFill>
                <a:latin typeface="Courier New" pitchFamily="34" charset="0"/>
                <a:ea typeface="Courier New" pitchFamily="34" charset="-122"/>
                <a:cs typeface="Courier New" pitchFamily="34" charset="-120"/>
              </a:rPr>
              <a:t>Mikael K.</a:t>
            </a:r>
            <a:endParaRPr lang="en-US" sz="1150" dirty="0"/>
          </a:p>
        </p:txBody>
      </p:sp>
      <p:sp>
        <p:nvSpPr>
          <p:cNvPr id="14" name="Text 12"/>
          <p:cNvSpPr/>
          <p:nvPr/>
        </p:nvSpPr>
        <p:spPr>
          <a:xfrm>
            <a:off x="3931920" y="3310128"/>
            <a:ext cx="1280160" cy="347472"/>
          </a:xfrm>
          <a:prstGeom prst="rect">
            <a:avLst/>
          </a:prstGeom>
          <a:noFill/>
          <a:ln/>
        </p:spPr>
        <p:txBody>
          <a:bodyPr wrap="square" lIns="0" tIns="0" rIns="0" bIns="0" rtlCol="0" anchor="ctr"/>
          <a:lstStyle/>
          <a:p>
            <a:pPr indent="0" marL="0">
              <a:buNone/>
            </a:pPr>
            <a:r>
              <a:rPr lang="en-US" sz="1150" b="1" dirty="0">
                <a:solidFill>
                  <a:srgbClr val="215B7E"/>
                </a:solidFill>
                <a:latin typeface="Courier New" pitchFamily="34" charset="0"/>
                <a:ea typeface="Courier New" pitchFamily="34" charset="-122"/>
                <a:cs typeface="Courier New" pitchFamily="34" charset="-120"/>
              </a:rPr>
              <a:t>CREATE</a:t>
            </a:r>
            <a:endParaRPr lang="en-US" sz="1150" dirty="0"/>
          </a:p>
        </p:txBody>
      </p:sp>
      <p:sp>
        <p:nvSpPr>
          <p:cNvPr id="15" name="Text 13"/>
          <p:cNvSpPr/>
          <p:nvPr/>
        </p:nvSpPr>
        <p:spPr>
          <a:xfrm>
            <a:off x="5257800" y="3310128"/>
            <a:ext cx="1691640" cy="347472"/>
          </a:xfrm>
          <a:prstGeom prst="rect">
            <a:avLst/>
          </a:prstGeom>
          <a:noFill/>
          <a:ln/>
        </p:spPr>
        <p:txBody>
          <a:bodyPr wrap="square" lIns="0" tIns="0" rIns="0" bIns="0" rtlCol="0" anchor="ctr"/>
          <a:lstStyle/>
          <a:p>
            <a:pPr indent="0" marL="0">
              <a:buNone/>
            </a:pPr>
            <a:r>
              <a:rPr lang="en-US" sz="1150" dirty="0">
                <a:solidFill>
                  <a:srgbClr val="3D4644"/>
                </a:solidFill>
                <a:latin typeface="Courier New" pitchFamily="34" charset="0"/>
                <a:ea typeface="Courier New" pitchFamily="34" charset="-122"/>
                <a:cs typeface="Courier New" pitchFamily="34" charset="-120"/>
              </a:rPr>
              <a:t>14250-004</a:t>
            </a:r>
            <a:endParaRPr lang="en-US" sz="1150" dirty="0"/>
          </a:p>
        </p:txBody>
      </p:sp>
      <p:sp>
        <p:nvSpPr>
          <p:cNvPr id="16" name="Text 14"/>
          <p:cNvSpPr/>
          <p:nvPr/>
        </p:nvSpPr>
        <p:spPr>
          <a:xfrm>
            <a:off x="6995160" y="3310128"/>
            <a:ext cx="1280160" cy="347472"/>
          </a:xfrm>
          <a:prstGeom prst="rect">
            <a:avLst/>
          </a:prstGeom>
          <a:noFill/>
          <a:ln/>
        </p:spPr>
        <p:txBody>
          <a:bodyPr wrap="square" lIns="0" tIns="0" rIns="0" bIns="0" rtlCol="0" anchor="ctr"/>
          <a:lstStyle/>
          <a:p>
            <a:pPr indent="0" marL="0">
              <a:buNone/>
            </a:pPr>
            <a:r>
              <a:rPr lang="en-US" sz="1150" dirty="0">
                <a:solidFill>
                  <a:srgbClr val="3D4644"/>
                </a:solidFill>
                <a:latin typeface="Courier New" pitchFamily="34" charset="0"/>
                <a:ea typeface="Courier New" pitchFamily="34" charset="-122"/>
                <a:cs typeface="Courier New" pitchFamily="34" charset="-120"/>
              </a:rPr>
              <a:t>—</a:t>
            </a:r>
            <a:endParaRPr lang="en-US" sz="1150" dirty="0"/>
          </a:p>
        </p:txBody>
      </p:sp>
      <p:sp>
        <p:nvSpPr>
          <p:cNvPr id="17" name="Text 15"/>
          <p:cNvSpPr/>
          <p:nvPr/>
        </p:nvSpPr>
        <p:spPr>
          <a:xfrm>
            <a:off x="8321040" y="3310128"/>
            <a:ext cx="2926080" cy="347472"/>
          </a:xfrm>
          <a:prstGeom prst="rect">
            <a:avLst/>
          </a:prstGeom>
          <a:noFill/>
          <a:ln/>
        </p:spPr>
        <p:txBody>
          <a:bodyPr wrap="square" lIns="0" tIns="0" rIns="0" bIns="0" rtlCol="0" anchor="ctr"/>
          <a:lstStyle/>
          <a:p>
            <a:pPr indent="0" marL="0">
              <a:buNone/>
            </a:pPr>
            <a:r>
              <a:rPr lang="en-US" sz="1150" dirty="0">
                <a:solidFill>
                  <a:srgbClr val="3D4644"/>
                </a:solidFill>
                <a:latin typeface="Courier New" pitchFamily="34" charset="0"/>
                <a:ea typeface="Courier New" pitchFamily="34" charset="-122"/>
                <a:cs typeface="Courier New" pitchFamily="34" charset="-120"/>
              </a:rPr>
              <a:t>120 pcs, label printed</a:t>
            </a:r>
            <a:endParaRPr lang="en-US" sz="1150" dirty="0"/>
          </a:p>
        </p:txBody>
      </p:sp>
      <p:sp>
        <p:nvSpPr>
          <p:cNvPr id="18" name="Shape 16"/>
          <p:cNvSpPr/>
          <p:nvPr/>
        </p:nvSpPr>
        <p:spPr>
          <a:xfrm>
            <a:off x="868680" y="3675888"/>
            <a:ext cx="10424160" cy="0"/>
          </a:xfrm>
          <a:prstGeom prst="line">
            <a:avLst/>
          </a:prstGeom>
          <a:noFill/>
          <a:ln w="12700">
            <a:solidFill>
              <a:srgbClr val="D3D7D0"/>
            </a:solidFill>
            <a:prstDash val="solid"/>
          </a:ln>
        </p:spPr>
      </p:sp>
      <p:sp>
        <p:nvSpPr>
          <p:cNvPr id="19" name="Text 17"/>
          <p:cNvSpPr/>
          <p:nvPr/>
        </p:nvSpPr>
        <p:spPr>
          <a:xfrm>
            <a:off x="868680" y="3694176"/>
            <a:ext cx="1691640" cy="347472"/>
          </a:xfrm>
          <a:prstGeom prst="rect">
            <a:avLst/>
          </a:prstGeom>
          <a:noFill/>
          <a:ln/>
        </p:spPr>
        <p:txBody>
          <a:bodyPr wrap="square" lIns="0" tIns="0" rIns="0" bIns="0" rtlCol="0" anchor="ctr"/>
          <a:lstStyle/>
          <a:p>
            <a:pPr indent="0" marL="0">
              <a:buNone/>
            </a:pPr>
            <a:r>
              <a:rPr lang="en-US" sz="1150" dirty="0">
                <a:solidFill>
                  <a:srgbClr val="3D4644"/>
                </a:solidFill>
                <a:latin typeface="Courier New" pitchFamily="34" charset="0"/>
                <a:ea typeface="Courier New" pitchFamily="34" charset="-122"/>
                <a:cs typeface="Courier New" pitchFamily="34" charset="-120"/>
              </a:rPr>
              <a:t>18.08 08:25</a:t>
            </a:r>
            <a:endParaRPr lang="en-US" sz="1150" dirty="0"/>
          </a:p>
        </p:txBody>
      </p:sp>
      <p:sp>
        <p:nvSpPr>
          <p:cNvPr id="20" name="Text 18"/>
          <p:cNvSpPr/>
          <p:nvPr/>
        </p:nvSpPr>
        <p:spPr>
          <a:xfrm>
            <a:off x="2606040" y="3694176"/>
            <a:ext cx="1280160" cy="347472"/>
          </a:xfrm>
          <a:prstGeom prst="rect">
            <a:avLst/>
          </a:prstGeom>
          <a:noFill/>
          <a:ln/>
        </p:spPr>
        <p:txBody>
          <a:bodyPr wrap="square" lIns="0" tIns="0" rIns="0" bIns="0" rtlCol="0" anchor="ctr"/>
          <a:lstStyle/>
          <a:p>
            <a:pPr indent="0" marL="0">
              <a:buNone/>
            </a:pPr>
            <a:r>
              <a:rPr lang="en-US" sz="1150" dirty="0">
                <a:solidFill>
                  <a:srgbClr val="3D4644"/>
                </a:solidFill>
                <a:latin typeface="Courier New" pitchFamily="34" charset="0"/>
                <a:ea typeface="Courier New" pitchFamily="34" charset="-122"/>
                <a:cs typeface="Courier New" pitchFamily="34" charset="-120"/>
              </a:rPr>
              <a:t>Mikael K.</a:t>
            </a:r>
            <a:endParaRPr lang="en-US" sz="1150" dirty="0"/>
          </a:p>
        </p:txBody>
      </p:sp>
      <p:sp>
        <p:nvSpPr>
          <p:cNvPr id="21" name="Text 19"/>
          <p:cNvSpPr/>
          <p:nvPr/>
        </p:nvSpPr>
        <p:spPr>
          <a:xfrm>
            <a:off x="3931920" y="3694176"/>
            <a:ext cx="1280160" cy="347472"/>
          </a:xfrm>
          <a:prstGeom prst="rect">
            <a:avLst/>
          </a:prstGeom>
          <a:noFill/>
          <a:ln/>
        </p:spPr>
        <p:txBody>
          <a:bodyPr wrap="square" lIns="0" tIns="0" rIns="0" bIns="0" rtlCol="0" anchor="ctr"/>
          <a:lstStyle/>
          <a:p>
            <a:pPr indent="0" marL="0">
              <a:buNone/>
            </a:pPr>
            <a:r>
              <a:rPr lang="en-US" sz="1150" b="1" dirty="0">
                <a:solidFill>
                  <a:srgbClr val="A93B2C"/>
                </a:solidFill>
                <a:latin typeface="Courier New" pitchFamily="34" charset="0"/>
                <a:ea typeface="Courier New" pitchFamily="34" charset="-122"/>
                <a:cs typeface="Courier New" pitchFamily="34" charset="-120"/>
              </a:rPr>
              <a:t>PLACE</a:t>
            </a:r>
            <a:endParaRPr lang="en-US" sz="1150" dirty="0"/>
          </a:p>
        </p:txBody>
      </p:sp>
      <p:sp>
        <p:nvSpPr>
          <p:cNvPr id="22" name="Text 20"/>
          <p:cNvSpPr/>
          <p:nvPr/>
        </p:nvSpPr>
        <p:spPr>
          <a:xfrm>
            <a:off x="5257800" y="3694176"/>
            <a:ext cx="1691640" cy="347472"/>
          </a:xfrm>
          <a:prstGeom prst="rect">
            <a:avLst/>
          </a:prstGeom>
          <a:noFill/>
          <a:ln/>
        </p:spPr>
        <p:txBody>
          <a:bodyPr wrap="square" lIns="0" tIns="0" rIns="0" bIns="0" rtlCol="0" anchor="ctr"/>
          <a:lstStyle/>
          <a:p>
            <a:pPr indent="0" marL="0">
              <a:buNone/>
            </a:pPr>
            <a:r>
              <a:rPr lang="en-US" sz="1150" dirty="0">
                <a:solidFill>
                  <a:srgbClr val="3D4644"/>
                </a:solidFill>
                <a:latin typeface="Courier New" pitchFamily="34" charset="0"/>
                <a:ea typeface="Courier New" pitchFamily="34" charset="-122"/>
                <a:cs typeface="Courier New" pitchFamily="34" charset="-120"/>
              </a:rPr>
              <a:t>14250-004</a:t>
            </a:r>
            <a:endParaRPr lang="en-US" sz="1150" dirty="0"/>
          </a:p>
        </p:txBody>
      </p:sp>
      <p:sp>
        <p:nvSpPr>
          <p:cNvPr id="23" name="Text 21"/>
          <p:cNvSpPr/>
          <p:nvPr/>
        </p:nvSpPr>
        <p:spPr>
          <a:xfrm>
            <a:off x="6995160" y="3694176"/>
            <a:ext cx="1280160" cy="347472"/>
          </a:xfrm>
          <a:prstGeom prst="rect">
            <a:avLst/>
          </a:prstGeom>
          <a:noFill/>
          <a:ln/>
        </p:spPr>
        <p:txBody>
          <a:bodyPr wrap="square" lIns="0" tIns="0" rIns="0" bIns="0" rtlCol="0" anchor="ctr"/>
          <a:lstStyle/>
          <a:p>
            <a:pPr indent="0" marL="0">
              <a:buNone/>
            </a:pPr>
            <a:r>
              <a:rPr lang="en-US" sz="1150" dirty="0">
                <a:solidFill>
                  <a:srgbClr val="3D4644"/>
                </a:solidFill>
                <a:latin typeface="Courier New" pitchFamily="34" charset="0"/>
                <a:ea typeface="Courier New" pitchFamily="34" charset="-122"/>
                <a:cs typeface="Courier New" pitchFamily="34" charset="-120"/>
              </a:rPr>
              <a:t>A-01-3</a:t>
            </a:r>
            <a:endParaRPr lang="en-US" sz="1150" dirty="0"/>
          </a:p>
        </p:txBody>
      </p:sp>
      <p:sp>
        <p:nvSpPr>
          <p:cNvPr id="24" name="Text 22"/>
          <p:cNvSpPr/>
          <p:nvPr/>
        </p:nvSpPr>
        <p:spPr>
          <a:xfrm>
            <a:off x="8321040" y="3694176"/>
            <a:ext cx="2926080" cy="347472"/>
          </a:xfrm>
          <a:prstGeom prst="rect">
            <a:avLst/>
          </a:prstGeom>
          <a:noFill/>
          <a:ln/>
        </p:spPr>
        <p:txBody>
          <a:bodyPr wrap="square" lIns="0" tIns="0" rIns="0" bIns="0" rtlCol="0" anchor="ctr"/>
          <a:lstStyle/>
          <a:p>
            <a:pPr indent="0" marL="0">
              <a:buNone/>
            </a:pPr>
            <a:r>
              <a:rPr lang="en-US" sz="1150" dirty="0">
                <a:solidFill>
                  <a:srgbClr val="3D4644"/>
                </a:solidFill>
                <a:latin typeface="Courier New" pitchFamily="34" charset="0"/>
                <a:ea typeface="Courier New" pitchFamily="34" charset="-122"/>
                <a:cs typeface="Courier New" pitchFamily="34" charset="-120"/>
              </a:rPr>
              <a:t>from goods-in</a:t>
            </a:r>
            <a:endParaRPr lang="en-US" sz="1150" dirty="0"/>
          </a:p>
        </p:txBody>
      </p:sp>
      <p:sp>
        <p:nvSpPr>
          <p:cNvPr id="25" name="Shape 23"/>
          <p:cNvSpPr/>
          <p:nvPr/>
        </p:nvSpPr>
        <p:spPr>
          <a:xfrm>
            <a:off x="868680" y="4059936"/>
            <a:ext cx="10424160" cy="0"/>
          </a:xfrm>
          <a:prstGeom prst="line">
            <a:avLst/>
          </a:prstGeom>
          <a:noFill/>
          <a:ln w="12700">
            <a:solidFill>
              <a:srgbClr val="D3D7D0"/>
            </a:solidFill>
            <a:prstDash val="solid"/>
          </a:ln>
        </p:spPr>
      </p:sp>
      <p:sp>
        <p:nvSpPr>
          <p:cNvPr id="26" name="Text 24"/>
          <p:cNvSpPr/>
          <p:nvPr/>
        </p:nvSpPr>
        <p:spPr>
          <a:xfrm>
            <a:off x="868680" y="4078224"/>
            <a:ext cx="1691640" cy="347472"/>
          </a:xfrm>
          <a:prstGeom prst="rect">
            <a:avLst/>
          </a:prstGeom>
          <a:noFill/>
          <a:ln/>
        </p:spPr>
        <p:txBody>
          <a:bodyPr wrap="square" lIns="0" tIns="0" rIns="0" bIns="0" rtlCol="0" anchor="ctr"/>
          <a:lstStyle/>
          <a:p>
            <a:pPr indent="0" marL="0">
              <a:buNone/>
            </a:pPr>
            <a:r>
              <a:rPr lang="en-US" sz="1150" dirty="0">
                <a:solidFill>
                  <a:srgbClr val="3D4644"/>
                </a:solidFill>
                <a:latin typeface="Courier New" pitchFamily="34" charset="0"/>
                <a:ea typeface="Courier New" pitchFamily="34" charset="-122"/>
                <a:cs typeface="Courier New" pitchFamily="34" charset="-120"/>
              </a:rPr>
              <a:t>20.08 13:40</a:t>
            </a:r>
            <a:endParaRPr lang="en-US" sz="1150" dirty="0"/>
          </a:p>
        </p:txBody>
      </p:sp>
      <p:sp>
        <p:nvSpPr>
          <p:cNvPr id="27" name="Text 25"/>
          <p:cNvSpPr/>
          <p:nvPr/>
        </p:nvSpPr>
        <p:spPr>
          <a:xfrm>
            <a:off x="2606040" y="4078224"/>
            <a:ext cx="1280160" cy="347472"/>
          </a:xfrm>
          <a:prstGeom prst="rect">
            <a:avLst/>
          </a:prstGeom>
          <a:noFill/>
          <a:ln/>
        </p:spPr>
        <p:txBody>
          <a:bodyPr wrap="square" lIns="0" tIns="0" rIns="0" bIns="0" rtlCol="0" anchor="ctr"/>
          <a:lstStyle/>
          <a:p>
            <a:pPr indent="0" marL="0">
              <a:buNone/>
            </a:pPr>
            <a:r>
              <a:rPr lang="en-US" sz="1150" dirty="0">
                <a:solidFill>
                  <a:srgbClr val="3D4644"/>
                </a:solidFill>
                <a:latin typeface="Courier New" pitchFamily="34" charset="0"/>
                <a:ea typeface="Courier New" pitchFamily="34" charset="-122"/>
                <a:cs typeface="Courier New" pitchFamily="34" charset="-120"/>
              </a:rPr>
              <a:t>Anna L.</a:t>
            </a:r>
            <a:endParaRPr lang="en-US" sz="1150" dirty="0"/>
          </a:p>
        </p:txBody>
      </p:sp>
      <p:sp>
        <p:nvSpPr>
          <p:cNvPr id="28" name="Text 26"/>
          <p:cNvSpPr/>
          <p:nvPr/>
        </p:nvSpPr>
        <p:spPr>
          <a:xfrm>
            <a:off x="3931920" y="4078224"/>
            <a:ext cx="1280160" cy="347472"/>
          </a:xfrm>
          <a:prstGeom prst="rect">
            <a:avLst/>
          </a:prstGeom>
          <a:noFill/>
          <a:ln/>
        </p:spPr>
        <p:txBody>
          <a:bodyPr wrap="square" lIns="0" tIns="0" rIns="0" bIns="0" rtlCol="0" anchor="ctr"/>
          <a:lstStyle/>
          <a:p>
            <a:pPr indent="0" marL="0">
              <a:buNone/>
            </a:pPr>
            <a:r>
              <a:rPr lang="en-US" sz="1150" b="1" dirty="0">
                <a:solidFill>
                  <a:srgbClr val="1E7A4C"/>
                </a:solidFill>
                <a:latin typeface="Courier New" pitchFamily="34" charset="0"/>
                <a:ea typeface="Courier New" pitchFamily="34" charset="-122"/>
                <a:cs typeface="Courier New" pitchFamily="34" charset="-120"/>
              </a:rPr>
              <a:t>TAKE</a:t>
            </a:r>
            <a:endParaRPr lang="en-US" sz="1150" dirty="0"/>
          </a:p>
        </p:txBody>
      </p:sp>
      <p:sp>
        <p:nvSpPr>
          <p:cNvPr id="29" name="Text 27"/>
          <p:cNvSpPr/>
          <p:nvPr/>
        </p:nvSpPr>
        <p:spPr>
          <a:xfrm>
            <a:off x="5257800" y="4078224"/>
            <a:ext cx="1691640" cy="347472"/>
          </a:xfrm>
          <a:prstGeom prst="rect">
            <a:avLst/>
          </a:prstGeom>
          <a:noFill/>
          <a:ln/>
        </p:spPr>
        <p:txBody>
          <a:bodyPr wrap="square" lIns="0" tIns="0" rIns="0" bIns="0" rtlCol="0" anchor="ctr"/>
          <a:lstStyle/>
          <a:p>
            <a:pPr indent="0" marL="0">
              <a:buNone/>
            </a:pPr>
            <a:r>
              <a:rPr lang="en-US" sz="1150" dirty="0">
                <a:solidFill>
                  <a:srgbClr val="3D4644"/>
                </a:solidFill>
                <a:latin typeface="Courier New" pitchFamily="34" charset="0"/>
                <a:ea typeface="Courier New" pitchFamily="34" charset="-122"/>
                <a:cs typeface="Courier New" pitchFamily="34" charset="-120"/>
              </a:rPr>
              <a:t>14250-004</a:t>
            </a:r>
            <a:endParaRPr lang="en-US" sz="1150" dirty="0"/>
          </a:p>
        </p:txBody>
      </p:sp>
      <p:sp>
        <p:nvSpPr>
          <p:cNvPr id="30" name="Text 28"/>
          <p:cNvSpPr/>
          <p:nvPr/>
        </p:nvSpPr>
        <p:spPr>
          <a:xfrm>
            <a:off x="6995160" y="4078224"/>
            <a:ext cx="1280160" cy="347472"/>
          </a:xfrm>
          <a:prstGeom prst="rect">
            <a:avLst/>
          </a:prstGeom>
          <a:noFill/>
          <a:ln/>
        </p:spPr>
        <p:txBody>
          <a:bodyPr wrap="square" lIns="0" tIns="0" rIns="0" bIns="0" rtlCol="0" anchor="ctr"/>
          <a:lstStyle/>
          <a:p>
            <a:pPr indent="0" marL="0">
              <a:buNone/>
            </a:pPr>
            <a:r>
              <a:rPr lang="en-US" sz="1150" dirty="0">
                <a:solidFill>
                  <a:srgbClr val="3D4644"/>
                </a:solidFill>
                <a:latin typeface="Courier New" pitchFamily="34" charset="0"/>
                <a:ea typeface="Courier New" pitchFamily="34" charset="-122"/>
                <a:cs typeface="Courier New" pitchFamily="34" charset="-120"/>
              </a:rPr>
              <a:t>A-01-3</a:t>
            </a:r>
            <a:endParaRPr lang="en-US" sz="1150" dirty="0"/>
          </a:p>
        </p:txBody>
      </p:sp>
      <p:sp>
        <p:nvSpPr>
          <p:cNvPr id="31" name="Text 29"/>
          <p:cNvSpPr/>
          <p:nvPr/>
        </p:nvSpPr>
        <p:spPr>
          <a:xfrm>
            <a:off x="8321040" y="4078224"/>
            <a:ext cx="2926080" cy="347472"/>
          </a:xfrm>
          <a:prstGeom prst="rect">
            <a:avLst/>
          </a:prstGeom>
          <a:noFill/>
          <a:ln/>
        </p:spPr>
        <p:txBody>
          <a:bodyPr wrap="square" lIns="0" tIns="0" rIns="0" bIns="0" rtlCol="0" anchor="ctr"/>
          <a:lstStyle/>
          <a:p>
            <a:pPr indent="0" marL="0">
              <a:buNone/>
            </a:pPr>
            <a:r>
              <a:rPr lang="en-US" sz="1150" dirty="0">
                <a:solidFill>
                  <a:srgbClr val="3D4644"/>
                </a:solidFill>
                <a:latin typeface="Courier New" pitchFamily="34" charset="0"/>
                <a:ea typeface="Courier New" pitchFamily="34" charset="-122"/>
                <a:cs typeface="Courier New" pitchFamily="34" charset="-120"/>
              </a:rPr>
              <a:t>to production line 2</a:t>
            </a:r>
            <a:endParaRPr lang="en-US" sz="1150" dirty="0"/>
          </a:p>
        </p:txBody>
      </p:sp>
      <p:sp>
        <p:nvSpPr>
          <p:cNvPr id="32" name="Shape 30"/>
          <p:cNvSpPr/>
          <p:nvPr/>
        </p:nvSpPr>
        <p:spPr>
          <a:xfrm>
            <a:off x="868680" y="4443984"/>
            <a:ext cx="10424160" cy="0"/>
          </a:xfrm>
          <a:prstGeom prst="line">
            <a:avLst/>
          </a:prstGeom>
          <a:noFill/>
          <a:ln w="12700">
            <a:solidFill>
              <a:srgbClr val="D3D7D0"/>
            </a:solidFill>
            <a:prstDash val="solid"/>
          </a:ln>
        </p:spPr>
      </p:sp>
      <p:sp>
        <p:nvSpPr>
          <p:cNvPr id="33" name="Text 31"/>
          <p:cNvSpPr/>
          <p:nvPr/>
        </p:nvSpPr>
        <p:spPr>
          <a:xfrm>
            <a:off x="868680" y="4462272"/>
            <a:ext cx="1691640" cy="347472"/>
          </a:xfrm>
          <a:prstGeom prst="rect">
            <a:avLst/>
          </a:prstGeom>
          <a:noFill/>
          <a:ln/>
        </p:spPr>
        <p:txBody>
          <a:bodyPr wrap="square" lIns="0" tIns="0" rIns="0" bIns="0" rtlCol="0" anchor="ctr"/>
          <a:lstStyle/>
          <a:p>
            <a:pPr indent="0" marL="0">
              <a:buNone/>
            </a:pPr>
            <a:r>
              <a:rPr lang="en-US" sz="1150" dirty="0">
                <a:solidFill>
                  <a:srgbClr val="3D4644"/>
                </a:solidFill>
                <a:latin typeface="Courier New" pitchFamily="34" charset="0"/>
                <a:ea typeface="Courier New" pitchFamily="34" charset="-122"/>
                <a:cs typeface="Courier New" pitchFamily="34" charset="-120"/>
              </a:rPr>
              <a:t>20.08 16:05</a:t>
            </a:r>
            <a:endParaRPr lang="en-US" sz="1150" dirty="0"/>
          </a:p>
        </p:txBody>
      </p:sp>
      <p:sp>
        <p:nvSpPr>
          <p:cNvPr id="34" name="Text 32"/>
          <p:cNvSpPr/>
          <p:nvPr/>
        </p:nvSpPr>
        <p:spPr>
          <a:xfrm>
            <a:off x="2606040" y="4462272"/>
            <a:ext cx="1280160" cy="347472"/>
          </a:xfrm>
          <a:prstGeom prst="rect">
            <a:avLst/>
          </a:prstGeom>
          <a:noFill/>
          <a:ln/>
        </p:spPr>
        <p:txBody>
          <a:bodyPr wrap="square" lIns="0" tIns="0" rIns="0" bIns="0" rtlCol="0" anchor="ctr"/>
          <a:lstStyle/>
          <a:p>
            <a:pPr indent="0" marL="0">
              <a:buNone/>
            </a:pPr>
            <a:r>
              <a:rPr lang="en-US" sz="1150" dirty="0">
                <a:solidFill>
                  <a:srgbClr val="3D4644"/>
                </a:solidFill>
                <a:latin typeface="Courier New" pitchFamily="34" charset="0"/>
                <a:ea typeface="Courier New" pitchFamily="34" charset="-122"/>
                <a:cs typeface="Courier New" pitchFamily="34" charset="-120"/>
              </a:rPr>
              <a:t>Anna L.</a:t>
            </a:r>
            <a:endParaRPr lang="en-US" sz="1150" dirty="0"/>
          </a:p>
        </p:txBody>
      </p:sp>
      <p:sp>
        <p:nvSpPr>
          <p:cNvPr id="35" name="Text 33"/>
          <p:cNvSpPr/>
          <p:nvPr/>
        </p:nvSpPr>
        <p:spPr>
          <a:xfrm>
            <a:off x="3931920" y="4462272"/>
            <a:ext cx="1280160" cy="347472"/>
          </a:xfrm>
          <a:prstGeom prst="rect">
            <a:avLst/>
          </a:prstGeom>
          <a:noFill/>
          <a:ln/>
        </p:spPr>
        <p:txBody>
          <a:bodyPr wrap="square" lIns="0" tIns="0" rIns="0" bIns="0" rtlCol="0" anchor="ctr"/>
          <a:lstStyle/>
          <a:p>
            <a:pPr indent="0" marL="0">
              <a:buNone/>
            </a:pPr>
            <a:r>
              <a:rPr lang="en-US" sz="1150" b="1" dirty="0">
                <a:solidFill>
                  <a:srgbClr val="C9990B"/>
                </a:solidFill>
                <a:latin typeface="Courier New" pitchFamily="34" charset="0"/>
                <a:ea typeface="Courier New" pitchFamily="34" charset="-122"/>
                <a:cs typeface="Courier New" pitchFamily="34" charset="-120"/>
              </a:rPr>
              <a:t>EDIT</a:t>
            </a:r>
            <a:endParaRPr lang="en-US" sz="1150" dirty="0"/>
          </a:p>
        </p:txBody>
      </p:sp>
      <p:sp>
        <p:nvSpPr>
          <p:cNvPr id="36" name="Text 34"/>
          <p:cNvSpPr/>
          <p:nvPr/>
        </p:nvSpPr>
        <p:spPr>
          <a:xfrm>
            <a:off x="5257800" y="4462272"/>
            <a:ext cx="1691640" cy="347472"/>
          </a:xfrm>
          <a:prstGeom prst="rect">
            <a:avLst/>
          </a:prstGeom>
          <a:noFill/>
          <a:ln/>
        </p:spPr>
        <p:txBody>
          <a:bodyPr wrap="square" lIns="0" tIns="0" rIns="0" bIns="0" rtlCol="0" anchor="ctr"/>
          <a:lstStyle/>
          <a:p>
            <a:pPr indent="0" marL="0">
              <a:buNone/>
            </a:pPr>
            <a:r>
              <a:rPr lang="en-US" sz="1150" dirty="0">
                <a:solidFill>
                  <a:srgbClr val="3D4644"/>
                </a:solidFill>
                <a:latin typeface="Courier New" pitchFamily="34" charset="0"/>
                <a:ea typeface="Courier New" pitchFamily="34" charset="-122"/>
                <a:cs typeface="Courier New" pitchFamily="34" charset="-120"/>
              </a:rPr>
              <a:t>14250-004</a:t>
            </a:r>
            <a:endParaRPr lang="en-US" sz="1150" dirty="0"/>
          </a:p>
        </p:txBody>
      </p:sp>
      <p:sp>
        <p:nvSpPr>
          <p:cNvPr id="37" name="Text 35"/>
          <p:cNvSpPr/>
          <p:nvPr/>
        </p:nvSpPr>
        <p:spPr>
          <a:xfrm>
            <a:off x="6995160" y="4462272"/>
            <a:ext cx="1280160" cy="347472"/>
          </a:xfrm>
          <a:prstGeom prst="rect">
            <a:avLst/>
          </a:prstGeom>
          <a:noFill/>
          <a:ln/>
        </p:spPr>
        <p:txBody>
          <a:bodyPr wrap="square" lIns="0" tIns="0" rIns="0" bIns="0" rtlCol="0" anchor="ctr"/>
          <a:lstStyle/>
          <a:p>
            <a:pPr indent="0" marL="0">
              <a:buNone/>
            </a:pPr>
            <a:r>
              <a:rPr lang="en-US" sz="1150" dirty="0">
                <a:solidFill>
                  <a:srgbClr val="3D4644"/>
                </a:solidFill>
                <a:latin typeface="Courier New" pitchFamily="34" charset="0"/>
                <a:ea typeface="Courier New" pitchFamily="34" charset="-122"/>
                <a:cs typeface="Courier New" pitchFamily="34" charset="-120"/>
              </a:rPr>
              <a:t>—</a:t>
            </a:r>
            <a:endParaRPr lang="en-US" sz="1150" dirty="0"/>
          </a:p>
        </p:txBody>
      </p:sp>
      <p:sp>
        <p:nvSpPr>
          <p:cNvPr id="38" name="Text 36"/>
          <p:cNvSpPr/>
          <p:nvPr/>
        </p:nvSpPr>
        <p:spPr>
          <a:xfrm>
            <a:off x="8321040" y="4462272"/>
            <a:ext cx="2926080" cy="347472"/>
          </a:xfrm>
          <a:prstGeom prst="rect">
            <a:avLst/>
          </a:prstGeom>
          <a:noFill/>
          <a:ln/>
        </p:spPr>
        <p:txBody>
          <a:bodyPr wrap="square" lIns="0" tIns="0" rIns="0" bIns="0" rtlCol="0" anchor="ctr"/>
          <a:lstStyle/>
          <a:p>
            <a:pPr indent="0" marL="0">
              <a:buNone/>
            </a:pPr>
            <a:r>
              <a:rPr lang="en-US" sz="1150" dirty="0">
                <a:solidFill>
                  <a:srgbClr val="3D4644"/>
                </a:solidFill>
                <a:latin typeface="Courier New" pitchFamily="34" charset="0"/>
                <a:ea typeface="Courier New" pitchFamily="34" charset="-122"/>
                <a:cs typeface="Courier New" pitchFamily="34" charset="-120"/>
              </a:rPr>
              <a:t>120 → 60 pcs used</a:t>
            </a:r>
            <a:endParaRPr lang="en-US" sz="1150" dirty="0"/>
          </a:p>
        </p:txBody>
      </p:sp>
      <p:sp>
        <p:nvSpPr>
          <p:cNvPr id="39" name="Shape 37"/>
          <p:cNvSpPr/>
          <p:nvPr/>
        </p:nvSpPr>
        <p:spPr>
          <a:xfrm>
            <a:off x="868680" y="4828032"/>
            <a:ext cx="10424160" cy="0"/>
          </a:xfrm>
          <a:prstGeom prst="line">
            <a:avLst/>
          </a:prstGeom>
          <a:noFill/>
          <a:ln w="12700">
            <a:solidFill>
              <a:srgbClr val="D3D7D0"/>
            </a:solidFill>
            <a:prstDash val="solid"/>
          </a:ln>
        </p:spPr>
      </p:sp>
      <p:sp>
        <p:nvSpPr>
          <p:cNvPr id="40" name="Text 38"/>
          <p:cNvSpPr/>
          <p:nvPr/>
        </p:nvSpPr>
        <p:spPr>
          <a:xfrm>
            <a:off x="868680" y="4846320"/>
            <a:ext cx="1691640" cy="347472"/>
          </a:xfrm>
          <a:prstGeom prst="rect">
            <a:avLst/>
          </a:prstGeom>
          <a:noFill/>
          <a:ln/>
        </p:spPr>
        <p:txBody>
          <a:bodyPr wrap="square" lIns="0" tIns="0" rIns="0" bIns="0" rtlCol="0" anchor="ctr"/>
          <a:lstStyle/>
          <a:p>
            <a:pPr indent="0" marL="0">
              <a:buNone/>
            </a:pPr>
            <a:r>
              <a:rPr lang="en-US" sz="1150" dirty="0">
                <a:solidFill>
                  <a:srgbClr val="3D4644"/>
                </a:solidFill>
                <a:latin typeface="Courier New" pitchFamily="34" charset="0"/>
                <a:ea typeface="Courier New" pitchFamily="34" charset="-122"/>
                <a:cs typeface="Courier New" pitchFamily="34" charset="-120"/>
              </a:rPr>
              <a:t>20.08 16:06</a:t>
            </a:r>
            <a:endParaRPr lang="en-US" sz="1150" dirty="0"/>
          </a:p>
        </p:txBody>
      </p:sp>
      <p:sp>
        <p:nvSpPr>
          <p:cNvPr id="41" name="Text 39"/>
          <p:cNvSpPr/>
          <p:nvPr/>
        </p:nvSpPr>
        <p:spPr>
          <a:xfrm>
            <a:off x="2606040" y="4846320"/>
            <a:ext cx="1280160" cy="347472"/>
          </a:xfrm>
          <a:prstGeom prst="rect">
            <a:avLst/>
          </a:prstGeom>
          <a:noFill/>
          <a:ln/>
        </p:spPr>
        <p:txBody>
          <a:bodyPr wrap="square" lIns="0" tIns="0" rIns="0" bIns="0" rtlCol="0" anchor="ctr"/>
          <a:lstStyle/>
          <a:p>
            <a:pPr indent="0" marL="0">
              <a:buNone/>
            </a:pPr>
            <a:r>
              <a:rPr lang="en-US" sz="1150" dirty="0">
                <a:solidFill>
                  <a:srgbClr val="3D4644"/>
                </a:solidFill>
                <a:latin typeface="Courier New" pitchFamily="34" charset="0"/>
                <a:ea typeface="Courier New" pitchFamily="34" charset="-122"/>
                <a:cs typeface="Courier New" pitchFamily="34" charset="-120"/>
              </a:rPr>
              <a:t>Anna L.</a:t>
            </a:r>
            <a:endParaRPr lang="en-US" sz="1150" dirty="0"/>
          </a:p>
        </p:txBody>
      </p:sp>
      <p:sp>
        <p:nvSpPr>
          <p:cNvPr id="42" name="Text 40"/>
          <p:cNvSpPr/>
          <p:nvPr/>
        </p:nvSpPr>
        <p:spPr>
          <a:xfrm>
            <a:off x="3931920" y="4846320"/>
            <a:ext cx="1280160" cy="347472"/>
          </a:xfrm>
          <a:prstGeom prst="rect">
            <a:avLst/>
          </a:prstGeom>
          <a:noFill/>
          <a:ln/>
        </p:spPr>
        <p:txBody>
          <a:bodyPr wrap="square" lIns="0" tIns="0" rIns="0" bIns="0" rtlCol="0" anchor="ctr"/>
          <a:lstStyle/>
          <a:p>
            <a:pPr indent="0" marL="0">
              <a:buNone/>
            </a:pPr>
            <a:r>
              <a:rPr lang="en-US" sz="1150" b="1" dirty="0">
                <a:solidFill>
                  <a:srgbClr val="A93B2C"/>
                </a:solidFill>
                <a:latin typeface="Courier New" pitchFamily="34" charset="0"/>
                <a:ea typeface="Courier New" pitchFamily="34" charset="-122"/>
                <a:cs typeface="Courier New" pitchFamily="34" charset="-120"/>
              </a:rPr>
              <a:t>PLACE</a:t>
            </a:r>
            <a:endParaRPr lang="en-US" sz="1150" dirty="0"/>
          </a:p>
        </p:txBody>
      </p:sp>
      <p:sp>
        <p:nvSpPr>
          <p:cNvPr id="43" name="Text 41"/>
          <p:cNvSpPr/>
          <p:nvPr/>
        </p:nvSpPr>
        <p:spPr>
          <a:xfrm>
            <a:off x="5257800" y="4846320"/>
            <a:ext cx="1691640" cy="347472"/>
          </a:xfrm>
          <a:prstGeom prst="rect">
            <a:avLst/>
          </a:prstGeom>
          <a:noFill/>
          <a:ln/>
        </p:spPr>
        <p:txBody>
          <a:bodyPr wrap="square" lIns="0" tIns="0" rIns="0" bIns="0" rtlCol="0" anchor="ctr"/>
          <a:lstStyle/>
          <a:p>
            <a:pPr indent="0" marL="0">
              <a:buNone/>
            </a:pPr>
            <a:r>
              <a:rPr lang="en-US" sz="1150" dirty="0">
                <a:solidFill>
                  <a:srgbClr val="3D4644"/>
                </a:solidFill>
                <a:latin typeface="Courier New" pitchFamily="34" charset="0"/>
                <a:ea typeface="Courier New" pitchFamily="34" charset="-122"/>
                <a:cs typeface="Courier New" pitchFamily="34" charset="-120"/>
              </a:rPr>
              <a:t>14250-004</a:t>
            </a:r>
            <a:endParaRPr lang="en-US" sz="1150" dirty="0"/>
          </a:p>
        </p:txBody>
      </p:sp>
      <p:sp>
        <p:nvSpPr>
          <p:cNvPr id="44" name="Text 42"/>
          <p:cNvSpPr/>
          <p:nvPr/>
        </p:nvSpPr>
        <p:spPr>
          <a:xfrm>
            <a:off x="6995160" y="4846320"/>
            <a:ext cx="1280160" cy="347472"/>
          </a:xfrm>
          <a:prstGeom prst="rect">
            <a:avLst/>
          </a:prstGeom>
          <a:noFill/>
          <a:ln/>
        </p:spPr>
        <p:txBody>
          <a:bodyPr wrap="square" lIns="0" tIns="0" rIns="0" bIns="0" rtlCol="0" anchor="ctr"/>
          <a:lstStyle/>
          <a:p>
            <a:pPr indent="0" marL="0">
              <a:buNone/>
            </a:pPr>
            <a:r>
              <a:rPr lang="en-US" sz="1150" dirty="0">
                <a:solidFill>
                  <a:srgbClr val="3D4644"/>
                </a:solidFill>
                <a:latin typeface="Courier New" pitchFamily="34" charset="0"/>
                <a:ea typeface="Courier New" pitchFamily="34" charset="-122"/>
                <a:cs typeface="Courier New" pitchFamily="34" charset="-120"/>
              </a:rPr>
              <a:t>B-02-1</a:t>
            </a:r>
            <a:endParaRPr lang="en-US" sz="1150" dirty="0"/>
          </a:p>
        </p:txBody>
      </p:sp>
      <p:sp>
        <p:nvSpPr>
          <p:cNvPr id="45" name="Text 43"/>
          <p:cNvSpPr/>
          <p:nvPr/>
        </p:nvSpPr>
        <p:spPr>
          <a:xfrm>
            <a:off x="8321040" y="4846320"/>
            <a:ext cx="2926080" cy="347472"/>
          </a:xfrm>
          <a:prstGeom prst="rect">
            <a:avLst/>
          </a:prstGeom>
          <a:noFill/>
          <a:ln/>
        </p:spPr>
        <p:txBody>
          <a:bodyPr wrap="square" lIns="0" tIns="0" rIns="0" bIns="0" rtlCol="0" anchor="ctr"/>
          <a:lstStyle/>
          <a:p>
            <a:pPr indent="0" marL="0">
              <a:buNone/>
            </a:pPr>
            <a:r>
              <a:rPr lang="en-US" sz="1150" dirty="0">
                <a:solidFill>
                  <a:srgbClr val="3D4644"/>
                </a:solidFill>
                <a:latin typeface="Courier New" pitchFamily="34" charset="0"/>
                <a:ea typeface="Courier New" pitchFamily="34" charset="-122"/>
                <a:cs typeface="Courier New" pitchFamily="34" charset="-120"/>
              </a:rPr>
              <a:t>returned, nearer slot</a:t>
            </a:r>
            <a:endParaRPr lang="en-US" sz="1150" dirty="0"/>
          </a:p>
        </p:txBody>
      </p:sp>
      <p:sp>
        <p:nvSpPr>
          <p:cNvPr id="46" name="Text 44"/>
          <p:cNvSpPr/>
          <p:nvPr/>
        </p:nvSpPr>
        <p:spPr>
          <a:xfrm>
            <a:off x="685800" y="5532120"/>
            <a:ext cx="10424160" cy="731520"/>
          </a:xfrm>
          <a:prstGeom prst="rect">
            <a:avLst/>
          </a:prstGeom>
          <a:noFill/>
          <a:ln/>
        </p:spPr>
        <p:txBody>
          <a:bodyPr wrap="square" lIns="0" tIns="0" rIns="0" bIns="0" rtlCol="0" anchor="t"/>
          <a:lstStyle/>
          <a:p>
            <a:pPr algn="l" indent="0" marL="0">
              <a:lnSpc>
                <a:spcPts val="2250"/>
              </a:lnSpc>
              <a:buNone/>
            </a:pPr>
            <a:r>
              <a:rPr lang="en-US" sz="1500" dirty="0">
                <a:solidFill>
                  <a:srgbClr val="3D4644"/>
                </a:solidFill>
                <a:latin typeface="Calibri" pitchFamily="34" charset="0"/>
                <a:ea typeface="Calibri" pitchFamily="34" charset="-122"/>
                <a:cs typeface="Calibri" pitchFamily="34" charset="-120"/>
              </a:rPr>
              <a:t>Six months from now, “where was this pallet on 20 August, and who moved it?” takes five seconds to answer — and the answer exports to Excel for an auditor.</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2F3F0"/>
        </a:solidFill>
      </p:bgPr>
    </p:bg>
    <p:spTree>
      <p:nvGrpSpPr>
        <p:cNvPr id="1" name=""/>
        <p:cNvGrpSpPr/>
        <p:nvPr/>
      </p:nvGrpSpPr>
      <p:grpSpPr>
        <a:xfrm>
          <a:off x="0" y="0"/>
          <a:ext cx="0" cy="0"/>
          <a:chOff x="0" y="0"/>
          <a:chExt cx="0" cy="0"/>
        </a:xfrm>
      </p:grpSpPr>
      <p:sp>
        <p:nvSpPr>
          <p:cNvPr id="2" name="Text 0"/>
          <p:cNvSpPr/>
          <p:nvPr/>
        </p:nvSpPr>
        <p:spPr>
          <a:xfrm>
            <a:off x="685800" y="502920"/>
            <a:ext cx="10820095" cy="274320"/>
          </a:xfrm>
          <a:prstGeom prst="rect">
            <a:avLst/>
          </a:prstGeom>
          <a:noFill/>
          <a:ln/>
        </p:spPr>
        <p:txBody>
          <a:bodyPr wrap="square" lIns="0" tIns="0" rIns="0" bIns="0" rtlCol="0" anchor="ctr"/>
          <a:lstStyle/>
          <a:p>
            <a:pPr indent="0" marL="0">
              <a:buNone/>
            </a:pPr>
            <a:r>
              <a:rPr lang="en-US" sz="1100" b="1" spc="220" kern="0" dirty="0">
                <a:solidFill>
                  <a:srgbClr val="C9990B"/>
                </a:solidFill>
                <a:latin typeface="Courier New" pitchFamily="34" charset="0"/>
                <a:ea typeface="Courier New" pitchFamily="34" charset="-122"/>
                <a:cs typeface="Courier New" pitchFamily="34" charset="-120"/>
              </a:rPr>
              <a:t>A SMALL BUT IMPORTANT DETAIL</a:t>
            </a:r>
            <a:endParaRPr lang="en-US" sz="1100" dirty="0"/>
          </a:p>
        </p:txBody>
      </p:sp>
      <p:sp>
        <p:nvSpPr>
          <p:cNvPr id="3" name="Text 1"/>
          <p:cNvSpPr/>
          <p:nvPr/>
        </p:nvSpPr>
        <p:spPr>
          <a:xfrm>
            <a:off x="685800" y="914400"/>
            <a:ext cx="10058400" cy="1051560"/>
          </a:xfrm>
          <a:prstGeom prst="rect">
            <a:avLst/>
          </a:prstGeom>
          <a:noFill/>
          <a:ln/>
        </p:spPr>
        <p:txBody>
          <a:bodyPr wrap="square" lIns="0" tIns="0" rIns="0" bIns="0" rtlCol="0" anchor="t"/>
          <a:lstStyle/>
          <a:p>
            <a:pPr indent="0" marL="0">
              <a:lnSpc>
                <a:spcPts val="4032"/>
              </a:lnSpc>
              <a:buNone/>
            </a:pPr>
            <a:r>
              <a:rPr lang="en-US" sz="3600" b="1" dirty="0">
                <a:solidFill>
                  <a:srgbClr val="101314"/>
                </a:solidFill>
                <a:latin typeface="Cambria" pitchFamily="34" charset="0"/>
                <a:ea typeface="Cambria" pitchFamily="34" charset="-122"/>
                <a:cs typeface="Cambria" pitchFamily="34" charset="-120"/>
              </a:rPr>
              <a:t>Pallet numbers work like invoice numbers.</a:t>
            </a:r>
            <a:endParaRPr lang="en-US" sz="3600" dirty="0"/>
          </a:p>
        </p:txBody>
      </p:sp>
      <p:sp>
        <p:nvSpPr>
          <p:cNvPr id="4" name="Text 2"/>
          <p:cNvSpPr/>
          <p:nvPr/>
        </p:nvSpPr>
        <p:spPr>
          <a:xfrm>
            <a:off x="685800" y="2148840"/>
            <a:ext cx="8229600" cy="457200"/>
          </a:xfrm>
          <a:prstGeom prst="rect">
            <a:avLst/>
          </a:prstGeom>
          <a:noFill/>
          <a:ln/>
        </p:spPr>
        <p:txBody>
          <a:bodyPr wrap="square" lIns="0" tIns="0" rIns="0" bIns="0" rtlCol="0" anchor="t"/>
          <a:lstStyle/>
          <a:p>
            <a:pPr algn="l" indent="0" marL="0">
              <a:lnSpc>
                <a:spcPts val="2700"/>
              </a:lnSpc>
              <a:buNone/>
            </a:pPr>
            <a:r>
              <a:rPr lang="en-US" sz="1800" dirty="0">
                <a:solidFill>
                  <a:srgbClr val="3D4644"/>
                </a:solidFill>
                <a:latin typeface="Calibri" pitchFamily="34" charset="0"/>
                <a:ea typeface="Calibri" pitchFamily="34" charset="-122"/>
                <a:cs typeface="Calibri" pitchFamily="34" charset="-120"/>
              </a:rPr>
              <a:t>They count upwards. They are never reused, even after a pallet is finished.</a:t>
            </a:r>
            <a:endParaRPr lang="en-US" sz="1800" dirty="0"/>
          </a:p>
        </p:txBody>
      </p:sp>
      <p:sp>
        <p:nvSpPr>
          <p:cNvPr id="5" name="Shape 3"/>
          <p:cNvSpPr/>
          <p:nvPr/>
        </p:nvSpPr>
        <p:spPr>
          <a:xfrm>
            <a:off x="685800" y="2880360"/>
            <a:ext cx="1627632" cy="566928"/>
          </a:xfrm>
          <a:prstGeom prst="roundRect">
            <a:avLst>
              <a:gd name="adj" fmla="val 9677"/>
            </a:avLst>
          </a:prstGeom>
          <a:solidFill>
            <a:srgbClr val="F2F3F0"/>
          </a:solidFill>
          <a:ln w="12700">
            <a:solidFill>
              <a:srgbClr val="D3D7D0"/>
            </a:solidFill>
            <a:prstDash val="solid"/>
          </a:ln>
        </p:spPr>
      </p:sp>
      <p:sp>
        <p:nvSpPr>
          <p:cNvPr id="6" name="Text 4"/>
          <p:cNvSpPr/>
          <p:nvPr/>
        </p:nvSpPr>
        <p:spPr>
          <a:xfrm>
            <a:off x="685800" y="2880360"/>
            <a:ext cx="1627632" cy="566928"/>
          </a:xfrm>
          <a:prstGeom prst="rect">
            <a:avLst/>
          </a:prstGeom>
          <a:noFill/>
          <a:ln/>
        </p:spPr>
        <p:txBody>
          <a:bodyPr wrap="square" lIns="0" tIns="0" rIns="0" bIns="0" rtlCol="0" anchor="ctr"/>
          <a:lstStyle/>
          <a:p>
            <a:pPr algn="ctr" indent="0" marL="0">
              <a:buNone/>
            </a:pPr>
            <a:r>
              <a:rPr lang="en-US" sz="1400" strike="sngStrike" dirty="0">
                <a:solidFill>
                  <a:srgbClr val="6D7673"/>
                </a:solidFill>
                <a:latin typeface="Courier New" pitchFamily="34" charset="0"/>
                <a:ea typeface="Courier New" pitchFamily="34" charset="-122"/>
                <a:cs typeface="Courier New" pitchFamily="34" charset="-120"/>
              </a:rPr>
              <a:t>14250-001</a:t>
            </a:r>
            <a:endParaRPr lang="en-US" sz="1400" dirty="0"/>
          </a:p>
        </p:txBody>
      </p:sp>
      <p:sp>
        <p:nvSpPr>
          <p:cNvPr id="7" name="Shape 5"/>
          <p:cNvSpPr/>
          <p:nvPr/>
        </p:nvSpPr>
        <p:spPr>
          <a:xfrm>
            <a:off x="2441448" y="2880360"/>
            <a:ext cx="1627632" cy="566928"/>
          </a:xfrm>
          <a:prstGeom prst="roundRect">
            <a:avLst>
              <a:gd name="adj" fmla="val 9677"/>
            </a:avLst>
          </a:prstGeom>
          <a:solidFill>
            <a:srgbClr val="F2F3F0"/>
          </a:solidFill>
          <a:ln w="12700">
            <a:solidFill>
              <a:srgbClr val="D3D7D0"/>
            </a:solidFill>
            <a:prstDash val="solid"/>
          </a:ln>
        </p:spPr>
      </p:sp>
      <p:sp>
        <p:nvSpPr>
          <p:cNvPr id="8" name="Text 6"/>
          <p:cNvSpPr/>
          <p:nvPr/>
        </p:nvSpPr>
        <p:spPr>
          <a:xfrm>
            <a:off x="2441448" y="2880360"/>
            <a:ext cx="1627632" cy="566928"/>
          </a:xfrm>
          <a:prstGeom prst="rect">
            <a:avLst/>
          </a:prstGeom>
          <a:noFill/>
          <a:ln/>
        </p:spPr>
        <p:txBody>
          <a:bodyPr wrap="square" lIns="0" tIns="0" rIns="0" bIns="0" rtlCol="0" anchor="ctr"/>
          <a:lstStyle/>
          <a:p>
            <a:pPr algn="ctr" indent="0" marL="0">
              <a:buNone/>
            </a:pPr>
            <a:r>
              <a:rPr lang="en-US" sz="1400" strike="sngStrike" dirty="0">
                <a:solidFill>
                  <a:srgbClr val="6D7673"/>
                </a:solidFill>
                <a:latin typeface="Courier New" pitchFamily="34" charset="0"/>
                <a:ea typeface="Courier New" pitchFamily="34" charset="-122"/>
                <a:cs typeface="Courier New" pitchFamily="34" charset="-120"/>
              </a:rPr>
              <a:t>14250-002</a:t>
            </a:r>
            <a:endParaRPr lang="en-US" sz="1400" dirty="0"/>
          </a:p>
        </p:txBody>
      </p:sp>
      <p:sp>
        <p:nvSpPr>
          <p:cNvPr id="9" name="Shape 7"/>
          <p:cNvSpPr/>
          <p:nvPr/>
        </p:nvSpPr>
        <p:spPr>
          <a:xfrm>
            <a:off x="4197096" y="2880360"/>
            <a:ext cx="1627632" cy="566928"/>
          </a:xfrm>
          <a:prstGeom prst="roundRect">
            <a:avLst>
              <a:gd name="adj" fmla="val 9677"/>
            </a:avLst>
          </a:prstGeom>
          <a:solidFill>
            <a:srgbClr val="F2F3F0"/>
          </a:solidFill>
          <a:ln w="12700">
            <a:solidFill>
              <a:srgbClr val="D3D7D0"/>
            </a:solidFill>
            <a:prstDash val="solid"/>
          </a:ln>
        </p:spPr>
      </p:sp>
      <p:sp>
        <p:nvSpPr>
          <p:cNvPr id="10" name="Text 8"/>
          <p:cNvSpPr/>
          <p:nvPr/>
        </p:nvSpPr>
        <p:spPr>
          <a:xfrm>
            <a:off x="4197096" y="2880360"/>
            <a:ext cx="1627632" cy="566928"/>
          </a:xfrm>
          <a:prstGeom prst="rect">
            <a:avLst/>
          </a:prstGeom>
          <a:noFill/>
          <a:ln/>
        </p:spPr>
        <p:txBody>
          <a:bodyPr wrap="square" lIns="0" tIns="0" rIns="0" bIns="0" rtlCol="0" anchor="ctr"/>
          <a:lstStyle/>
          <a:p>
            <a:pPr algn="ctr" indent="0" marL="0">
              <a:buNone/>
            </a:pPr>
            <a:r>
              <a:rPr lang="en-US" sz="1400" strike="sngStrike" dirty="0">
                <a:solidFill>
                  <a:srgbClr val="6D7673"/>
                </a:solidFill>
                <a:latin typeface="Courier New" pitchFamily="34" charset="0"/>
                <a:ea typeface="Courier New" pitchFamily="34" charset="-122"/>
                <a:cs typeface="Courier New" pitchFamily="34" charset="-120"/>
              </a:rPr>
              <a:t>14250-003</a:t>
            </a:r>
            <a:endParaRPr lang="en-US" sz="1400" dirty="0"/>
          </a:p>
        </p:txBody>
      </p:sp>
      <p:sp>
        <p:nvSpPr>
          <p:cNvPr id="11" name="Shape 9"/>
          <p:cNvSpPr/>
          <p:nvPr/>
        </p:nvSpPr>
        <p:spPr>
          <a:xfrm>
            <a:off x="5952744" y="2880360"/>
            <a:ext cx="1627632" cy="566928"/>
          </a:xfrm>
          <a:prstGeom prst="roundRect">
            <a:avLst>
              <a:gd name="adj" fmla="val 9677"/>
            </a:avLst>
          </a:prstGeom>
          <a:solidFill>
            <a:srgbClr val="F6DFDA"/>
          </a:solidFill>
          <a:ln w="22225">
            <a:solidFill>
              <a:srgbClr val="A93B2C"/>
            </a:solidFill>
            <a:prstDash val="solid"/>
          </a:ln>
        </p:spPr>
      </p:sp>
      <p:sp>
        <p:nvSpPr>
          <p:cNvPr id="12" name="Text 10"/>
          <p:cNvSpPr/>
          <p:nvPr/>
        </p:nvSpPr>
        <p:spPr>
          <a:xfrm>
            <a:off x="5952744" y="2880360"/>
            <a:ext cx="1627632" cy="566928"/>
          </a:xfrm>
          <a:prstGeom prst="rect">
            <a:avLst/>
          </a:prstGeom>
          <a:noFill/>
          <a:ln/>
        </p:spPr>
        <p:txBody>
          <a:bodyPr wrap="square" lIns="0" tIns="0" rIns="0" bIns="0" rtlCol="0" anchor="ctr"/>
          <a:lstStyle/>
          <a:p>
            <a:pPr algn="ctr" indent="0" marL="0">
              <a:buNone/>
            </a:pPr>
            <a:r>
              <a:rPr lang="en-US" sz="1400" b="1" dirty="0">
                <a:solidFill>
                  <a:srgbClr val="A93B2C"/>
                </a:solidFill>
                <a:latin typeface="Courier New" pitchFamily="34" charset="0"/>
                <a:ea typeface="Courier New" pitchFamily="34" charset="-122"/>
                <a:cs typeface="Courier New" pitchFamily="34" charset="-120"/>
              </a:rPr>
              <a:t>14250-004</a:t>
            </a:r>
            <a:endParaRPr lang="en-US" sz="1400" dirty="0"/>
          </a:p>
        </p:txBody>
      </p:sp>
      <p:sp>
        <p:nvSpPr>
          <p:cNvPr id="13" name="Shape 11"/>
          <p:cNvSpPr/>
          <p:nvPr/>
        </p:nvSpPr>
        <p:spPr>
          <a:xfrm>
            <a:off x="7708392" y="2880360"/>
            <a:ext cx="1627632" cy="566928"/>
          </a:xfrm>
          <a:prstGeom prst="roundRect">
            <a:avLst>
              <a:gd name="adj" fmla="val 9677"/>
            </a:avLst>
          </a:prstGeom>
          <a:solidFill>
            <a:srgbClr val="F6DFDA"/>
          </a:solidFill>
          <a:ln w="22225">
            <a:solidFill>
              <a:srgbClr val="A93B2C"/>
            </a:solidFill>
            <a:prstDash val="solid"/>
          </a:ln>
        </p:spPr>
      </p:sp>
      <p:sp>
        <p:nvSpPr>
          <p:cNvPr id="14" name="Text 12"/>
          <p:cNvSpPr/>
          <p:nvPr/>
        </p:nvSpPr>
        <p:spPr>
          <a:xfrm>
            <a:off x="7708392" y="2880360"/>
            <a:ext cx="1627632" cy="566928"/>
          </a:xfrm>
          <a:prstGeom prst="rect">
            <a:avLst/>
          </a:prstGeom>
          <a:noFill/>
          <a:ln/>
        </p:spPr>
        <p:txBody>
          <a:bodyPr wrap="square" lIns="0" tIns="0" rIns="0" bIns="0" rtlCol="0" anchor="ctr"/>
          <a:lstStyle/>
          <a:p>
            <a:pPr algn="ctr" indent="0" marL="0">
              <a:buNone/>
            </a:pPr>
            <a:r>
              <a:rPr lang="en-US" sz="1400" b="1" dirty="0">
                <a:solidFill>
                  <a:srgbClr val="A93B2C"/>
                </a:solidFill>
                <a:latin typeface="Courier New" pitchFamily="34" charset="0"/>
                <a:ea typeface="Courier New" pitchFamily="34" charset="-122"/>
                <a:cs typeface="Courier New" pitchFamily="34" charset="-120"/>
              </a:rPr>
              <a:t>14250-005</a:t>
            </a:r>
            <a:endParaRPr lang="en-US" sz="1400" dirty="0"/>
          </a:p>
        </p:txBody>
      </p:sp>
      <p:sp>
        <p:nvSpPr>
          <p:cNvPr id="15" name="Shape 13"/>
          <p:cNvSpPr/>
          <p:nvPr/>
        </p:nvSpPr>
        <p:spPr>
          <a:xfrm>
            <a:off x="9464040" y="2880360"/>
            <a:ext cx="1627632" cy="566928"/>
          </a:xfrm>
          <a:prstGeom prst="roundRect">
            <a:avLst>
              <a:gd name="adj" fmla="val 9677"/>
            </a:avLst>
          </a:prstGeom>
          <a:solidFill>
            <a:srgbClr val="FBF3D8"/>
          </a:solidFill>
          <a:ln w="22225">
            <a:solidFill>
              <a:srgbClr val="C9990B"/>
            </a:solidFill>
            <a:prstDash val="solid"/>
          </a:ln>
        </p:spPr>
      </p:sp>
      <p:sp>
        <p:nvSpPr>
          <p:cNvPr id="16" name="Text 14"/>
          <p:cNvSpPr/>
          <p:nvPr/>
        </p:nvSpPr>
        <p:spPr>
          <a:xfrm>
            <a:off x="9464040" y="2880360"/>
            <a:ext cx="1627632" cy="566928"/>
          </a:xfrm>
          <a:prstGeom prst="rect">
            <a:avLst/>
          </a:prstGeom>
          <a:noFill/>
          <a:ln/>
        </p:spPr>
        <p:txBody>
          <a:bodyPr wrap="square" lIns="0" tIns="0" rIns="0" bIns="0" rtlCol="0" anchor="ctr"/>
          <a:lstStyle/>
          <a:p>
            <a:pPr algn="ctr" indent="0" marL="0">
              <a:buNone/>
            </a:pPr>
            <a:r>
              <a:rPr lang="en-US" sz="1400" b="1" dirty="0">
                <a:solidFill>
                  <a:srgbClr val="C9990B"/>
                </a:solidFill>
                <a:latin typeface="Courier New" pitchFamily="34" charset="0"/>
                <a:ea typeface="Courier New" pitchFamily="34" charset="-122"/>
                <a:cs typeface="Courier New" pitchFamily="34" charset="-120"/>
              </a:rPr>
              <a:t>14250-006</a:t>
            </a:r>
            <a:endParaRPr lang="en-US" sz="1400" dirty="0"/>
          </a:p>
        </p:txBody>
      </p:sp>
      <p:sp>
        <p:nvSpPr>
          <p:cNvPr id="17" name="Text 15"/>
          <p:cNvSpPr/>
          <p:nvPr/>
        </p:nvSpPr>
        <p:spPr>
          <a:xfrm>
            <a:off x="685800" y="3584448"/>
            <a:ext cx="4754880" cy="274320"/>
          </a:xfrm>
          <a:prstGeom prst="rect">
            <a:avLst/>
          </a:prstGeom>
          <a:noFill/>
          <a:ln/>
        </p:spPr>
        <p:txBody>
          <a:bodyPr wrap="square" lIns="0" tIns="0" rIns="0" bIns="0" rtlCol="0" anchor="ctr"/>
          <a:lstStyle/>
          <a:p>
            <a:pPr indent="0" marL="0">
              <a:buNone/>
            </a:pPr>
            <a:r>
              <a:rPr lang="en-US" sz="1150" b="1" dirty="0">
                <a:solidFill>
                  <a:srgbClr val="6D7673"/>
                </a:solidFill>
                <a:latin typeface="Calibri" pitchFamily="34" charset="0"/>
                <a:ea typeface="Calibri" pitchFamily="34" charset="-122"/>
                <a:cs typeface="Calibri" pitchFamily="34" charset="-120"/>
              </a:rPr>
              <a:t>finished and gone</a:t>
            </a:r>
            <a:endParaRPr lang="en-US" sz="1150" dirty="0"/>
          </a:p>
        </p:txBody>
      </p:sp>
      <p:sp>
        <p:nvSpPr>
          <p:cNvPr id="18" name="Text 16"/>
          <p:cNvSpPr/>
          <p:nvPr/>
        </p:nvSpPr>
        <p:spPr>
          <a:xfrm>
            <a:off x="5952744" y="3584448"/>
            <a:ext cx="3383280" cy="274320"/>
          </a:xfrm>
          <a:prstGeom prst="rect">
            <a:avLst/>
          </a:prstGeom>
          <a:noFill/>
          <a:ln/>
        </p:spPr>
        <p:txBody>
          <a:bodyPr wrap="square" lIns="0" tIns="0" rIns="0" bIns="0" rtlCol="0" anchor="ctr"/>
          <a:lstStyle/>
          <a:p>
            <a:pPr indent="0" marL="0">
              <a:buNone/>
            </a:pPr>
            <a:r>
              <a:rPr lang="en-US" sz="1150" b="1" dirty="0">
                <a:solidFill>
                  <a:srgbClr val="A93B2C"/>
                </a:solidFill>
                <a:latin typeface="Calibri" pitchFamily="34" charset="0"/>
                <a:ea typeface="Calibri" pitchFamily="34" charset="-122"/>
                <a:cs typeface="Calibri" pitchFamily="34" charset="-120"/>
              </a:rPr>
              <a:t>standing in the warehouse now</a:t>
            </a:r>
            <a:endParaRPr lang="en-US" sz="1150" dirty="0"/>
          </a:p>
        </p:txBody>
      </p:sp>
      <p:sp>
        <p:nvSpPr>
          <p:cNvPr id="19" name="Text 17"/>
          <p:cNvSpPr/>
          <p:nvPr/>
        </p:nvSpPr>
        <p:spPr>
          <a:xfrm>
            <a:off x="9464040" y="3584448"/>
            <a:ext cx="2194560" cy="274320"/>
          </a:xfrm>
          <a:prstGeom prst="rect">
            <a:avLst/>
          </a:prstGeom>
          <a:noFill/>
          <a:ln/>
        </p:spPr>
        <p:txBody>
          <a:bodyPr wrap="square" lIns="0" tIns="0" rIns="0" bIns="0" rtlCol="0" anchor="ctr"/>
          <a:lstStyle/>
          <a:p>
            <a:pPr indent="0" marL="0">
              <a:buNone/>
            </a:pPr>
            <a:r>
              <a:rPr lang="en-US" sz="1150" b="1" dirty="0">
                <a:solidFill>
                  <a:srgbClr val="C9990B"/>
                </a:solidFill>
                <a:latin typeface="Calibri" pitchFamily="34" charset="0"/>
                <a:ea typeface="Calibri" pitchFamily="34" charset="-122"/>
                <a:cs typeface="Calibri" pitchFamily="34" charset="-120"/>
              </a:rPr>
              <a:t>the next one to be issued</a:t>
            </a:r>
            <a:endParaRPr lang="en-US" sz="1150" dirty="0"/>
          </a:p>
        </p:txBody>
      </p:sp>
      <p:sp>
        <p:nvSpPr>
          <p:cNvPr id="20" name="Shape 18"/>
          <p:cNvSpPr/>
          <p:nvPr/>
        </p:nvSpPr>
        <p:spPr>
          <a:xfrm>
            <a:off x="685800" y="4114800"/>
            <a:ext cx="10817352" cy="1234440"/>
          </a:xfrm>
          <a:prstGeom prst="roundRect">
            <a:avLst>
              <a:gd name="adj" fmla="val 4444"/>
            </a:avLst>
          </a:prstGeom>
          <a:solidFill>
            <a:srgbClr val="FBF3D8"/>
          </a:solidFill>
          <a:ln w="19050">
            <a:solidFill>
              <a:srgbClr val="C9990B"/>
            </a:solidFill>
            <a:prstDash val="solid"/>
          </a:ln>
          <a:effectLst>
            <a:outerShdw sx="100000" sy="100000" kx="0" ky="0" algn="bl" rotWithShape="0" blurRad="177800" dist="38100" dir="5400000">
              <a:srgbClr val="101314">
                <a:alpha val="10000"/>
              </a:srgbClr>
            </a:outerShdw>
          </a:effectLst>
        </p:spPr>
      </p:sp>
      <p:sp>
        <p:nvSpPr>
          <p:cNvPr id="21" name="Text 19"/>
          <p:cNvSpPr/>
          <p:nvPr/>
        </p:nvSpPr>
        <p:spPr>
          <a:xfrm>
            <a:off x="1005840" y="4434840"/>
            <a:ext cx="10149840" cy="822960"/>
          </a:xfrm>
          <a:prstGeom prst="rect">
            <a:avLst/>
          </a:prstGeom>
          <a:noFill/>
          <a:ln/>
        </p:spPr>
        <p:txBody>
          <a:bodyPr wrap="square" lIns="0" tIns="0" rIns="0" bIns="0" rtlCol="0" anchor="t"/>
          <a:lstStyle/>
          <a:p>
            <a:pPr algn="l" indent="0" marL="0">
              <a:lnSpc>
                <a:spcPts val="2400"/>
              </a:lnSpc>
              <a:buNone/>
            </a:pPr>
            <a:r>
              <a:rPr lang="en-US" sz="1600" dirty="0">
                <a:solidFill>
                  <a:srgbClr val="101314"/>
                </a:solidFill>
                <a:latin typeface="Calibri" pitchFamily="34" charset="0"/>
                <a:ea typeface="Calibri" pitchFamily="34" charset="-122"/>
                <a:cs typeface="Calibri" pitchFamily="34" charset="-120"/>
              </a:rPr>
              <a:t>Because numbers only go up, the lowest number is always the oldest pallet. “Take the lowest number first” keeps stock rotating properly — with nothing to learn and nothing to configure.</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2F3F0"/>
        </a:solidFill>
      </p:bgPr>
    </p:bg>
    <p:spTree>
      <p:nvGrpSpPr>
        <p:cNvPr id="1" name=""/>
        <p:cNvGrpSpPr/>
        <p:nvPr/>
      </p:nvGrpSpPr>
      <p:grpSpPr>
        <a:xfrm>
          <a:off x="0" y="0"/>
          <a:ext cx="0" cy="0"/>
          <a:chOff x="0" y="0"/>
          <a:chExt cx="0" cy="0"/>
        </a:xfrm>
      </p:grpSpPr>
      <p:sp>
        <p:nvSpPr>
          <p:cNvPr id="2" name="Text 0"/>
          <p:cNvSpPr/>
          <p:nvPr/>
        </p:nvSpPr>
        <p:spPr>
          <a:xfrm>
            <a:off x="685800" y="502920"/>
            <a:ext cx="10820095" cy="274320"/>
          </a:xfrm>
          <a:prstGeom prst="rect">
            <a:avLst/>
          </a:prstGeom>
          <a:noFill/>
          <a:ln/>
        </p:spPr>
        <p:txBody>
          <a:bodyPr wrap="square" lIns="0" tIns="0" rIns="0" bIns="0" rtlCol="0" anchor="ctr"/>
          <a:lstStyle/>
          <a:p>
            <a:pPr indent="0" marL="0">
              <a:buNone/>
            </a:pPr>
            <a:r>
              <a:rPr lang="en-US" sz="1100" b="1" spc="220" kern="0" dirty="0">
                <a:solidFill>
                  <a:srgbClr val="C9990B"/>
                </a:solidFill>
                <a:latin typeface="Courier New" pitchFamily="34" charset="0"/>
                <a:ea typeface="Courier New" pitchFamily="34" charset="-122"/>
                <a:cs typeface="Courier New" pitchFamily="34" charset="-120"/>
              </a:rPr>
              <a:t>THE OBVIOUS OBJECTIONS</a:t>
            </a:r>
            <a:endParaRPr lang="en-US" sz="1100" dirty="0"/>
          </a:p>
        </p:txBody>
      </p:sp>
      <p:sp>
        <p:nvSpPr>
          <p:cNvPr id="3" name="Text 1"/>
          <p:cNvSpPr/>
          <p:nvPr/>
        </p:nvSpPr>
        <p:spPr>
          <a:xfrm>
            <a:off x="685800" y="914400"/>
            <a:ext cx="10820095" cy="1051560"/>
          </a:xfrm>
          <a:prstGeom prst="rect">
            <a:avLst/>
          </a:prstGeom>
          <a:noFill/>
          <a:ln/>
        </p:spPr>
        <p:txBody>
          <a:bodyPr wrap="square" lIns="0" tIns="0" rIns="0" bIns="0" rtlCol="0" anchor="t"/>
          <a:lstStyle/>
          <a:p>
            <a:pPr indent="0" marL="0">
              <a:lnSpc>
                <a:spcPts val="4256"/>
              </a:lnSpc>
              <a:buNone/>
            </a:pPr>
            <a:r>
              <a:rPr lang="en-US" sz="3800" b="1" dirty="0">
                <a:solidFill>
                  <a:srgbClr val="101314"/>
                </a:solidFill>
                <a:latin typeface="Cambria" pitchFamily="34" charset="0"/>
                <a:ea typeface="Cambria" pitchFamily="34" charset="-122"/>
                <a:cs typeface="Cambria" pitchFamily="34" charset="-120"/>
              </a:rPr>
              <a:t>“But what if…?”</a:t>
            </a:r>
            <a:endParaRPr lang="en-US" sz="3800" dirty="0"/>
          </a:p>
        </p:txBody>
      </p:sp>
      <p:sp>
        <p:nvSpPr>
          <p:cNvPr id="4" name="Shape 2"/>
          <p:cNvSpPr/>
          <p:nvPr/>
        </p:nvSpPr>
        <p:spPr>
          <a:xfrm>
            <a:off x="685800" y="2194560"/>
            <a:ext cx="3456432" cy="1417320"/>
          </a:xfrm>
          <a:prstGeom prst="roundRect">
            <a:avLst>
              <a:gd name="adj" fmla="val 3871"/>
            </a:avLst>
          </a:prstGeom>
          <a:solidFill>
            <a:srgbClr val="FFFFFF"/>
          </a:solidFill>
          <a:ln w="12700">
            <a:solidFill>
              <a:srgbClr val="D3D7D0"/>
            </a:solidFill>
            <a:prstDash val="solid"/>
          </a:ln>
          <a:effectLst>
            <a:outerShdw sx="100000" sy="100000" kx="0" ky="0" algn="bl" rotWithShape="0" blurRad="177800" dist="38100" dir="5400000">
              <a:srgbClr val="101314">
                <a:alpha val="10000"/>
              </a:srgbClr>
            </a:outerShdw>
          </a:effectLst>
        </p:spPr>
      </p:sp>
      <p:sp>
        <p:nvSpPr>
          <p:cNvPr id="5" name="Text 3"/>
          <p:cNvSpPr/>
          <p:nvPr/>
        </p:nvSpPr>
        <p:spPr>
          <a:xfrm>
            <a:off x="923544" y="2340864"/>
            <a:ext cx="2980944" cy="475488"/>
          </a:xfrm>
          <a:prstGeom prst="rect">
            <a:avLst/>
          </a:prstGeom>
          <a:noFill/>
          <a:ln/>
        </p:spPr>
        <p:txBody>
          <a:bodyPr wrap="square" lIns="0" tIns="0" rIns="0" bIns="0" rtlCol="0" anchor="t"/>
          <a:lstStyle/>
          <a:p>
            <a:pPr indent="0" marL="0">
              <a:lnSpc>
                <a:spcPts val="1700"/>
              </a:lnSpc>
              <a:buNone/>
            </a:pPr>
            <a:r>
              <a:rPr lang="en-US" sz="1350" b="1" dirty="0">
                <a:solidFill>
                  <a:srgbClr val="101314"/>
                </a:solidFill>
                <a:latin typeface="Cambria" pitchFamily="34" charset="0"/>
                <a:ea typeface="Cambria" pitchFamily="34" charset="-122"/>
                <a:cs typeface="Cambria" pitchFamily="34" charset="-120"/>
              </a:rPr>
              <a:t>The label gets torn off?</a:t>
            </a:r>
            <a:endParaRPr lang="en-US" sz="1350" dirty="0"/>
          </a:p>
        </p:txBody>
      </p:sp>
      <p:sp>
        <p:nvSpPr>
          <p:cNvPr id="6" name="Text 4"/>
          <p:cNvSpPr/>
          <p:nvPr/>
        </p:nvSpPr>
        <p:spPr>
          <a:xfrm>
            <a:off x="923544" y="2871216"/>
            <a:ext cx="2980944" cy="658368"/>
          </a:xfrm>
          <a:prstGeom prst="rect">
            <a:avLst/>
          </a:prstGeom>
          <a:noFill/>
          <a:ln/>
        </p:spPr>
        <p:txBody>
          <a:bodyPr wrap="square" lIns="0" tIns="0" rIns="0" bIns="0" rtlCol="0" anchor="t"/>
          <a:lstStyle/>
          <a:p>
            <a:pPr algn="l" indent="0" marL="0">
              <a:lnSpc>
                <a:spcPts val="1875"/>
              </a:lnSpc>
              <a:buNone/>
            </a:pPr>
            <a:r>
              <a:rPr lang="en-US" sz="1250" dirty="0">
                <a:solidFill>
                  <a:srgbClr val="3D4644"/>
                </a:solidFill>
                <a:latin typeface="Calibri" pitchFamily="34" charset="0"/>
                <a:ea typeface="Calibri" pitchFamily="34" charset="-122"/>
                <a:cs typeface="Calibri" pitchFamily="34" charset="-120"/>
              </a:rPr>
              <a:t>The code is also printed in plain letters. Type it, or reprint the label in one tap.</a:t>
            </a:r>
            <a:endParaRPr lang="en-US" sz="1250" dirty="0"/>
          </a:p>
        </p:txBody>
      </p:sp>
      <p:sp>
        <p:nvSpPr>
          <p:cNvPr id="7" name="Shape 5"/>
          <p:cNvSpPr/>
          <p:nvPr/>
        </p:nvSpPr>
        <p:spPr>
          <a:xfrm>
            <a:off x="4361688" y="2194560"/>
            <a:ext cx="3456432" cy="1417320"/>
          </a:xfrm>
          <a:prstGeom prst="roundRect">
            <a:avLst>
              <a:gd name="adj" fmla="val 3871"/>
            </a:avLst>
          </a:prstGeom>
          <a:solidFill>
            <a:srgbClr val="FFFFFF"/>
          </a:solidFill>
          <a:ln w="12700">
            <a:solidFill>
              <a:srgbClr val="D3D7D0"/>
            </a:solidFill>
            <a:prstDash val="solid"/>
          </a:ln>
          <a:effectLst>
            <a:outerShdw sx="100000" sy="100000" kx="0" ky="0" algn="bl" rotWithShape="0" blurRad="177800" dist="38100" dir="5400000">
              <a:srgbClr val="101314">
                <a:alpha val="10000"/>
              </a:srgbClr>
            </a:outerShdw>
          </a:effectLst>
        </p:spPr>
      </p:sp>
      <p:sp>
        <p:nvSpPr>
          <p:cNvPr id="8" name="Text 6"/>
          <p:cNvSpPr/>
          <p:nvPr/>
        </p:nvSpPr>
        <p:spPr>
          <a:xfrm>
            <a:off x="4599432" y="2340864"/>
            <a:ext cx="2980944" cy="475488"/>
          </a:xfrm>
          <a:prstGeom prst="rect">
            <a:avLst/>
          </a:prstGeom>
          <a:noFill/>
          <a:ln/>
        </p:spPr>
        <p:txBody>
          <a:bodyPr wrap="square" lIns="0" tIns="0" rIns="0" bIns="0" rtlCol="0" anchor="t"/>
          <a:lstStyle/>
          <a:p>
            <a:pPr indent="0" marL="0">
              <a:lnSpc>
                <a:spcPts val="1700"/>
              </a:lnSpc>
              <a:buNone/>
            </a:pPr>
            <a:r>
              <a:rPr lang="en-US" sz="1350" b="1" dirty="0">
                <a:solidFill>
                  <a:srgbClr val="101314"/>
                </a:solidFill>
                <a:latin typeface="Cambria" pitchFamily="34" charset="0"/>
                <a:ea typeface="Cambria" pitchFamily="34" charset="-122"/>
                <a:cs typeface="Cambria" pitchFamily="34" charset="-120"/>
              </a:rPr>
              <a:t>There's no wifi in that aisle?</a:t>
            </a:r>
            <a:endParaRPr lang="en-US" sz="1350" dirty="0"/>
          </a:p>
        </p:txBody>
      </p:sp>
      <p:sp>
        <p:nvSpPr>
          <p:cNvPr id="9" name="Text 7"/>
          <p:cNvSpPr/>
          <p:nvPr/>
        </p:nvSpPr>
        <p:spPr>
          <a:xfrm>
            <a:off x="4599432" y="2871216"/>
            <a:ext cx="2980944" cy="658368"/>
          </a:xfrm>
          <a:prstGeom prst="rect">
            <a:avLst/>
          </a:prstGeom>
          <a:noFill/>
          <a:ln/>
        </p:spPr>
        <p:txBody>
          <a:bodyPr wrap="square" lIns="0" tIns="0" rIns="0" bIns="0" rtlCol="0" anchor="t"/>
          <a:lstStyle/>
          <a:p>
            <a:pPr algn="l" indent="0" marL="0">
              <a:lnSpc>
                <a:spcPts val="1875"/>
              </a:lnSpc>
              <a:buNone/>
            </a:pPr>
            <a:r>
              <a:rPr lang="en-US" sz="1250" dirty="0">
                <a:solidFill>
                  <a:srgbClr val="3D4644"/>
                </a:solidFill>
                <a:latin typeface="Calibri" pitchFamily="34" charset="0"/>
                <a:ea typeface="Calibri" pitchFamily="34" charset="-122"/>
                <a:cs typeface="Calibri" pitchFamily="34" charset="-120"/>
              </a:rPr>
              <a:t>The phone keeps the scans and sends them when signal returns. The worker notices nothing.</a:t>
            </a:r>
            <a:endParaRPr lang="en-US" sz="1250" dirty="0"/>
          </a:p>
        </p:txBody>
      </p:sp>
      <p:sp>
        <p:nvSpPr>
          <p:cNvPr id="10" name="Shape 8"/>
          <p:cNvSpPr/>
          <p:nvPr/>
        </p:nvSpPr>
        <p:spPr>
          <a:xfrm>
            <a:off x="8037576" y="2194560"/>
            <a:ext cx="3456432" cy="1417320"/>
          </a:xfrm>
          <a:prstGeom prst="roundRect">
            <a:avLst>
              <a:gd name="adj" fmla="val 3871"/>
            </a:avLst>
          </a:prstGeom>
          <a:solidFill>
            <a:srgbClr val="FFFFFF"/>
          </a:solidFill>
          <a:ln w="12700">
            <a:solidFill>
              <a:srgbClr val="D3D7D0"/>
            </a:solidFill>
            <a:prstDash val="solid"/>
          </a:ln>
          <a:effectLst>
            <a:outerShdw sx="100000" sy="100000" kx="0" ky="0" algn="bl" rotWithShape="0" blurRad="177800" dist="38100" dir="5400000">
              <a:srgbClr val="101314">
                <a:alpha val="10000"/>
              </a:srgbClr>
            </a:outerShdw>
          </a:effectLst>
        </p:spPr>
      </p:sp>
      <p:sp>
        <p:nvSpPr>
          <p:cNvPr id="11" name="Text 9"/>
          <p:cNvSpPr/>
          <p:nvPr/>
        </p:nvSpPr>
        <p:spPr>
          <a:xfrm>
            <a:off x="8275320" y="2340864"/>
            <a:ext cx="2980944" cy="475488"/>
          </a:xfrm>
          <a:prstGeom prst="rect">
            <a:avLst/>
          </a:prstGeom>
          <a:noFill/>
          <a:ln/>
        </p:spPr>
        <p:txBody>
          <a:bodyPr wrap="square" lIns="0" tIns="0" rIns="0" bIns="0" rtlCol="0" anchor="t"/>
          <a:lstStyle/>
          <a:p>
            <a:pPr indent="0" marL="0">
              <a:lnSpc>
                <a:spcPts val="1700"/>
              </a:lnSpc>
              <a:buNone/>
            </a:pPr>
            <a:r>
              <a:rPr lang="en-US" sz="1350" b="1" dirty="0">
                <a:solidFill>
                  <a:srgbClr val="101314"/>
                </a:solidFill>
                <a:latin typeface="Cambria" pitchFamily="34" charset="0"/>
                <a:ea typeface="Cambria" pitchFamily="34" charset="-122"/>
                <a:cs typeface="Cambria" pitchFamily="34" charset="-120"/>
              </a:rPr>
              <a:t>Someone uses a shelf that is full?</a:t>
            </a:r>
            <a:endParaRPr lang="en-US" sz="1350" dirty="0"/>
          </a:p>
        </p:txBody>
      </p:sp>
      <p:sp>
        <p:nvSpPr>
          <p:cNvPr id="12" name="Text 10"/>
          <p:cNvSpPr/>
          <p:nvPr/>
        </p:nvSpPr>
        <p:spPr>
          <a:xfrm>
            <a:off x="8275320" y="2871216"/>
            <a:ext cx="2980944" cy="658368"/>
          </a:xfrm>
          <a:prstGeom prst="rect">
            <a:avLst/>
          </a:prstGeom>
          <a:noFill/>
          <a:ln/>
        </p:spPr>
        <p:txBody>
          <a:bodyPr wrap="square" lIns="0" tIns="0" rIns="0" bIns="0" rtlCol="0" anchor="t"/>
          <a:lstStyle/>
          <a:p>
            <a:pPr algn="l" indent="0" marL="0">
              <a:lnSpc>
                <a:spcPts val="1875"/>
              </a:lnSpc>
              <a:buNone/>
            </a:pPr>
            <a:r>
              <a:rPr lang="en-US" sz="1250" dirty="0">
                <a:solidFill>
                  <a:srgbClr val="3D4644"/>
                </a:solidFill>
                <a:latin typeface="Calibri" pitchFamily="34" charset="0"/>
                <a:ea typeface="Calibri" pitchFamily="34" charset="-122"/>
                <a:cs typeface="Calibri" pitchFamily="34" charset="-120"/>
              </a:rPr>
              <a:t>The app stops them and offers the nearest free place — one of only two things it ever refuses.</a:t>
            </a:r>
            <a:endParaRPr lang="en-US" sz="1250" dirty="0"/>
          </a:p>
        </p:txBody>
      </p:sp>
      <p:sp>
        <p:nvSpPr>
          <p:cNvPr id="13" name="Shape 11"/>
          <p:cNvSpPr/>
          <p:nvPr/>
        </p:nvSpPr>
        <p:spPr>
          <a:xfrm>
            <a:off x="685800" y="3794760"/>
            <a:ext cx="3456432" cy="1417320"/>
          </a:xfrm>
          <a:prstGeom prst="roundRect">
            <a:avLst>
              <a:gd name="adj" fmla="val 3871"/>
            </a:avLst>
          </a:prstGeom>
          <a:solidFill>
            <a:srgbClr val="FFFFFF"/>
          </a:solidFill>
          <a:ln w="12700">
            <a:solidFill>
              <a:srgbClr val="D3D7D0"/>
            </a:solidFill>
            <a:prstDash val="solid"/>
          </a:ln>
          <a:effectLst>
            <a:outerShdw sx="100000" sy="100000" kx="0" ky="0" algn="bl" rotWithShape="0" blurRad="177800" dist="38100" dir="5400000">
              <a:srgbClr val="101314">
                <a:alpha val="10000"/>
              </a:srgbClr>
            </a:outerShdw>
          </a:effectLst>
        </p:spPr>
      </p:sp>
      <p:sp>
        <p:nvSpPr>
          <p:cNvPr id="14" name="Text 12"/>
          <p:cNvSpPr/>
          <p:nvPr/>
        </p:nvSpPr>
        <p:spPr>
          <a:xfrm>
            <a:off x="923544" y="3941064"/>
            <a:ext cx="2980944" cy="475488"/>
          </a:xfrm>
          <a:prstGeom prst="rect">
            <a:avLst/>
          </a:prstGeom>
          <a:noFill/>
          <a:ln/>
        </p:spPr>
        <p:txBody>
          <a:bodyPr wrap="square" lIns="0" tIns="0" rIns="0" bIns="0" rtlCol="0" anchor="t"/>
          <a:lstStyle/>
          <a:p>
            <a:pPr indent="0" marL="0">
              <a:lnSpc>
                <a:spcPts val="1700"/>
              </a:lnSpc>
              <a:buNone/>
            </a:pPr>
            <a:r>
              <a:rPr lang="en-US" sz="1350" b="1" dirty="0">
                <a:solidFill>
                  <a:srgbClr val="101314"/>
                </a:solidFill>
                <a:latin typeface="Cambria" pitchFamily="34" charset="0"/>
                <a:ea typeface="Cambria" pitchFamily="34" charset="-122"/>
                <a:cs typeface="Cambria" pitchFamily="34" charset="-120"/>
              </a:rPr>
              <a:t>Somebody forgets to scan?</a:t>
            </a:r>
            <a:endParaRPr lang="en-US" sz="1350" dirty="0"/>
          </a:p>
        </p:txBody>
      </p:sp>
      <p:sp>
        <p:nvSpPr>
          <p:cNvPr id="15" name="Text 13"/>
          <p:cNvSpPr/>
          <p:nvPr/>
        </p:nvSpPr>
        <p:spPr>
          <a:xfrm>
            <a:off x="923544" y="4471416"/>
            <a:ext cx="2980944" cy="658368"/>
          </a:xfrm>
          <a:prstGeom prst="rect">
            <a:avLst/>
          </a:prstGeom>
          <a:noFill/>
          <a:ln/>
        </p:spPr>
        <p:txBody>
          <a:bodyPr wrap="square" lIns="0" tIns="0" rIns="0" bIns="0" rtlCol="0" anchor="t"/>
          <a:lstStyle/>
          <a:p>
            <a:pPr algn="l" indent="0" marL="0">
              <a:lnSpc>
                <a:spcPts val="1875"/>
              </a:lnSpc>
              <a:buNone/>
            </a:pPr>
            <a:r>
              <a:rPr lang="en-US" sz="1250" dirty="0">
                <a:solidFill>
                  <a:srgbClr val="3D4644"/>
                </a:solidFill>
                <a:latin typeface="Calibri" pitchFamily="34" charset="0"/>
                <a:ea typeface="Calibri" pitchFamily="34" charset="-122"/>
                <a:cs typeface="Calibri" pitchFamily="34" charset="-120"/>
              </a:rPr>
              <a:t>The next person who finds the shelf empty taps “this rack is actually empty”, and it corrects itself.</a:t>
            </a:r>
            <a:endParaRPr lang="en-US" sz="1250" dirty="0"/>
          </a:p>
        </p:txBody>
      </p:sp>
      <p:sp>
        <p:nvSpPr>
          <p:cNvPr id="16" name="Shape 14"/>
          <p:cNvSpPr/>
          <p:nvPr/>
        </p:nvSpPr>
        <p:spPr>
          <a:xfrm>
            <a:off x="4361688" y="3794760"/>
            <a:ext cx="3456432" cy="1417320"/>
          </a:xfrm>
          <a:prstGeom prst="roundRect">
            <a:avLst>
              <a:gd name="adj" fmla="val 3871"/>
            </a:avLst>
          </a:prstGeom>
          <a:solidFill>
            <a:srgbClr val="FFFFFF"/>
          </a:solidFill>
          <a:ln w="12700">
            <a:solidFill>
              <a:srgbClr val="D3D7D0"/>
            </a:solidFill>
            <a:prstDash val="solid"/>
          </a:ln>
          <a:effectLst>
            <a:outerShdw sx="100000" sy="100000" kx="0" ky="0" algn="bl" rotWithShape="0" blurRad="177800" dist="38100" dir="5400000">
              <a:srgbClr val="101314">
                <a:alpha val="10000"/>
              </a:srgbClr>
            </a:outerShdw>
          </a:effectLst>
        </p:spPr>
      </p:sp>
      <p:sp>
        <p:nvSpPr>
          <p:cNvPr id="17" name="Text 15"/>
          <p:cNvSpPr/>
          <p:nvPr/>
        </p:nvSpPr>
        <p:spPr>
          <a:xfrm>
            <a:off x="4599432" y="3941064"/>
            <a:ext cx="2980944" cy="475488"/>
          </a:xfrm>
          <a:prstGeom prst="rect">
            <a:avLst/>
          </a:prstGeom>
          <a:noFill/>
          <a:ln/>
        </p:spPr>
        <p:txBody>
          <a:bodyPr wrap="square" lIns="0" tIns="0" rIns="0" bIns="0" rtlCol="0" anchor="t"/>
          <a:lstStyle/>
          <a:p>
            <a:pPr indent="0" marL="0">
              <a:lnSpc>
                <a:spcPts val="1700"/>
              </a:lnSpc>
              <a:buNone/>
            </a:pPr>
            <a:r>
              <a:rPr lang="en-US" sz="1350" b="1" dirty="0">
                <a:solidFill>
                  <a:srgbClr val="101314"/>
                </a:solidFill>
                <a:latin typeface="Cambria" pitchFamily="34" charset="0"/>
                <a:ea typeface="Cambria" pitchFamily="34" charset="-122"/>
                <a:cs typeface="Cambria" pitchFamily="34" charset="-120"/>
              </a:rPr>
              <a:t>Wrong button pressed?</a:t>
            </a:r>
            <a:endParaRPr lang="en-US" sz="1350" dirty="0"/>
          </a:p>
        </p:txBody>
      </p:sp>
      <p:sp>
        <p:nvSpPr>
          <p:cNvPr id="18" name="Text 16"/>
          <p:cNvSpPr/>
          <p:nvPr/>
        </p:nvSpPr>
        <p:spPr>
          <a:xfrm>
            <a:off x="4599432" y="4471416"/>
            <a:ext cx="2980944" cy="658368"/>
          </a:xfrm>
          <a:prstGeom prst="rect">
            <a:avLst/>
          </a:prstGeom>
          <a:noFill/>
          <a:ln/>
        </p:spPr>
        <p:txBody>
          <a:bodyPr wrap="square" lIns="0" tIns="0" rIns="0" bIns="0" rtlCol="0" anchor="t"/>
          <a:lstStyle/>
          <a:p>
            <a:pPr algn="l" indent="0" marL="0">
              <a:lnSpc>
                <a:spcPts val="1875"/>
              </a:lnSpc>
              <a:buNone/>
            </a:pPr>
            <a:r>
              <a:rPr lang="en-US" sz="1250" dirty="0">
                <a:solidFill>
                  <a:srgbClr val="3D4644"/>
                </a:solidFill>
                <a:latin typeface="Calibri" pitchFamily="34" charset="0"/>
                <a:ea typeface="Calibri" pitchFamily="34" charset="-122"/>
                <a:cs typeface="Calibri" pitchFamily="34" charset="-120"/>
              </a:rPr>
              <a:t>Undo for a minute. After that the correction is a new line — the mistake stays visible, which is the point.</a:t>
            </a:r>
            <a:endParaRPr lang="en-US" sz="1250" dirty="0"/>
          </a:p>
        </p:txBody>
      </p:sp>
      <p:sp>
        <p:nvSpPr>
          <p:cNvPr id="19" name="Shape 17"/>
          <p:cNvSpPr/>
          <p:nvPr/>
        </p:nvSpPr>
        <p:spPr>
          <a:xfrm>
            <a:off x="8037576" y="3794760"/>
            <a:ext cx="3456432" cy="1417320"/>
          </a:xfrm>
          <a:prstGeom prst="roundRect">
            <a:avLst>
              <a:gd name="adj" fmla="val 3871"/>
            </a:avLst>
          </a:prstGeom>
          <a:solidFill>
            <a:srgbClr val="FFFFFF"/>
          </a:solidFill>
          <a:ln w="12700">
            <a:solidFill>
              <a:srgbClr val="D3D7D0"/>
            </a:solidFill>
            <a:prstDash val="solid"/>
          </a:ln>
          <a:effectLst>
            <a:outerShdw sx="100000" sy="100000" kx="0" ky="0" algn="bl" rotWithShape="0" blurRad="177800" dist="38100" dir="5400000">
              <a:srgbClr val="101314">
                <a:alpha val="10000"/>
              </a:srgbClr>
            </a:outerShdw>
          </a:effectLst>
        </p:spPr>
      </p:sp>
      <p:sp>
        <p:nvSpPr>
          <p:cNvPr id="20" name="Text 18"/>
          <p:cNvSpPr/>
          <p:nvPr/>
        </p:nvSpPr>
        <p:spPr>
          <a:xfrm>
            <a:off x="8275320" y="3941064"/>
            <a:ext cx="2980944" cy="475488"/>
          </a:xfrm>
          <a:prstGeom prst="rect">
            <a:avLst/>
          </a:prstGeom>
          <a:noFill/>
          <a:ln/>
        </p:spPr>
        <p:txBody>
          <a:bodyPr wrap="square" lIns="0" tIns="0" rIns="0" bIns="0" rtlCol="0" anchor="t"/>
          <a:lstStyle/>
          <a:p>
            <a:pPr indent="0" marL="0">
              <a:lnSpc>
                <a:spcPts val="1700"/>
              </a:lnSpc>
              <a:buNone/>
            </a:pPr>
            <a:r>
              <a:rPr lang="en-US" sz="1350" b="1" dirty="0">
                <a:solidFill>
                  <a:srgbClr val="101314"/>
                </a:solidFill>
                <a:latin typeface="Cambria" pitchFamily="34" charset="0"/>
                <a:ea typeface="Cambria" pitchFamily="34" charset="-122"/>
                <a:cs typeface="Cambria" pitchFamily="34" charset="-120"/>
              </a:rPr>
              <a:t>The system goes down?</a:t>
            </a:r>
            <a:endParaRPr lang="en-US" sz="1350" dirty="0"/>
          </a:p>
        </p:txBody>
      </p:sp>
      <p:sp>
        <p:nvSpPr>
          <p:cNvPr id="21" name="Text 19"/>
          <p:cNvSpPr/>
          <p:nvPr/>
        </p:nvSpPr>
        <p:spPr>
          <a:xfrm>
            <a:off x="8275320" y="4471416"/>
            <a:ext cx="2980944" cy="658368"/>
          </a:xfrm>
          <a:prstGeom prst="rect">
            <a:avLst/>
          </a:prstGeom>
          <a:noFill/>
          <a:ln/>
        </p:spPr>
        <p:txBody>
          <a:bodyPr wrap="square" lIns="0" tIns="0" rIns="0" bIns="0" rtlCol="0" anchor="t"/>
          <a:lstStyle/>
          <a:p>
            <a:pPr algn="l" indent="0" marL="0">
              <a:lnSpc>
                <a:spcPts val="1875"/>
              </a:lnSpc>
              <a:buNone/>
            </a:pPr>
            <a:r>
              <a:rPr lang="en-US" sz="1250" dirty="0">
                <a:solidFill>
                  <a:srgbClr val="3D4644"/>
                </a:solidFill>
                <a:latin typeface="Calibri" pitchFamily="34" charset="0"/>
                <a:ea typeface="Calibri" pitchFamily="34" charset="-122"/>
                <a:cs typeface="Calibri" pitchFamily="34" charset="-120"/>
              </a:rPr>
              <a:t>Phones keep collecting scans. Every code is readable by eye, and the map can be printed each morning.</a:t>
            </a:r>
            <a:endParaRPr lang="en-US" sz="1250" dirty="0"/>
          </a:p>
        </p:txBody>
      </p:sp>
      <p:sp>
        <p:nvSpPr>
          <p:cNvPr id="22" name="Shape 20"/>
          <p:cNvSpPr/>
          <p:nvPr/>
        </p:nvSpPr>
        <p:spPr>
          <a:xfrm>
            <a:off x="685800" y="5394960"/>
            <a:ext cx="10817352" cy="777240"/>
          </a:xfrm>
          <a:prstGeom prst="roundRect">
            <a:avLst>
              <a:gd name="adj" fmla="val 7059"/>
            </a:avLst>
          </a:prstGeom>
          <a:solidFill>
            <a:srgbClr val="E7E9E4"/>
          </a:solidFill>
          <a:ln w="12700">
            <a:solidFill>
              <a:srgbClr val="D3D7D0"/>
            </a:solidFill>
            <a:prstDash val="solid"/>
          </a:ln>
          <a:effectLst>
            <a:outerShdw sx="100000" sy="100000" kx="0" ky="0" algn="bl" rotWithShape="0" blurRad="177800" dist="38100" dir="5400000">
              <a:srgbClr val="101314">
                <a:alpha val="10000"/>
              </a:srgbClr>
            </a:outerShdw>
          </a:effectLst>
        </p:spPr>
      </p:sp>
      <p:sp>
        <p:nvSpPr>
          <p:cNvPr id="23" name="Text 21"/>
          <p:cNvSpPr/>
          <p:nvPr/>
        </p:nvSpPr>
        <p:spPr>
          <a:xfrm>
            <a:off x="960120" y="5577840"/>
            <a:ext cx="10241280" cy="457200"/>
          </a:xfrm>
          <a:prstGeom prst="rect">
            <a:avLst/>
          </a:prstGeom>
          <a:noFill/>
          <a:ln/>
        </p:spPr>
        <p:txBody>
          <a:bodyPr wrap="square" lIns="0" tIns="0" rIns="0" bIns="0" rtlCol="0" anchor="t"/>
          <a:lstStyle/>
          <a:p>
            <a:pPr algn="l" indent="0" marL="0">
              <a:lnSpc>
                <a:spcPts val="2175"/>
              </a:lnSpc>
              <a:buNone/>
            </a:pPr>
            <a:r>
              <a:rPr lang="en-US" sz="1450" dirty="0">
                <a:solidFill>
                  <a:srgbClr val="101314"/>
                </a:solidFill>
                <a:latin typeface="Calibri" pitchFamily="34" charset="0"/>
                <a:ea typeface="Calibri" pitchFamily="34" charset="-122"/>
                <a:cs typeface="Calibri" pitchFamily="34" charset="-120"/>
              </a:rPr>
              <a:t>Twenty-eight situations like these are written down and answered in the full design document. The rule behind all of them: never stop the forklift — record what really happened and move on.</a:t>
            </a:r>
            <a:endParaRPr lang="en-US" sz="14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2F3F0"/>
        </a:solidFill>
      </p:bgPr>
    </p:bg>
    <p:spTree>
      <p:nvGrpSpPr>
        <p:cNvPr id="1" name=""/>
        <p:cNvGrpSpPr/>
        <p:nvPr/>
      </p:nvGrpSpPr>
      <p:grpSpPr>
        <a:xfrm>
          <a:off x="0" y="0"/>
          <a:ext cx="0" cy="0"/>
          <a:chOff x="0" y="0"/>
          <a:chExt cx="0" cy="0"/>
        </a:xfrm>
      </p:grpSpPr>
      <p:sp>
        <p:nvSpPr>
          <p:cNvPr id="2" name="Text 0"/>
          <p:cNvSpPr/>
          <p:nvPr/>
        </p:nvSpPr>
        <p:spPr>
          <a:xfrm>
            <a:off x="685800" y="502920"/>
            <a:ext cx="10820095" cy="274320"/>
          </a:xfrm>
          <a:prstGeom prst="rect">
            <a:avLst/>
          </a:prstGeom>
          <a:noFill/>
          <a:ln/>
        </p:spPr>
        <p:txBody>
          <a:bodyPr wrap="square" lIns="0" tIns="0" rIns="0" bIns="0" rtlCol="0" anchor="ctr"/>
          <a:lstStyle/>
          <a:p>
            <a:pPr indent="0" marL="0">
              <a:buNone/>
            </a:pPr>
            <a:r>
              <a:rPr lang="en-US" sz="1100" b="1" spc="220" kern="0" dirty="0">
                <a:solidFill>
                  <a:srgbClr val="C9990B"/>
                </a:solidFill>
                <a:latin typeface="Courier New" pitchFamily="34" charset="0"/>
                <a:ea typeface="Courier New" pitchFamily="34" charset="-122"/>
                <a:cs typeface="Courier New" pitchFamily="34" charset="-120"/>
              </a:rPr>
              <a:t>WHAT CHANGES</a:t>
            </a:r>
            <a:endParaRPr lang="en-US" sz="1100" dirty="0"/>
          </a:p>
        </p:txBody>
      </p:sp>
      <p:sp>
        <p:nvSpPr>
          <p:cNvPr id="3" name="Text 1"/>
          <p:cNvSpPr/>
          <p:nvPr/>
        </p:nvSpPr>
        <p:spPr>
          <a:xfrm>
            <a:off x="685800" y="914400"/>
            <a:ext cx="10820095" cy="1051560"/>
          </a:xfrm>
          <a:prstGeom prst="rect">
            <a:avLst/>
          </a:prstGeom>
          <a:noFill/>
          <a:ln/>
        </p:spPr>
        <p:txBody>
          <a:bodyPr wrap="square" lIns="0" tIns="0" rIns="0" bIns="0" rtlCol="0" anchor="t"/>
          <a:lstStyle/>
          <a:p>
            <a:pPr indent="0" marL="0">
              <a:lnSpc>
                <a:spcPts val="4256"/>
              </a:lnSpc>
              <a:buNone/>
            </a:pPr>
            <a:r>
              <a:rPr lang="en-US" sz="3800" b="1" dirty="0">
                <a:solidFill>
                  <a:srgbClr val="101314"/>
                </a:solidFill>
                <a:latin typeface="Cambria" pitchFamily="34" charset="0"/>
                <a:ea typeface="Cambria" pitchFamily="34" charset="-122"/>
                <a:cs typeface="Cambria" pitchFamily="34" charset="-120"/>
              </a:rPr>
              <a:t>Three people, three different days.</a:t>
            </a:r>
            <a:endParaRPr lang="en-US" sz="3800" dirty="0"/>
          </a:p>
        </p:txBody>
      </p:sp>
      <p:sp>
        <p:nvSpPr>
          <p:cNvPr id="4" name="Shape 2"/>
          <p:cNvSpPr/>
          <p:nvPr/>
        </p:nvSpPr>
        <p:spPr>
          <a:xfrm>
            <a:off x="685800" y="2286000"/>
            <a:ext cx="3456432" cy="2651760"/>
          </a:xfrm>
          <a:prstGeom prst="roundRect">
            <a:avLst>
              <a:gd name="adj" fmla="val 2069"/>
            </a:avLst>
          </a:prstGeom>
          <a:solidFill>
            <a:srgbClr val="FFFFFF"/>
          </a:solidFill>
          <a:ln w="12700">
            <a:solidFill>
              <a:srgbClr val="D3D7D0"/>
            </a:solidFill>
            <a:prstDash val="solid"/>
          </a:ln>
          <a:effectLst>
            <a:outerShdw sx="100000" sy="100000" kx="0" ky="0" algn="bl" rotWithShape="0" blurRad="177800" dist="38100" dir="5400000">
              <a:srgbClr val="101314">
                <a:alpha val="10000"/>
              </a:srgbClr>
            </a:outerShdw>
          </a:effectLst>
        </p:spPr>
      </p:sp>
      <p:sp>
        <p:nvSpPr>
          <p:cNvPr id="5" name="Text 3"/>
          <p:cNvSpPr/>
          <p:nvPr/>
        </p:nvSpPr>
        <p:spPr>
          <a:xfrm>
            <a:off x="941832" y="2542032"/>
            <a:ext cx="2944368" cy="256032"/>
          </a:xfrm>
          <a:prstGeom prst="rect">
            <a:avLst/>
          </a:prstGeom>
          <a:noFill/>
          <a:ln/>
        </p:spPr>
        <p:txBody>
          <a:bodyPr wrap="square" lIns="0" tIns="0" rIns="0" bIns="0" rtlCol="0" anchor="ctr"/>
          <a:lstStyle/>
          <a:p>
            <a:pPr indent="0" marL="0">
              <a:buNone/>
            </a:pPr>
            <a:r>
              <a:rPr lang="en-US" sz="1050" b="1" spc="160" kern="0" dirty="0">
                <a:solidFill>
                  <a:srgbClr val="C9990B"/>
                </a:solidFill>
                <a:latin typeface="Courier New" pitchFamily="34" charset="0"/>
                <a:ea typeface="Courier New" pitchFamily="34" charset="-122"/>
                <a:cs typeface="Courier New" pitchFamily="34" charset="-120"/>
              </a:rPr>
              <a:t>WAREHOUSE</a:t>
            </a:r>
            <a:endParaRPr lang="en-US" sz="1050" dirty="0"/>
          </a:p>
        </p:txBody>
      </p:sp>
      <p:sp>
        <p:nvSpPr>
          <p:cNvPr id="6" name="Text 4"/>
          <p:cNvSpPr/>
          <p:nvPr/>
        </p:nvSpPr>
        <p:spPr>
          <a:xfrm>
            <a:off x="941832" y="2852928"/>
            <a:ext cx="2944368" cy="640080"/>
          </a:xfrm>
          <a:prstGeom prst="rect">
            <a:avLst/>
          </a:prstGeom>
          <a:noFill/>
          <a:ln/>
        </p:spPr>
        <p:txBody>
          <a:bodyPr wrap="square" lIns="0" tIns="0" rIns="0" bIns="0" rtlCol="0" anchor="t"/>
          <a:lstStyle/>
          <a:p>
            <a:pPr indent="0" marL="0">
              <a:buNone/>
            </a:pPr>
            <a:r>
              <a:rPr lang="en-US" sz="1800" b="1" dirty="0">
                <a:solidFill>
                  <a:srgbClr val="101314"/>
                </a:solidFill>
                <a:latin typeface="Cambria" pitchFamily="34" charset="0"/>
                <a:ea typeface="Cambria" pitchFamily="34" charset="-122"/>
                <a:cs typeface="Cambria" pitchFamily="34" charset="-120"/>
              </a:rPr>
              <a:t>Six seconds per move</a:t>
            </a:r>
            <a:endParaRPr lang="en-US" sz="1800" dirty="0"/>
          </a:p>
        </p:txBody>
      </p:sp>
      <p:sp>
        <p:nvSpPr>
          <p:cNvPr id="7" name="Text 5"/>
          <p:cNvSpPr/>
          <p:nvPr/>
        </p:nvSpPr>
        <p:spPr>
          <a:xfrm>
            <a:off x="941832" y="3584448"/>
            <a:ext cx="2944368" cy="1234440"/>
          </a:xfrm>
          <a:prstGeom prst="rect">
            <a:avLst/>
          </a:prstGeom>
          <a:noFill/>
          <a:ln/>
        </p:spPr>
        <p:txBody>
          <a:bodyPr wrap="square" lIns="0" tIns="0" rIns="0" bIns="0" rtlCol="0" anchor="t"/>
          <a:lstStyle/>
          <a:p>
            <a:pPr algn="l" indent="0" marL="0">
              <a:lnSpc>
                <a:spcPts val="2025"/>
              </a:lnSpc>
              <a:buNone/>
            </a:pPr>
            <a:r>
              <a:rPr lang="en-US" sz="1350" dirty="0">
                <a:solidFill>
                  <a:srgbClr val="3D4644"/>
                </a:solidFill>
                <a:latin typeface="Calibri" pitchFamily="34" charset="0"/>
                <a:ea typeface="Calibri" pitchFamily="34" charset="-122"/>
                <a:cs typeface="Calibri" pitchFamily="34" charset="-120"/>
              </a:rPr>
              <a:t>Two scans instead of remembering. In exchange: never searching again, and never being blamed for a pallet somebody else moved.</a:t>
            </a:r>
            <a:endParaRPr lang="en-US" sz="1350" dirty="0"/>
          </a:p>
        </p:txBody>
      </p:sp>
      <p:sp>
        <p:nvSpPr>
          <p:cNvPr id="8" name="Shape 6"/>
          <p:cNvSpPr/>
          <p:nvPr/>
        </p:nvSpPr>
        <p:spPr>
          <a:xfrm>
            <a:off x="4361688" y="2286000"/>
            <a:ext cx="3456432" cy="2651760"/>
          </a:xfrm>
          <a:prstGeom prst="roundRect">
            <a:avLst>
              <a:gd name="adj" fmla="val 2069"/>
            </a:avLst>
          </a:prstGeom>
          <a:solidFill>
            <a:srgbClr val="FFFFFF"/>
          </a:solidFill>
          <a:ln w="12700">
            <a:solidFill>
              <a:srgbClr val="D3D7D0"/>
            </a:solidFill>
            <a:prstDash val="solid"/>
          </a:ln>
          <a:effectLst>
            <a:outerShdw sx="100000" sy="100000" kx="0" ky="0" algn="bl" rotWithShape="0" blurRad="177800" dist="38100" dir="5400000">
              <a:srgbClr val="101314">
                <a:alpha val="10000"/>
              </a:srgbClr>
            </a:outerShdw>
          </a:effectLst>
        </p:spPr>
      </p:sp>
      <p:sp>
        <p:nvSpPr>
          <p:cNvPr id="9" name="Text 7"/>
          <p:cNvSpPr/>
          <p:nvPr/>
        </p:nvSpPr>
        <p:spPr>
          <a:xfrm>
            <a:off x="4617720" y="2542032"/>
            <a:ext cx="2944368" cy="256032"/>
          </a:xfrm>
          <a:prstGeom prst="rect">
            <a:avLst/>
          </a:prstGeom>
          <a:noFill/>
          <a:ln/>
        </p:spPr>
        <p:txBody>
          <a:bodyPr wrap="square" lIns="0" tIns="0" rIns="0" bIns="0" rtlCol="0" anchor="ctr"/>
          <a:lstStyle/>
          <a:p>
            <a:pPr indent="0" marL="0">
              <a:buNone/>
            </a:pPr>
            <a:r>
              <a:rPr lang="en-US" sz="1050" b="1" spc="160" kern="0" dirty="0">
                <a:solidFill>
                  <a:srgbClr val="C9990B"/>
                </a:solidFill>
                <a:latin typeface="Courier New" pitchFamily="34" charset="0"/>
                <a:ea typeface="Courier New" pitchFamily="34" charset="-122"/>
                <a:cs typeface="Courier New" pitchFamily="34" charset="-120"/>
              </a:rPr>
              <a:t>SUPERVISOR</a:t>
            </a:r>
            <a:endParaRPr lang="en-US" sz="1050" dirty="0"/>
          </a:p>
        </p:txBody>
      </p:sp>
      <p:sp>
        <p:nvSpPr>
          <p:cNvPr id="10" name="Text 8"/>
          <p:cNvSpPr/>
          <p:nvPr/>
        </p:nvSpPr>
        <p:spPr>
          <a:xfrm>
            <a:off x="4617720" y="2852928"/>
            <a:ext cx="2944368" cy="640080"/>
          </a:xfrm>
          <a:prstGeom prst="rect">
            <a:avLst/>
          </a:prstGeom>
          <a:noFill/>
          <a:ln/>
        </p:spPr>
        <p:txBody>
          <a:bodyPr wrap="square" lIns="0" tIns="0" rIns="0" bIns="0" rtlCol="0" anchor="t"/>
          <a:lstStyle/>
          <a:p>
            <a:pPr indent="0" marL="0">
              <a:buNone/>
            </a:pPr>
            <a:r>
              <a:rPr lang="en-US" sz="1800" b="1" dirty="0">
                <a:solidFill>
                  <a:srgbClr val="101314"/>
                </a:solidFill>
                <a:latin typeface="Cambria" pitchFamily="34" charset="0"/>
                <a:ea typeface="Cambria" pitchFamily="34" charset="-122"/>
                <a:cs typeface="Cambria" pitchFamily="34" charset="-120"/>
              </a:rPr>
              <a:t>Ten minutes a week</a:t>
            </a:r>
            <a:endParaRPr lang="en-US" sz="1800" dirty="0"/>
          </a:p>
        </p:txBody>
      </p:sp>
      <p:sp>
        <p:nvSpPr>
          <p:cNvPr id="11" name="Text 9"/>
          <p:cNvSpPr/>
          <p:nvPr/>
        </p:nvSpPr>
        <p:spPr>
          <a:xfrm>
            <a:off x="4617720" y="3584448"/>
            <a:ext cx="2944368" cy="1234440"/>
          </a:xfrm>
          <a:prstGeom prst="rect">
            <a:avLst/>
          </a:prstGeom>
          <a:noFill/>
          <a:ln/>
        </p:spPr>
        <p:txBody>
          <a:bodyPr wrap="square" lIns="0" tIns="0" rIns="0" bIns="0" rtlCol="0" anchor="t"/>
          <a:lstStyle/>
          <a:p>
            <a:pPr algn="l" indent="0" marL="0">
              <a:lnSpc>
                <a:spcPts val="2025"/>
              </a:lnSpc>
              <a:buNone/>
            </a:pPr>
            <a:r>
              <a:rPr lang="en-US" sz="1350" dirty="0">
                <a:solidFill>
                  <a:srgbClr val="3D4644"/>
                </a:solidFill>
                <a:latin typeface="Calibri" pitchFamily="34" charset="0"/>
                <a:ea typeface="Calibri" pitchFamily="34" charset="-122"/>
                <a:cs typeface="Calibri" pitchFamily="34" charset="-120"/>
              </a:rPr>
              <a:t>One screen shows anything the system could not settle by itself — usually three or four items. Everything else runs without them.</a:t>
            </a:r>
            <a:endParaRPr lang="en-US" sz="1350" dirty="0"/>
          </a:p>
        </p:txBody>
      </p:sp>
      <p:sp>
        <p:nvSpPr>
          <p:cNvPr id="12" name="Shape 10"/>
          <p:cNvSpPr/>
          <p:nvPr/>
        </p:nvSpPr>
        <p:spPr>
          <a:xfrm>
            <a:off x="8037576" y="2286000"/>
            <a:ext cx="3456432" cy="2651760"/>
          </a:xfrm>
          <a:prstGeom prst="roundRect">
            <a:avLst>
              <a:gd name="adj" fmla="val 2069"/>
            </a:avLst>
          </a:prstGeom>
          <a:solidFill>
            <a:srgbClr val="FFFFFF"/>
          </a:solidFill>
          <a:ln w="12700">
            <a:solidFill>
              <a:srgbClr val="D3D7D0"/>
            </a:solidFill>
            <a:prstDash val="solid"/>
          </a:ln>
          <a:effectLst>
            <a:outerShdw sx="100000" sy="100000" kx="0" ky="0" algn="bl" rotWithShape="0" blurRad="177800" dist="38100" dir="5400000">
              <a:srgbClr val="101314">
                <a:alpha val="10000"/>
              </a:srgbClr>
            </a:outerShdw>
          </a:effectLst>
        </p:spPr>
      </p:sp>
      <p:sp>
        <p:nvSpPr>
          <p:cNvPr id="13" name="Text 11"/>
          <p:cNvSpPr/>
          <p:nvPr/>
        </p:nvSpPr>
        <p:spPr>
          <a:xfrm>
            <a:off x="8293608" y="2542032"/>
            <a:ext cx="2944368" cy="256032"/>
          </a:xfrm>
          <a:prstGeom prst="rect">
            <a:avLst/>
          </a:prstGeom>
          <a:noFill/>
          <a:ln/>
        </p:spPr>
        <p:txBody>
          <a:bodyPr wrap="square" lIns="0" tIns="0" rIns="0" bIns="0" rtlCol="0" anchor="ctr"/>
          <a:lstStyle/>
          <a:p>
            <a:pPr indent="0" marL="0">
              <a:buNone/>
            </a:pPr>
            <a:r>
              <a:rPr lang="en-US" sz="1050" b="1" spc="160" kern="0" dirty="0">
                <a:solidFill>
                  <a:srgbClr val="C9990B"/>
                </a:solidFill>
                <a:latin typeface="Courier New" pitchFamily="34" charset="0"/>
                <a:ea typeface="Courier New" pitchFamily="34" charset="-122"/>
                <a:cs typeface="Courier New" pitchFamily="34" charset="-120"/>
              </a:rPr>
              <a:t>MANAGEMENT</a:t>
            </a:r>
            <a:endParaRPr lang="en-US" sz="1050" dirty="0"/>
          </a:p>
        </p:txBody>
      </p:sp>
      <p:sp>
        <p:nvSpPr>
          <p:cNvPr id="14" name="Text 12"/>
          <p:cNvSpPr/>
          <p:nvPr/>
        </p:nvSpPr>
        <p:spPr>
          <a:xfrm>
            <a:off x="8293608" y="2852928"/>
            <a:ext cx="2944368" cy="640080"/>
          </a:xfrm>
          <a:prstGeom prst="rect">
            <a:avLst/>
          </a:prstGeom>
          <a:noFill/>
          <a:ln/>
        </p:spPr>
        <p:txBody>
          <a:bodyPr wrap="square" lIns="0" tIns="0" rIns="0" bIns="0" rtlCol="0" anchor="t"/>
          <a:lstStyle/>
          <a:p>
            <a:pPr indent="0" marL="0">
              <a:buNone/>
            </a:pPr>
            <a:r>
              <a:rPr lang="en-US" sz="1800" b="1" dirty="0">
                <a:solidFill>
                  <a:srgbClr val="101314"/>
                </a:solidFill>
                <a:latin typeface="Cambria" pitchFamily="34" charset="0"/>
                <a:ea typeface="Cambria" pitchFamily="34" charset="-122"/>
                <a:cs typeface="Cambria" pitchFamily="34" charset="-120"/>
              </a:rPr>
              <a:t>Questions become answers</a:t>
            </a:r>
            <a:endParaRPr lang="en-US" sz="1800" dirty="0"/>
          </a:p>
        </p:txBody>
      </p:sp>
      <p:sp>
        <p:nvSpPr>
          <p:cNvPr id="15" name="Text 13"/>
          <p:cNvSpPr/>
          <p:nvPr/>
        </p:nvSpPr>
        <p:spPr>
          <a:xfrm>
            <a:off x="8293608" y="3584448"/>
            <a:ext cx="2944368" cy="1234440"/>
          </a:xfrm>
          <a:prstGeom prst="rect">
            <a:avLst/>
          </a:prstGeom>
          <a:noFill/>
          <a:ln/>
        </p:spPr>
        <p:txBody>
          <a:bodyPr wrap="square" lIns="0" tIns="0" rIns="0" bIns="0" rtlCol="0" anchor="t"/>
          <a:lstStyle/>
          <a:p>
            <a:pPr algn="l" indent="0" marL="0">
              <a:lnSpc>
                <a:spcPts val="2025"/>
              </a:lnSpc>
              <a:buNone/>
            </a:pPr>
            <a:r>
              <a:rPr lang="en-US" sz="1350" dirty="0">
                <a:solidFill>
                  <a:srgbClr val="3D4644"/>
                </a:solidFill>
                <a:latin typeface="Calibri" pitchFamily="34" charset="0"/>
                <a:ea typeface="Calibri" pitchFamily="34" charset="-122"/>
                <a:cs typeface="Calibri" pitchFamily="34" charset="-120"/>
              </a:rPr>
              <a:t>How full is the warehouse? Where is that material? Who moved it? What has not been touched for a year? One screen.</a:t>
            </a:r>
            <a:endParaRPr lang="en-US" sz="1350" dirty="0"/>
          </a:p>
        </p:txBody>
      </p:sp>
      <p:sp>
        <p:nvSpPr>
          <p:cNvPr id="16" name="Text 14"/>
          <p:cNvSpPr/>
          <p:nvPr/>
        </p:nvSpPr>
        <p:spPr>
          <a:xfrm>
            <a:off x="685800" y="5257800"/>
            <a:ext cx="10424160" cy="731520"/>
          </a:xfrm>
          <a:prstGeom prst="rect">
            <a:avLst/>
          </a:prstGeom>
          <a:noFill/>
          <a:ln/>
        </p:spPr>
        <p:txBody>
          <a:bodyPr wrap="square" lIns="0" tIns="0" rIns="0" bIns="0" rtlCol="0" anchor="t"/>
          <a:lstStyle/>
          <a:p>
            <a:pPr algn="l" indent="0" marL="0">
              <a:lnSpc>
                <a:spcPts val="2250"/>
              </a:lnSpc>
              <a:buNone/>
            </a:pPr>
            <a:r>
              <a:rPr lang="en-US" sz="1500" dirty="0">
                <a:solidFill>
                  <a:srgbClr val="3D4644"/>
                </a:solidFill>
                <a:latin typeface="Calibri" pitchFamily="34" charset="0"/>
                <a:ea typeface="Calibri" pitchFamily="34" charset="-122"/>
                <a:cs typeface="Calibri" pitchFamily="34" charset="-120"/>
              </a:rPr>
              <a:t>Nobody is asked to fill in a form, keep a spreadsheet, or write anything down. The record is a by-product of doing the job.</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2F3F0"/>
        </a:solidFill>
      </p:bgPr>
    </p:bg>
    <p:spTree>
      <p:nvGrpSpPr>
        <p:cNvPr id="1" name=""/>
        <p:cNvGrpSpPr/>
        <p:nvPr/>
      </p:nvGrpSpPr>
      <p:grpSpPr>
        <a:xfrm>
          <a:off x="0" y="0"/>
          <a:ext cx="0" cy="0"/>
          <a:chOff x="0" y="0"/>
          <a:chExt cx="0" cy="0"/>
        </a:xfrm>
      </p:grpSpPr>
      <p:sp>
        <p:nvSpPr>
          <p:cNvPr id="2" name="Text 0"/>
          <p:cNvSpPr/>
          <p:nvPr/>
        </p:nvSpPr>
        <p:spPr>
          <a:xfrm>
            <a:off x="685800" y="502920"/>
            <a:ext cx="10820095" cy="274320"/>
          </a:xfrm>
          <a:prstGeom prst="rect">
            <a:avLst/>
          </a:prstGeom>
          <a:noFill/>
          <a:ln/>
        </p:spPr>
        <p:txBody>
          <a:bodyPr wrap="square" lIns="0" tIns="0" rIns="0" bIns="0" rtlCol="0" anchor="ctr"/>
          <a:lstStyle/>
          <a:p>
            <a:pPr indent="0" marL="0">
              <a:buNone/>
            </a:pPr>
            <a:r>
              <a:rPr lang="en-US" sz="1100" b="1" spc="220" kern="0" dirty="0">
                <a:solidFill>
                  <a:srgbClr val="C9990B"/>
                </a:solidFill>
                <a:latin typeface="Courier New" pitchFamily="34" charset="0"/>
                <a:ea typeface="Courier New" pitchFamily="34" charset="-122"/>
                <a:cs typeface="Courier New" pitchFamily="34" charset="-120"/>
              </a:rPr>
              <a:t>WHAT IT TAKES</a:t>
            </a:r>
            <a:endParaRPr lang="en-US" sz="1100" dirty="0"/>
          </a:p>
        </p:txBody>
      </p:sp>
      <p:sp>
        <p:nvSpPr>
          <p:cNvPr id="3" name="Text 1"/>
          <p:cNvSpPr/>
          <p:nvPr/>
        </p:nvSpPr>
        <p:spPr>
          <a:xfrm>
            <a:off x="685800" y="914400"/>
            <a:ext cx="10515600" cy="1051560"/>
          </a:xfrm>
          <a:prstGeom prst="rect">
            <a:avLst/>
          </a:prstGeom>
          <a:noFill/>
          <a:ln/>
        </p:spPr>
        <p:txBody>
          <a:bodyPr wrap="square" lIns="0" tIns="0" rIns="0" bIns="0" rtlCol="0" anchor="t"/>
          <a:lstStyle/>
          <a:p>
            <a:pPr indent="0" marL="0">
              <a:lnSpc>
                <a:spcPts val="3808"/>
              </a:lnSpc>
              <a:buNone/>
            </a:pPr>
            <a:r>
              <a:rPr lang="en-US" sz="3400" b="1" dirty="0">
                <a:solidFill>
                  <a:srgbClr val="101314"/>
                </a:solidFill>
                <a:latin typeface="Cambria" pitchFamily="34" charset="0"/>
                <a:ea typeface="Cambria" pitchFamily="34" charset="-122"/>
                <a:cs typeface="Cambria" pitchFamily="34" charset="-120"/>
              </a:rPr>
              <a:t>Eight weeks, and one afternoon with a ladder.</a:t>
            </a:r>
            <a:endParaRPr lang="en-US" sz="3400" dirty="0"/>
          </a:p>
        </p:txBody>
      </p:sp>
      <p:sp>
        <p:nvSpPr>
          <p:cNvPr id="4" name="Shape 2"/>
          <p:cNvSpPr/>
          <p:nvPr/>
        </p:nvSpPr>
        <p:spPr>
          <a:xfrm>
            <a:off x="685800" y="2148840"/>
            <a:ext cx="2505456" cy="2011680"/>
          </a:xfrm>
          <a:prstGeom prst="roundRect">
            <a:avLst>
              <a:gd name="adj" fmla="val 2727"/>
            </a:avLst>
          </a:prstGeom>
          <a:solidFill>
            <a:srgbClr val="FFFFFF"/>
          </a:solidFill>
          <a:ln w="12700">
            <a:solidFill>
              <a:srgbClr val="D3D7D0"/>
            </a:solidFill>
            <a:prstDash val="solid"/>
          </a:ln>
          <a:effectLst>
            <a:outerShdw sx="100000" sy="100000" kx="0" ky="0" algn="bl" rotWithShape="0" blurRad="177800" dist="38100" dir="5400000">
              <a:srgbClr val="101314">
                <a:alpha val="10000"/>
              </a:srgbClr>
            </a:outerShdw>
          </a:effectLst>
        </p:spPr>
      </p:sp>
      <p:sp>
        <p:nvSpPr>
          <p:cNvPr id="5" name="Text 3"/>
          <p:cNvSpPr/>
          <p:nvPr/>
        </p:nvSpPr>
        <p:spPr>
          <a:xfrm>
            <a:off x="941832" y="2377440"/>
            <a:ext cx="1993392" cy="228600"/>
          </a:xfrm>
          <a:prstGeom prst="rect">
            <a:avLst/>
          </a:prstGeom>
          <a:noFill/>
          <a:ln/>
        </p:spPr>
        <p:txBody>
          <a:bodyPr wrap="square" lIns="0" tIns="0" rIns="0" bIns="0" rtlCol="0" anchor="ctr"/>
          <a:lstStyle/>
          <a:p>
            <a:pPr indent="0" marL="0">
              <a:buNone/>
            </a:pPr>
            <a:r>
              <a:rPr lang="en-US" sz="1050" b="1" spc="150" kern="0" dirty="0">
                <a:solidFill>
                  <a:srgbClr val="C9990B"/>
                </a:solidFill>
                <a:latin typeface="Courier New" pitchFamily="34" charset="0"/>
                <a:ea typeface="Courier New" pitchFamily="34" charset="-122"/>
                <a:cs typeface="Courier New" pitchFamily="34" charset="-120"/>
              </a:rPr>
              <a:t>WEEKS 1–2</a:t>
            </a:r>
            <a:endParaRPr lang="en-US" sz="1050" dirty="0"/>
          </a:p>
        </p:txBody>
      </p:sp>
      <p:sp>
        <p:nvSpPr>
          <p:cNvPr id="6" name="Text 4"/>
          <p:cNvSpPr/>
          <p:nvPr/>
        </p:nvSpPr>
        <p:spPr>
          <a:xfrm>
            <a:off x="941832" y="2651760"/>
            <a:ext cx="1993392" cy="365760"/>
          </a:xfrm>
          <a:prstGeom prst="rect">
            <a:avLst/>
          </a:prstGeom>
          <a:noFill/>
          <a:ln/>
        </p:spPr>
        <p:txBody>
          <a:bodyPr wrap="square" lIns="0" tIns="0" rIns="0" bIns="0" rtlCol="0" anchor="ctr"/>
          <a:lstStyle/>
          <a:p>
            <a:pPr indent="0" marL="0">
              <a:buNone/>
            </a:pPr>
            <a:r>
              <a:rPr lang="en-US" sz="1600" b="1" dirty="0">
                <a:solidFill>
                  <a:srgbClr val="101314"/>
                </a:solidFill>
                <a:latin typeface="Cambria" pitchFamily="34" charset="0"/>
                <a:ea typeface="Cambria" pitchFamily="34" charset="-122"/>
                <a:cs typeface="Cambria" pitchFamily="34" charset="-120"/>
              </a:rPr>
              <a:t>Name the warehouse</a:t>
            </a:r>
            <a:endParaRPr lang="en-US" sz="1600" dirty="0"/>
          </a:p>
        </p:txBody>
      </p:sp>
      <p:sp>
        <p:nvSpPr>
          <p:cNvPr id="7" name="Text 5"/>
          <p:cNvSpPr/>
          <p:nvPr/>
        </p:nvSpPr>
        <p:spPr>
          <a:xfrm>
            <a:off x="941832" y="3063240"/>
            <a:ext cx="1993392" cy="914400"/>
          </a:xfrm>
          <a:prstGeom prst="rect">
            <a:avLst/>
          </a:prstGeom>
          <a:noFill/>
          <a:ln/>
        </p:spPr>
        <p:txBody>
          <a:bodyPr wrap="square" lIns="0" tIns="0" rIns="0" bIns="0" rtlCol="0" anchor="t"/>
          <a:lstStyle/>
          <a:p>
            <a:pPr algn="l" indent="0" marL="0">
              <a:lnSpc>
                <a:spcPts val="1875"/>
              </a:lnSpc>
              <a:buNone/>
            </a:pPr>
            <a:r>
              <a:rPr lang="en-US" sz="1250" dirty="0">
                <a:solidFill>
                  <a:srgbClr val="3D4644"/>
                </a:solidFill>
                <a:latin typeface="Calibri" pitchFamily="34" charset="0"/>
                <a:ea typeface="Calibri" pitchFamily="34" charset="-122"/>
                <a:cs typeface="Calibri" pitchFamily="34" charset="-120"/>
              </a:rPr>
              <a:t>Give every shelf place an address, print the stickers, put them up. Your own staff, two days.</a:t>
            </a:r>
            <a:endParaRPr lang="en-US" sz="1250" dirty="0"/>
          </a:p>
        </p:txBody>
      </p:sp>
      <p:sp>
        <p:nvSpPr>
          <p:cNvPr id="8" name="Shape 6"/>
          <p:cNvSpPr/>
          <p:nvPr/>
        </p:nvSpPr>
        <p:spPr>
          <a:xfrm>
            <a:off x="3447288" y="2148840"/>
            <a:ext cx="2505456" cy="2011680"/>
          </a:xfrm>
          <a:prstGeom prst="roundRect">
            <a:avLst>
              <a:gd name="adj" fmla="val 2727"/>
            </a:avLst>
          </a:prstGeom>
          <a:solidFill>
            <a:srgbClr val="FFFFFF"/>
          </a:solidFill>
          <a:ln w="12700">
            <a:solidFill>
              <a:srgbClr val="D3D7D0"/>
            </a:solidFill>
            <a:prstDash val="solid"/>
          </a:ln>
          <a:effectLst>
            <a:outerShdw sx="100000" sy="100000" kx="0" ky="0" algn="bl" rotWithShape="0" blurRad="177800" dist="38100" dir="5400000">
              <a:srgbClr val="101314">
                <a:alpha val="10000"/>
              </a:srgbClr>
            </a:outerShdw>
          </a:effectLst>
        </p:spPr>
      </p:sp>
      <p:sp>
        <p:nvSpPr>
          <p:cNvPr id="9" name="Text 7"/>
          <p:cNvSpPr/>
          <p:nvPr/>
        </p:nvSpPr>
        <p:spPr>
          <a:xfrm>
            <a:off x="3703320" y="2377440"/>
            <a:ext cx="1993392" cy="228600"/>
          </a:xfrm>
          <a:prstGeom prst="rect">
            <a:avLst/>
          </a:prstGeom>
          <a:noFill/>
          <a:ln/>
        </p:spPr>
        <p:txBody>
          <a:bodyPr wrap="square" lIns="0" tIns="0" rIns="0" bIns="0" rtlCol="0" anchor="ctr"/>
          <a:lstStyle/>
          <a:p>
            <a:pPr indent="0" marL="0">
              <a:buNone/>
            </a:pPr>
            <a:r>
              <a:rPr lang="en-US" sz="1050" b="1" spc="150" kern="0" dirty="0">
                <a:solidFill>
                  <a:srgbClr val="C9990B"/>
                </a:solidFill>
                <a:latin typeface="Courier New" pitchFamily="34" charset="0"/>
                <a:ea typeface="Courier New" pitchFamily="34" charset="-122"/>
                <a:cs typeface="Courier New" pitchFamily="34" charset="-120"/>
              </a:rPr>
              <a:t>WEEKS 1–4</a:t>
            </a:r>
            <a:endParaRPr lang="en-US" sz="1050" dirty="0"/>
          </a:p>
        </p:txBody>
      </p:sp>
      <p:sp>
        <p:nvSpPr>
          <p:cNvPr id="10" name="Text 8"/>
          <p:cNvSpPr/>
          <p:nvPr/>
        </p:nvSpPr>
        <p:spPr>
          <a:xfrm>
            <a:off x="3703320" y="2651760"/>
            <a:ext cx="1993392" cy="365760"/>
          </a:xfrm>
          <a:prstGeom prst="rect">
            <a:avLst/>
          </a:prstGeom>
          <a:noFill/>
          <a:ln/>
        </p:spPr>
        <p:txBody>
          <a:bodyPr wrap="square" lIns="0" tIns="0" rIns="0" bIns="0" rtlCol="0" anchor="ctr"/>
          <a:lstStyle/>
          <a:p>
            <a:pPr indent="0" marL="0">
              <a:buNone/>
            </a:pPr>
            <a:r>
              <a:rPr lang="en-US" sz="1600" b="1" dirty="0">
                <a:solidFill>
                  <a:srgbClr val="101314"/>
                </a:solidFill>
                <a:latin typeface="Cambria" pitchFamily="34" charset="0"/>
                <a:ea typeface="Cambria" pitchFamily="34" charset="-122"/>
                <a:cs typeface="Cambria" pitchFamily="34" charset="-120"/>
              </a:rPr>
              <a:t>Build the system</a:t>
            </a:r>
            <a:endParaRPr lang="en-US" sz="1600" dirty="0"/>
          </a:p>
        </p:txBody>
      </p:sp>
      <p:sp>
        <p:nvSpPr>
          <p:cNvPr id="11" name="Text 9"/>
          <p:cNvSpPr/>
          <p:nvPr/>
        </p:nvSpPr>
        <p:spPr>
          <a:xfrm>
            <a:off x="3703320" y="3063240"/>
            <a:ext cx="1993392" cy="914400"/>
          </a:xfrm>
          <a:prstGeom prst="rect">
            <a:avLst/>
          </a:prstGeom>
          <a:noFill/>
          <a:ln/>
        </p:spPr>
        <p:txBody>
          <a:bodyPr wrap="square" lIns="0" tIns="0" rIns="0" bIns="0" rtlCol="0" anchor="t"/>
          <a:lstStyle/>
          <a:p>
            <a:pPr algn="l" indent="0" marL="0">
              <a:lnSpc>
                <a:spcPts val="1875"/>
              </a:lnSpc>
              <a:buNone/>
            </a:pPr>
            <a:r>
              <a:rPr lang="en-US" sz="1250" dirty="0">
                <a:solidFill>
                  <a:srgbClr val="3D4644"/>
                </a:solidFill>
                <a:latin typeface="Calibri" pitchFamily="34" charset="0"/>
                <a:ea typeface="Calibri" pitchFamily="34" charset="-122"/>
                <a:cs typeface="Calibri" pitchFamily="34" charset="-120"/>
              </a:rPr>
              <a:t>Scanning, the map, the log, the labels. Nothing else.</a:t>
            </a:r>
            <a:endParaRPr lang="en-US" sz="1250" dirty="0"/>
          </a:p>
        </p:txBody>
      </p:sp>
      <p:sp>
        <p:nvSpPr>
          <p:cNvPr id="12" name="Shape 10"/>
          <p:cNvSpPr/>
          <p:nvPr/>
        </p:nvSpPr>
        <p:spPr>
          <a:xfrm>
            <a:off x="6208776" y="2148840"/>
            <a:ext cx="2505456" cy="2011680"/>
          </a:xfrm>
          <a:prstGeom prst="roundRect">
            <a:avLst>
              <a:gd name="adj" fmla="val 2727"/>
            </a:avLst>
          </a:prstGeom>
          <a:solidFill>
            <a:srgbClr val="FFFFFF"/>
          </a:solidFill>
          <a:ln w="12700">
            <a:solidFill>
              <a:srgbClr val="D3D7D0"/>
            </a:solidFill>
            <a:prstDash val="solid"/>
          </a:ln>
          <a:effectLst>
            <a:outerShdw sx="100000" sy="100000" kx="0" ky="0" algn="bl" rotWithShape="0" blurRad="177800" dist="38100" dir="5400000">
              <a:srgbClr val="101314">
                <a:alpha val="10000"/>
              </a:srgbClr>
            </a:outerShdw>
          </a:effectLst>
        </p:spPr>
      </p:sp>
      <p:sp>
        <p:nvSpPr>
          <p:cNvPr id="13" name="Text 11"/>
          <p:cNvSpPr/>
          <p:nvPr/>
        </p:nvSpPr>
        <p:spPr>
          <a:xfrm>
            <a:off x="6464808" y="2377440"/>
            <a:ext cx="1993392" cy="228600"/>
          </a:xfrm>
          <a:prstGeom prst="rect">
            <a:avLst/>
          </a:prstGeom>
          <a:noFill/>
          <a:ln/>
        </p:spPr>
        <p:txBody>
          <a:bodyPr wrap="square" lIns="0" tIns="0" rIns="0" bIns="0" rtlCol="0" anchor="ctr"/>
          <a:lstStyle/>
          <a:p>
            <a:pPr indent="0" marL="0">
              <a:buNone/>
            </a:pPr>
            <a:r>
              <a:rPr lang="en-US" sz="1050" b="1" spc="150" kern="0" dirty="0">
                <a:solidFill>
                  <a:srgbClr val="C9990B"/>
                </a:solidFill>
                <a:latin typeface="Courier New" pitchFamily="34" charset="0"/>
                <a:ea typeface="Courier New" pitchFamily="34" charset="-122"/>
                <a:cs typeface="Courier New" pitchFamily="34" charset="-120"/>
              </a:rPr>
              <a:t>WEEKS 5–6</a:t>
            </a:r>
            <a:endParaRPr lang="en-US" sz="1050" dirty="0"/>
          </a:p>
        </p:txBody>
      </p:sp>
      <p:sp>
        <p:nvSpPr>
          <p:cNvPr id="14" name="Text 12"/>
          <p:cNvSpPr/>
          <p:nvPr/>
        </p:nvSpPr>
        <p:spPr>
          <a:xfrm>
            <a:off x="6464808" y="2651760"/>
            <a:ext cx="1993392" cy="365760"/>
          </a:xfrm>
          <a:prstGeom prst="rect">
            <a:avLst/>
          </a:prstGeom>
          <a:noFill/>
          <a:ln/>
        </p:spPr>
        <p:txBody>
          <a:bodyPr wrap="square" lIns="0" tIns="0" rIns="0" bIns="0" rtlCol="0" anchor="ctr"/>
          <a:lstStyle/>
          <a:p>
            <a:pPr indent="0" marL="0">
              <a:buNone/>
            </a:pPr>
            <a:r>
              <a:rPr lang="en-US" sz="1600" b="1" dirty="0">
                <a:solidFill>
                  <a:srgbClr val="101314"/>
                </a:solidFill>
                <a:latin typeface="Cambria" pitchFamily="34" charset="0"/>
                <a:ea typeface="Cambria" pitchFamily="34" charset="-122"/>
                <a:cs typeface="Cambria" pitchFamily="34" charset="-120"/>
              </a:rPr>
              <a:t>Try one aisle</a:t>
            </a:r>
            <a:endParaRPr lang="en-US" sz="1600" dirty="0"/>
          </a:p>
        </p:txBody>
      </p:sp>
      <p:sp>
        <p:nvSpPr>
          <p:cNvPr id="15" name="Text 13"/>
          <p:cNvSpPr/>
          <p:nvPr/>
        </p:nvSpPr>
        <p:spPr>
          <a:xfrm>
            <a:off x="6464808" y="3063240"/>
            <a:ext cx="1993392" cy="914400"/>
          </a:xfrm>
          <a:prstGeom prst="rect">
            <a:avLst/>
          </a:prstGeom>
          <a:noFill/>
          <a:ln/>
        </p:spPr>
        <p:txBody>
          <a:bodyPr wrap="square" lIns="0" tIns="0" rIns="0" bIns="0" rtlCol="0" anchor="t"/>
          <a:lstStyle/>
          <a:p>
            <a:pPr algn="l" indent="0" marL="0">
              <a:lnSpc>
                <a:spcPts val="1875"/>
              </a:lnSpc>
              <a:buNone/>
            </a:pPr>
            <a:r>
              <a:rPr lang="en-US" sz="1250" dirty="0">
                <a:solidFill>
                  <a:srgbClr val="3D4644"/>
                </a:solidFill>
                <a:latin typeface="Calibri" pitchFamily="34" charset="0"/>
                <a:ea typeface="Calibri" pitchFamily="34" charset="-122"/>
                <a:cs typeface="Calibri" pitchFamily="34" charset="-120"/>
              </a:rPr>
              <a:t>Two volunteers, one week, alongside the old way. Fix what they find.</a:t>
            </a:r>
            <a:endParaRPr lang="en-US" sz="1250" dirty="0"/>
          </a:p>
        </p:txBody>
      </p:sp>
      <p:sp>
        <p:nvSpPr>
          <p:cNvPr id="16" name="Shape 14"/>
          <p:cNvSpPr/>
          <p:nvPr/>
        </p:nvSpPr>
        <p:spPr>
          <a:xfrm>
            <a:off x="8970264" y="2148840"/>
            <a:ext cx="2505456" cy="2011680"/>
          </a:xfrm>
          <a:prstGeom prst="roundRect">
            <a:avLst>
              <a:gd name="adj" fmla="val 2727"/>
            </a:avLst>
          </a:prstGeom>
          <a:solidFill>
            <a:srgbClr val="FFFFFF"/>
          </a:solidFill>
          <a:ln w="12700">
            <a:solidFill>
              <a:srgbClr val="D3D7D0"/>
            </a:solidFill>
            <a:prstDash val="solid"/>
          </a:ln>
          <a:effectLst>
            <a:outerShdw sx="100000" sy="100000" kx="0" ky="0" algn="bl" rotWithShape="0" blurRad="177800" dist="38100" dir="5400000">
              <a:srgbClr val="101314">
                <a:alpha val="10000"/>
              </a:srgbClr>
            </a:outerShdw>
          </a:effectLst>
        </p:spPr>
      </p:sp>
      <p:sp>
        <p:nvSpPr>
          <p:cNvPr id="17" name="Text 15"/>
          <p:cNvSpPr/>
          <p:nvPr/>
        </p:nvSpPr>
        <p:spPr>
          <a:xfrm>
            <a:off x="9226296" y="2377440"/>
            <a:ext cx="1993392" cy="228600"/>
          </a:xfrm>
          <a:prstGeom prst="rect">
            <a:avLst/>
          </a:prstGeom>
          <a:noFill/>
          <a:ln/>
        </p:spPr>
        <p:txBody>
          <a:bodyPr wrap="square" lIns="0" tIns="0" rIns="0" bIns="0" rtlCol="0" anchor="ctr"/>
          <a:lstStyle/>
          <a:p>
            <a:pPr indent="0" marL="0">
              <a:buNone/>
            </a:pPr>
            <a:r>
              <a:rPr lang="en-US" sz="1050" b="1" spc="150" kern="0" dirty="0">
                <a:solidFill>
                  <a:srgbClr val="C9990B"/>
                </a:solidFill>
                <a:latin typeface="Courier New" pitchFamily="34" charset="0"/>
                <a:ea typeface="Courier New" pitchFamily="34" charset="-122"/>
                <a:cs typeface="Courier New" pitchFamily="34" charset="-120"/>
              </a:rPr>
              <a:t>WEEK 7</a:t>
            </a:r>
            <a:endParaRPr lang="en-US" sz="1050" dirty="0"/>
          </a:p>
        </p:txBody>
      </p:sp>
      <p:sp>
        <p:nvSpPr>
          <p:cNvPr id="18" name="Text 16"/>
          <p:cNvSpPr/>
          <p:nvPr/>
        </p:nvSpPr>
        <p:spPr>
          <a:xfrm>
            <a:off x="9226296" y="2651760"/>
            <a:ext cx="1993392" cy="365760"/>
          </a:xfrm>
          <a:prstGeom prst="rect">
            <a:avLst/>
          </a:prstGeom>
          <a:noFill/>
          <a:ln/>
        </p:spPr>
        <p:txBody>
          <a:bodyPr wrap="square" lIns="0" tIns="0" rIns="0" bIns="0" rtlCol="0" anchor="ctr"/>
          <a:lstStyle/>
          <a:p>
            <a:pPr indent="0" marL="0">
              <a:buNone/>
            </a:pPr>
            <a:r>
              <a:rPr lang="en-US" sz="1600" b="1" dirty="0">
                <a:solidFill>
                  <a:srgbClr val="101314"/>
                </a:solidFill>
                <a:latin typeface="Cambria" pitchFamily="34" charset="0"/>
                <a:ea typeface="Cambria" pitchFamily="34" charset="-122"/>
                <a:cs typeface="Cambria" pitchFamily="34" charset="-120"/>
              </a:rPr>
              <a:t>Go live</a:t>
            </a:r>
            <a:endParaRPr lang="en-US" sz="1600" dirty="0"/>
          </a:p>
        </p:txBody>
      </p:sp>
      <p:sp>
        <p:nvSpPr>
          <p:cNvPr id="19" name="Text 17"/>
          <p:cNvSpPr/>
          <p:nvPr/>
        </p:nvSpPr>
        <p:spPr>
          <a:xfrm>
            <a:off x="9226296" y="3063240"/>
            <a:ext cx="1993392" cy="914400"/>
          </a:xfrm>
          <a:prstGeom prst="rect">
            <a:avLst/>
          </a:prstGeom>
          <a:noFill/>
          <a:ln/>
        </p:spPr>
        <p:txBody>
          <a:bodyPr wrap="square" lIns="0" tIns="0" rIns="0" bIns="0" rtlCol="0" anchor="t"/>
          <a:lstStyle/>
          <a:p>
            <a:pPr algn="l" indent="0" marL="0">
              <a:lnSpc>
                <a:spcPts val="1875"/>
              </a:lnSpc>
              <a:buNone/>
            </a:pPr>
            <a:r>
              <a:rPr lang="en-US" sz="1250" dirty="0">
                <a:solidFill>
                  <a:srgbClr val="3D4644"/>
                </a:solidFill>
                <a:latin typeface="Calibri" pitchFamily="34" charset="0"/>
                <a:ea typeface="Calibri" pitchFamily="34" charset="-122"/>
                <a:cs typeface="Calibri" pitchFamily="34" charset="-120"/>
              </a:rPr>
              <a:t>Ten minutes of training each, standing at a rack with a phone in hand.</a:t>
            </a:r>
            <a:endParaRPr lang="en-US" sz="1250" dirty="0"/>
          </a:p>
        </p:txBody>
      </p:sp>
      <p:sp>
        <p:nvSpPr>
          <p:cNvPr id="20" name="Shape 18"/>
          <p:cNvSpPr/>
          <p:nvPr/>
        </p:nvSpPr>
        <p:spPr>
          <a:xfrm>
            <a:off x="685800" y="4389120"/>
            <a:ext cx="3456432" cy="1417320"/>
          </a:xfrm>
          <a:prstGeom prst="roundRect">
            <a:avLst>
              <a:gd name="adj" fmla="val 3871"/>
            </a:avLst>
          </a:prstGeom>
          <a:solidFill>
            <a:srgbClr val="E7E9E4"/>
          </a:solidFill>
          <a:ln w="12700">
            <a:solidFill>
              <a:srgbClr val="D3D7D0"/>
            </a:solidFill>
            <a:prstDash val="solid"/>
          </a:ln>
          <a:effectLst>
            <a:outerShdw sx="100000" sy="100000" kx="0" ky="0" algn="bl" rotWithShape="0" blurRad="177800" dist="38100" dir="5400000">
              <a:srgbClr val="101314">
                <a:alpha val="10000"/>
              </a:srgbClr>
            </a:outerShdw>
          </a:effectLst>
        </p:spPr>
      </p:sp>
      <p:sp>
        <p:nvSpPr>
          <p:cNvPr id="21" name="Text 19"/>
          <p:cNvSpPr/>
          <p:nvPr/>
        </p:nvSpPr>
        <p:spPr>
          <a:xfrm>
            <a:off x="941832" y="4590288"/>
            <a:ext cx="2944368" cy="502920"/>
          </a:xfrm>
          <a:prstGeom prst="rect">
            <a:avLst/>
          </a:prstGeom>
          <a:noFill/>
          <a:ln/>
        </p:spPr>
        <p:txBody>
          <a:bodyPr wrap="square" lIns="0" tIns="0" rIns="0" bIns="0" rtlCol="0" anchor="ctr"/>
          <a:lstStyle/>
          <a:p>
            <a:pPr indent="0" marL="0">
              <a:buNone/>
            </a:pPr>
            <a:r>
              <a:rPr lang="en-US" sz="3000" b="1" dirty="0">
                <a:solidFill>
                  <a:srgbClr val="101314"/>
                </a:solidFill>
                <a:latin typeface="Cambria" pitchFamily="34" charset="0"/>
                <a:ea typeface="Cambria" pitchFamily="34" charset="-122"/>
                <a:cs typeface="Cambria" pitchFamily="34" charset="-120"/>
              </a:rPr>
              <a:t>€5–25</a:t>
            </a:r>
            <a:pPr indent="0" marL="0">
              <a:buNone/>
            </a:pPr>
            <a:r>
              <a:rPr lang="en-US" sz="1300" dirty="0">
                <a:solidFill>
                  <a:srgbClr val="6D7673"/>
                </a:solidFill>
                <a:latin typeface="Cambria" pitchFamily="34" charset="0"/>
                <a:ea typeface="Cambria" pitchFamily="34" charset="-122"/>
                <a:cs typeface="Cambria" pitchFamily="34" charset="-120"/>
              </a:rPr>
              <a:t>  per month</a:t>
            </a:r>
            <a:endParaRPr lang="en-US" sz="3000" dirty="0"/>
          </a:p>
        </p:txBody>
      </p:sp>
      <p:sp>
        <p:nvSpPr>
          <p:cNvPr id="22" name="Text 20"/>
          <p:cNvSpPr/>
          <p:nvPr/>
        </p:nvSpPr>
        <p:spPr>
          <a:xfrm>
            <a:off x="941832" y="5138928"/>
            <a:ext cx="2944368" cy="548640"/>
          </a:xfrm>
          <a:prstGeom prst="rect">
            <a:avLst/>
          </a:prstGeom>
          <a:noFill/>
          <a:ln/>
        </p:spPr>
        <p:txBody>
          <a:bodyPr wrap="square" lIns="0" tIns="0" rIns="0" bIns="0" rtlCol="0" anchor="t"/>
          <a:lstStyle/>
          <a:p>
            <a:pPr algn="l" indent="0" marL="0">
              <a:lnSpc>
                <a:spcPts val="1875"/>
              </a:lnSpc>
              <a:buNone/>
            </a:pPr>
            <a:r>
              <a:rPr lang="en-US" sz="1250" dirty="0">
                <a:solidFill>
                  <a:srgbClr val="3D4644"/>
                </a:solidFill>
                <a:latin typeface="Calibri" pitchFamily="34" charset="0"/>
                <a:ea typeface="Calibri" pitchFamily="34" charset="-122"/>
                <a:cs typeface="Calibri" pitchFamily="34" charset="-120"/>
              </a:rPr>
              <a:t>Running cost. No licence per person, ever.</a:t>
            </a:r>
            <a:endParaRPr lang="en-US" sz="1250" dirty="0"/>
          </a:p>
        </p:txBody>
      </p:sp>
      <p:sp>
        <p:nvSpPr>
          <p:cNvPr id="23" name="Shape 21"/>
          <p:cNvSpPr/>
          <p:nvPr/>
        </p:nvSpPr>
        <p:spPr>
          <a:xfrm>
            <a:off x="4361688" y="4389120"/>
            <a:ext cx="3456432" cy="1417320"/>
          </a:xfrm>
          <a:prstGeom prst="roundRect">
            <a:avLst>
              <a:gd name="adj" fmla="val 3871"/>
            </a:avLst>
          </a:prstGeom>
          <a:solidFill>
            <a:srgbClr val="E7E9E4"/>
          </a:solidFill>
          <a:ln w="12700">
            <a:solidFill>
              <a:srgbClr val="D3D7D0"/>
            </a:solidFill>
            <a:prstDash val="solid"/>
          </a:ln>
          <a:effectLst>
            <a:outerShdw sx="100000" sy="100000" kx="0" ky="0" algn="bl" rotWithShape="0" blurRad="177800" dist="38100" dir="5400000">
              <a:srgbClr val="101314">
                <a:alpha val="10000"/>
              </a:srgbClr>
            </a:outerShdw>
          </a:effectLst>
        </p:spPr>
      </p:sp>
      <p:sp>
        <p:nvSpPr>
          <p:cNvPr id="24" name="Text 22"/>
          <p:cNvSpPr/>
          <p:nvPr/>
        </p:nvSpPr>
        <p:spPr>
          <a:xfrm>
            <a:off x="4617720" y="4590288"/>
            <a:ext cx="2944368" cy="502920"/>
          </a:xfrm>
          <a:prstGeom prst="rect">
            <a:avLst/>
          </a:prstGeom>
          <a:noFill/>
          <a:ln/>
        </p:spPr>
        <p:txBody>
          <a:bodyPr wrap="square" lIns="0" tIns="0" rIns="0" bIns="0" rtlCol="0" anchor="ctr"/>
          <a:lstStyle/>
          <a:p>
            <a:pPr indent="0" marL="0">
              <a:buNone/>
            </a:pPr>
            <a:r>
              <a:rPr lang="en-US" sz="3000" b="1" dirty="0">
                <a:solidFill>
                  <a:srgbClr val="101314"/>
                </a:solidFill>
                <a:latin typeface="Cambria" pitchFamily="34" charset="0"/>
                <a:ea typeface="Cambria" pitchFamily="34" charset="-122"/>
                <a:cs typeface="Cambria" pitchFamily="34" charset="-120"/>
              </a:rPr>
              <a:t>€0</a:t>
            </a:r>
            <a:pPr indent="0" marL="0">
              <a:buNone/>
            </a:pPr>
            <a:r>
              <a:rPr lang="en-US" sz="1300" dirty="0">
                <a:solidFill>
                  <a:srgbClr val="6D7673"/>
                </a:solidFill>
                <a:latin typeface="Cambria" pitchFamily="34" charset="0"/>
                <a:ea typeface="Cambria" pitchFamily="34" charset="-122"/>
                <a:cs typeface="Cambria" pitchFamily="34" charset="-120"/>
              </a:rPr>
              <a:t>  hardware</a:t>
            </a:r>
            <a:endParaRPr lang="en-US" sz="3000" dirty="0"/>
          </a:p>
        </p:txBody>
      </p:sp>
      <p:sp>
        <p:nvSpPr>
          <p:cNvPr id="25" name="Text 23"/>
          <p:cNvSpPr/>
          <p:nvPr/>
        </p:nvSpPr>
        <p:spPr>
          <a:xfrm>
            <a:off x="4617720" y="5138928"/>
            <a:ext cx="2944368" cy="548640"/>
          </a:xfrm>
          <a:prstGeom prst="rect">
            <a:avLst/>
          </a:prstGeom>
          <a:noFill/>
          <a:ln/>
        </p:spPr>
        <p:txBody>
          <a:bodyPr wrap="square" lIns="0" tIns="0" rIns="0" bIns="0" rtlCol="0" anchor="t"/>
          <a:lstStyle/>
          <a:p>
            <a:pPr algn="l" indent="0" marL="0">
              <a:lnSpc>
                <a:spcPts val="1875"/>
              </a:lnSpc>
              <a:buNone/>
            </a:pPr>
            <a:r>
              <a:rPr lang="en-US" sz="1250" dirty="0">
                <a:solidFill>
                  <a:srgbClr val="3D4644"/>
                </a:solidFill>
                <a:latin typeface="Calibri" pitchFamily="34" charset="0"/>
                <a:ea typeface="Calibri" pitchFamily="34" charset="-122"/>
                <a:cs typeface="Calibri" pitchFamily="34" charset="-120"/>
              </a:rPr>
              <a:t>The phones people already carry. A label printer is optional.</a:t>
            </a:r>
            <a:endParaRPr lang="en-US" sz="1250" dirty="0"/>
          </a:p>
        </p:txBody>
      </p:sp>
      <p:sp>
        <p:nvSpPr>
          <p:cNvPr id="26" name="Shape 24"/>
          <p:cNvSpPr/>
          <p:nvPr/>
        </p:nvSpPr>
        <p:spPr>
          <a:xfrm>
            <a:off x="8037576" y="4389120"/>
            <a:ext cx="3456432" cy="1417320"/>
          </a:xfrm>
          <a:prstGeom prst="roundRect">
            <a:avLst>
              <a:gd name="adj" fmla="val 3871"/>
            </a:avLst>
          </a:prstGeom>
          <a:solidFill>
            <a:srgbClr val="E7E9E4"/>
          </a:solidFill>
          <a:ln w="12700">
            <a:solidFill>
              <a:srgbClr val="D3D7D0"/>
            </a:solidFill>
            <a:prstDash val="solid"/>
          </a:ln>
          <a:effectLst>
            <a:outerShdw sx="100000" sy="100000" kx="0" ky="0" algn="bl" rotWithShape="0" blurRad="177800" dist="38100" dir="5400000">
              <a:srgbClr val="101314">
                <a:alpha val="10000"/>
              </a:srgbClr>
            </a:outerShdw>
          </a:effectLst>
        </p:spPr>
      </p:sp>
      <p:sp>
        <p:nvSpPr>
          <p:cNvPr id="27" name="Text 25"/>
          <p:cNvSpPr/>
          <p:nvPr/>
        </p:nvSpPr>
        <p:spPr>
          <a:xfrm>
            <a:off x="8293608" y="4590288"/>
            <a:ext cx="2944368" cy="502920"/>
          </a:xfrm>
          <a:prstGeom prst="rect">
            <a:avLst/>
          </a:prstGeom>
          <a:noFill/>
          <a:ln/>
        </p:spPr>
        <p:txBody>
          <a:bodyPr wrap="square" lIns="0" tIns="0" rIns="0" bIns="0" rtlCol="0" anchor="ctr"/>
          <a:lstStyle/>
          <a:p>
            <a:pPr indent="0" marL="0">
              <a:buNone/>
            </a:pPr>
            <a:r>
              <a:rPr lang="en-US" sz="3000" b="1" dirty="0">
                <a:solidFill>
                  <a:srgbClr val="101314"/>
                </a:solidFill>
                <a:latin typeface="Cambria" pitchFamily="34" charset="0"/>
                <a:ea typeface="Cambria" pitchFamily="34" charset="-122"/>
                <a:cs typeface="Cambria" pitchFamily="34" charset="-120"/>
              </a:rPr>
              <a:t>10</a:t>
            </a:r>
            <a:pPr indent="0" marL="0">
              <a:buNone/>
            </a:pPr>
            <a:r>
              <a:rPr lang="en-US" sz="1300" dirty="0">
                <a:solidFill>
                  <a:srgbClr val="6D7673"/>
                </a:solidFill>
                <a:latin typeface="Cambria" pitchFamily="34" charset="0"/>
                <a:ea typeface="Cambria" pitchFamily="34" charset="-122"/>
                <a:cs typeface="Cambria" pitchFamily="34" charset="-120"/>
              </a:rPr>
              <a:t>  minutes</a:t>
            </a:r>
            <a:endParaRPr lang="en-US" sz="3000" dirty="0"/>
          </a:p>
        </p:txBody>
      </p:sp>
      <p:sp>
        <p:nvSpPr>
          <p:cNvPr id="28" name="Text 26"/>
          <p:cNvSpPr/>
          <p:nvPr/>
        </p:nvSpPr>
        <p:spPr>
          <a:xfrm>
            <a:off x="8293608" y="5138928"/>
            <a:ext cx="2944368" cy="548640"/>
          </a:xfrm>
          <a:prstGeom prst="rect">
            <a:avLst/>
          </a:prstGeom>
          <a:noFill/>
          <a:ln/>
        </p:spPr>
        <p:txBody>
          <a:bodyPr wrap="square" lIns="0" tIns="0" rIns="0" bIns="0" rtlCol="0" anchor="t"/>
          <a:lstStyle/>
          <a:p>
            <a:pPr algn="l" indent="0" marL="0">
              <a:lnSpc>
                <a:spcPts val="1875"/>
              </a:lnSpc>
              <a:buNone/>
            </a:pPr>
            <a:r>
              <a:rPr lang="en-US" sz="1250" dirty="0">
                <a:solidFill>
                  <a:srgbClr val="3D4644"/>
                </a:solidFill>
                <a:latin typeface="Calibri" pitchFamily="34" charset="0"/>
                <a:ea typeface="Calibri" pitchFamily="34" charset="-122"/>
                <a:cs typeface="Calibri" pitchFamily="34" charset="-120"/>
              </a:rPr>
              <a:t>Training per person. The app has three screens.</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2F3F0"/>
        </a:solidFill>
      </p:bgPr>
    </p:bg>
    <p:spTree>
      <p:nvGrpSpPr>
        <p:cNvPr id="1" name=""/>
        <p:cNvGrpSpPr/>
        <p:nvPr/>
      </p:nvGrpSpPr>
      <p:grpSpPr>
        <a:xfrm>
          <a:off x="0" y="0"/>
          <a:ext cx="0" cy="0"/>
          <a:chOff x="0" y="0"/>
          <a:chExt cx="0" cy="0"/>
        </a:xfrm>
      </p:grpSpPr>
      <p:sp>
        <p:nvSpPr>
          <p:cNvPr id="2" name="Text 0"/>
          <p:cNvSpPr/>
          <p:nvPr/>
        </p:nvSpPr>
        <p:spPr>
          <a:xfrm>
            <a:off x="685800" y="502920"/>
            <a:ext cx="10820095" cy="274320"/>
          </a:xfrm>
          <a:prstGeom prst="rect">
            <a:avLst/>
          </a:prstGeom>
          <a:noFill/>
          <a:ln/>
        </p:spPr>
        <p:txBody>
          <a:bodyPr wrap="square" lIns="0" tIns="0" rIns="0" bIns="0" rtlCol="0" anchor="ctr"/>
          <a:lstStyle/>
          <a:p>
            <a:pPr indent="0" marL="0">
              <a:buNone/>
            </a:pPr>
            <a:r>
              <a:rPr lang="en-US" sz="1100" b="1" spc="220" kern="0" dirty="0">
                <a:solidFill>
                  <a:srgbClr val="C9990B"/>
                </a:solidFill>
                <a:latin typeface="Courier New" pitchFamily="34" charset="0"/>
                <a:ea typeface="Courier New" pitchFamily="34" charset="-122"/>
                <a:cs typeface="Courier New" pitchFamily="34" charset="-120"/>
              </a:rPr>
              <a:t>THE FAIR QUESTION</a:t>
            </a:r>
            <a:endParaRPr lang="en-US" sz="1100" dirty="0"/>
          </a:p>
        </p:txBody>
      </p:sp>
      <p:sp>
        <p:nvSpPr>
          <p:cNvPr id="3" name="Text 1"/>
          <p:cNvSpPr/>
          <p:nvPr/>
        </p:nvSpPr>
        <p:spPr>
          <a:xfrm>
            <a:off x="685800" y="914400"/>
            <a:ext cx="10820095" cy="1051560"/>
          </a:xfrm>
          <a:prstGeom prst="rect">
            <a:avLst/>
          </a:prstGeom>
          <a:noFill/>
          <a:ln/>
        </p:spPr>
        <p:txBody>
          <a:bodyPr wrap="square" lIns="0" tIns="0" rIns="0" bIns="0" rtlCol="0" anchor="t"/>
          <a:lstStyle/>
          <a:p>
            <a:pPr indent="0" marL="0">
              <a:lnSpc>
                <a:spcPts val="4256"/>
              </a:lnSpc>
              <a:buNone/>
            </a:pPr>
            <a:r>
              <a:rPr lang="en-US" sz="3800" b="1" dirty="0">
                <a:solidFill>
                  <a:srgbClr val="101314"/>
                </a:solidFill>
                <a:latin typeface="Cambria" pitchFamily="34" charset="0"/>
                <a:ea typeface="Cambria" pitchFamily="34" charset="-122"/>
                <a:cs typeface="Cambria" pitchFamily="34" charset="-120"/>
              </a:rPr>
              <a:t>Why not just buy something?</a:t>
            </a:r>
            <a:endParaRPr lang="en-US" sz="3800" dirty="0"/>
          </a:p>
        </p:txBody>
      </p:sp>
      <p:sp>
        <p:nvSpPr>
          <p:cNvPr id="4" name="Text 2"/>
          <p:cNvSpPr/>
          <p:nvPr/>
        </p:nvSpPr>
        <p:spPr>
          <a:xfrm>
            <a:off x="685800" y="2194560"/>
            <a:ext cx="4937760" cy="1371600"/>
          </a:xfrm>
          <a:prstGeom prst="rect">
            <a:avLst/>
          </a:prstGeom>
          <a:noFill/>
          <a:ln/>
        </p:spPr>
        <p:txBody>
          <a:bodyPr wrap="square" lIns="0" tIns="0" rIns="0" bIns="0" rtlCol="0" anchor="t"/>
          <a:lstStyle/>
          <a:p>
            <a:pPr algn="l" indent="0" marL="0">
              <a:lnSpc>
                <a:spcPts val="2250"/>
              </a:lnSpc>
              <a:buNone/>
            </a:pPr>
            <a:r>
              <a:rPr lang="en-US" sz="1500" dirty="0">
                <a:solidFill>
                  <a:srgbClr val="3D4644"/>
                </a:solidFill>
                <a:latin typeface="Calibri" pitchFamily="34" charset="0"/>
                <a:ea typeface="Calibri" pitchFamily="34" charset="-122"/>
                <a:cs typeface="Calibri" pitchFamily="34" charset="-120"/>
              </a:rPr>
              <a:t>You can. Odoo, Fishbowl and others do this — as one part of a much larger platform that also does purchasing, stock valuation and sales orders, at roughly €30–60 per person per month past the free tier.</a:t>
            </a:r>
            <a:endParaRPr lang="en-US" sz="1500" dirty="0"/>
          </a:p>
        </p:txBody>
      </p:sp>
      <p:sp>
        <p:nvSpPr>
          <p:cNvPr id="5" name="Text 3"/>
          <p:cNvSpPr/>
          <p:nvPr/>
        </p:nvSpPr>
        <p:spPr>
          <a:xfrm>
            <a:off x="685800" y="3703320"/>
            <a:ext cx="4937760" cy="1005840"/>
          </a:xfrm>
          <a:prstGeom prst="rect">
            <a:avLst/>
          </a:prstGeom>
          <a:noFill/>
          <a:ln/>
        </p:spPr>
        <p:txBody>
          <a:bodyPr wrap="square" lIns="0" tIns="0" rIns="0" bIns="0" rtlCol="0" anchor="t"/>
          <a:lstStyle/>
          <a:p>
            <a:pPr algn="l" indent="0" marL="0">
              <a:lnSpc>
                <a:spcPts val="2250"/>
              </a:lnSpc>
              <a:buNone/>
            </a:pPr>
            <a:r>
              <a:rPr lang="en-US" sz="1500" b="1" dirty="0">
                <a:solidFill>
                  <a:srgbClr val="101314"/>
                </a:solidFill>
                <a:latin typeface="Calibri" pitchFamily="34" charset="0"/>
                <a:ea typeface="Calibri" pitchFamily="34" charset="-122"/>
                <a:cs typeface="Calibri" pitchFamily="34" charset="-120"/>
              </a:rPr>
              <a:t>The real cost is not the licence, it is the learning. To get the one piece we need, everyone on the floor has to learn all of it.</a:t>
            </a:r>
            <a:endParaRPr lang="en-US" sz="1500" dirty="0"/>
          </a:p>
        </p:txBody>
      </p:sp>
      <p:sp>
        <p:nvSpPr>
          <p:cNvPr id="6" name="Text 4"/>
          <p:cNvSpPr/>
          <p:nvPr/>
        </p:nvSpPr>
        <p:spPr>
          <a:xfrm>
            <a:off x="685800" y="4846320"/>
            <a:ext cx="4937760" cy="1005840"/>
          </a:xfrm>
          <a:prstGeom prst="rect">
            <a:avLst/>
          </a:prstGeom>
          <a:noFill/>
          <a:ln/>
        </p:spPr>
        <p:txBody>
          <a:bodyPr wrap="square" lIns="0" tIns="0" rIns="0" bIns="0" rtlCol="0" anchor="t"/>
          <a:lstStyle/>
          <a:p>
            <a:pPr algn="l" indent="0" marL="0">
              <a:lnSpc>
                <a:spcPts val="2250"/>
              </a:lnSpc>
              <a:buNone/>
            </a:pPr>
            <a:r>
              <a:rPr lang="en-US" sz="1500" dirty="0">
                <a:solidFill>
                  <a:srgbClr val="3D4644"/>
                </a:solidFill>
                <a:latin typeface="Calibri" pitchFamily="34" charset="0"/>
                <a:ea typeface="Calibri" pitchFamily="34" charset="-122"/>
                <a:cs typeface="Calibri" pitchFamily="34" charset="-120"/>
              </a:rPr>
              <a:t>If Nordic Bio plans to move purchasing and accounting into one system anyway, buy the platform. If the need is “know where the pallets are”, build the small thing.</a:t>
            </a:r>
            <a:endParaRPr lang="en-US" sz="1500" dirty="0"/>
          </a:p>
        </p:txBody>
      </p:sp>
      <p:sp>
        <p:nvSpPr>
          <p:cNvPr id="7" name="Shape 5"/>
          <p:cNvSpPr/>
          <p:nvPr/>
        </p:nvSpPr>
        <p:spPr>
          <a:xfrm>
            <a:off x="6309360" y="1965960"/>
            <a:ext cx="5212080" cy="1691640"/>
          </a:xfrm>
          <a:prstGeom prst="roundRect">
            <a:avLst>
              <a:gd name="adj" fmla="val 3243"/>
            </a:avLst>
          </a:prstGeom>
          <a:solidFill>
            <a:srgbClr val="FFFFFF"/>
          </a:solidFill>
          <a:ln w="12700">
            <a:solidFill>
              <a:srgbClr val="D3D7D0"/>
            </a:solidFill>
            <a:prstDash val="solid"/>
          </a:ln>
          <a:effectLst>
            <a:outerShdw sx="100000" sy="100000" kx="0" ky="0" algn="bl" rotWithShape="0" blurRad="177800" dist="38100" dir="5400000">
              <a:srgbClr val="101314">
                <a:alpha val="10000"/>
              </a:srgbClr>
            </a:outerShdw>
          </a:effectLst>
        </p:spPr>
      </p:sp>
      <p:sp>
        <p:nvSpPr>
          <p:cNvPr id="8" name="Text 6"/>
          <p:cNvSpPr/>
          <p:nvPr/>
        </p:nvSpPr>
        <p:spPr>
          <a:xfrm>
            <a:off x="6583680" y="2194560"/>
            <a:ext cx="4663440" cy="256032"/>
          </a:xfrm>
          <a:prstGeom prst="rect">
            <a:avLst/>
          </a:prstGeom>
          <a:noFill/>
          <a:ln/>
        </p:spPr>
        <p:txBody>
          <a:bodyPr wrap="square" lIns="0" tIns="0" rIns="0" bIns="0" rtlCol="0" anchor="ctr"/>
          <a:lstStyle/>
          <a:p>
            <a:pPr indent="0" marL="0">
              <a:buNone/>
            </a:pPr>
            <a:r>
              <a:rPr lang="en-US" sz="1050" b="1" spc="160" kern="0" dirty="0">
                <a:solidFill>
                  <a:srgbClr val="6D7673"/>
                </a:solidFill>
                <a:latin typeface="Courier New" pitchFamily="34" charset="0"/>
                <a:ea typeface="Courier New" pitchFamily="34" charset="-122"/>
                <a:cs typeface="Courier New" pitchFamily="34" charset="-120"/>
              </a:rPr>
              <a:t>BUY A PLATFORM</a:t>
            </a:r>
            <a:endParaRPr lang="en-US" sz="1050" dirty="0"/>
          </a:p>
        </p:txBody>
      </p:sp>
      <p:sp>
        <p:nvSpPr>
          <p:cNvPr id="9" name="Text 7"/>
          <p:cNvSpPr/>
          <p:nvPr/>
        </p:nvSpPr>
        <p:spPr>
          <a:xfrm>
            <a:off x="6583680" y="2468880"/>
            <a:ext cx="4663440" cy="365760"/>
          </a:xfrm>
          <a:prstGeom prst="rect">
            <a:avLst/>
          </a:prstGeom>
          <a:noFill/>
          <a:ln/>
        </p:spPr>
        <p:txBody>
          <a:bodyPr wrap="square" lIns="0" tIns="0" rIns="0" bIns="0" rtlCol="0" anchor="ctr"/>
          <a:lstStyle/>
          <a:p>
            <a:pPr indent="0" marL="0">
              <a:buNone/>
            </a:pPr>
            <a:r>
              <a:rPr lang="en-US" sz="1700" b="1" dirty="0">
                <a:solidFill>
                  <a:srgbClr val="101314"/>
                </a:solidFill>
                <a:latin typeface="Cambria" pitchFamily="34" charset="0"/>
                <a:ea typeface="Cambria" pitchFamily="34" charset="-122"/>
                <a:cs typeface="Cambria" pitchFamily="34" charset="-120"/>
              </a:rPr>
              <a:t>Six modules to get one</a:t>
            </a:r>
            <a:endParaRPr lang="en-US" sz="1700" dirty="0"/>
          </a:p>
        </p:txBody>
      </p:sp>
      <p:sp>
        <p:nvSpPr>
          <p:cNvPr id="10" name="Text 8"/>
          <p:cNvSpPr/>
          <p:nvPr/>
        </p:nvSpPr>
        <p:spPr>
          <a:xfrm>
            <a:off x="6583680" y="2880360"/>
            <a:ext cx="4663440" cy="685800"/>
          </a:xfrm>
          <a:prstGeom prst="rect">
            <a:avLst/>
          </a:prstGeom>
          <a:noFill/>
          <a:ln/>
        </p:spPr>
        <p:txBody>
          <a:bodyPr wrap="square" lIns="0" tIns="0" rIns="0" bIns="0" rtlCol="0" anchor="t"/>
          <a:lstStyle/>
          <a:p>
            <a:pPr algn="l" indent="0" marL="0">
              <a:lnSpc>
                <a:spcPts val="1875"/>
              </a:lnSpc>
              <a:buNone/>
            </a:pPr>
            <a:r>
              <a:rPr lang="en-US" sz="1250" dirty="0">
                <a:solidFill>
                  <a:srgbClr val="3D4644"/>
                </a:solidFill>
                <a:latin typeface="Calibri" pitchFamily="34" charset="0"/>
                <a:ea typeface="Calibri" pitchFamily="34" charset="-122"/>
                <a:cs typeface="Calibri" pitchFamily="34" charset="-120"/>
              </a:rPr>
              <a:t>Purchasing · valuation · sales · locations &amp; scanning · lots &amp; serials · reporting. Per-user fees. Months of adoption.</a:t>
            </a:r>
            <a:endParaRPr lang="en-US" sz="1250" dirty="0"/>
          </a:p>
        </p:txBody>
      </p:sp>
      <p:sp>
        <p:nvSpPr>
          <p:cNvPr id="11" name="Shape 9"/>
          <p:cNvSpPr/>
          <p:nvPr/>
        </p:nvSpPr>
        <p:spPr>
          <a:xfrm>
            <a:off x="6309360" y="3840480"/>
            <a:ext cx="5212080" cy="1691640"/>
          </a:xfrm>
          <a:prstGeom prst="roundRect">
            <a:avLst>
              <a:gd name="adj" fmla="val 3243"/>
            </a:avLst>
          </a:prstGeom>
          <a:solidFill>
            <a:srgbClr val="FFFFFF"/>
          </a:solidFill>
          <a:ln w="25400">
            <a:solidFill>
              <a:srgbClr val="C9990B"/>
            </a:solidFill>
            <a:prstDash val="solid"/>
          </a:ln>
          <a:effectLst>
            <a:outerShdw sx="100000" sy="100000" kx="0" ky="0" algn="bl" rotWithShape="0" blurRad="177800" dist="38100" dir="5400000">
              <a:srgbClr val="101314">
                <a:alpha val="10000"/>
              </a:srgbClr>
            </a:outerShdw>
          </a:effectLst>
        </p:spPr>
      </p:sp>
      <p:sp>
        <p:nvSpPr>
          <p:cNvPr id="12" name="Text 10"/>
          <p:cNvSpPr/>
          <p:nvPr/>
        </p:nvSpPr>
        <p:spPr>
          <a:xfrm>
            <a:off x="6583680" y="4069080"/>
            <a:ext cx="4663440" cy="256032"/>
          </a:xfrm>
          <a:prstGeom prst="rect">
            <a:avLst/>
          </a:prstGeom>
          <a:noFill/>
          <a:ln/>
        </p:spPr>
        <p:txBody>
          <a:bodyPr wrap="square" lIns="0" tIns="0" rIns="0" bIns="0" rtlCol="0" anchor="ctr"/>
          <a:lstStyle/>
          <a:p>
            <a:pPr indent="0" marL="0">
              <a:buNone/>
            </a:pPr>
            <a:r>
              <a:rPr lang="en-US" sz="1050" b="1" spc="160" kern="0" dirty="0">
                <a:solidFill>
                  <a:srgbClr val="C9990B"/>
                </a:solidFill>
                <a:latin typeface="Courier New" pitchFamily="34" charset="0"/>
                <a:ea typeface="Courier New" pitchFamily="34" charset="-122"/>
                <a:cs typeface="Courier New" pitchFamily="34" charset="-120"/>
              </a:rPr>
              <a:t>BUILD THIS</a:t>
            </a:r>
            <a:endParaRPr lang="en-US" sz="1050" dirty="0"/>
          </a:p>
        </p:txBody>
      </p:sp>
      <p:sp>
        <p:nvSpPr>
          <p:cNvPr id="13" name="Text 11"/>
          <p:cNvSpPr/>
          <p:nvPr/>
        </p:nvSpPr>
        <p:spPr>
          <a:xfrm>
            <a:off x="6583680" y="4343400"/>
            <a:ext cx="4663440" cy="411480"/>
          </a:xfrm>
          <a:prstGeom prst="rect">
            <a:avLst/>
          </a:prstGeom>
          <a:noFill/>
          <a:ln/>
        </p:spPr>
        <p:txBody>
          <a:bodyPr wrap="square" lIns="0" tIns="0" rIns="0" bIns="0" rtlCol="0" anchor="ctr"/>
          <a:lstStyle/>
          <a:p>
            <a:pPr indent="0" marL="0">
              <a:buNone/>
            </a:pPr>
            <a:r>
              <a:rPr lang="en-US" sz="1700" b="1" dirty="0">
                <a:solidFill>
                  <a:srgbClr val="101314"/>
                </a:solidFill>
                <a:latin typeface="Cambria" pitchFamily="34" charset="0"/>
                <a:ea typeface="Cambria" pitchFamily="34" charset="-122"/>
                <a:cs typeface="Cambria" pitchFamily="34" charset="-120"/>
              </a:rPr>
              <a:t>One module, shaped to your warehouse</a:t>
            </a:r>
            <a:endParaRPr lang="en-US" sz="1700" dirty="0"/>
          </a:p>
        </p:txBody>
      </p:sp>
      <p:sp>
        <p:nvSpPr>
          <p:cNvPr id="14" name="Text 12"/>
          <p:cNvSpPr/>
          <p:nvPr/>
        </p:nvSpPr>
        <p:spPr>
          <a:xfrm>
            <a:off x="6583680" y="4828032"/>
            <a:ext cx="4663440" cy="640080"/>
          </a:xfrm>
          <a:prstGeom prst="rect">
            <a:avLst/>
          </a:prstGeom>
          <a:noFill/>
          <a:ln/>
        </p:spPr>
        <p:txBody>
          <a:bodyPr wrap="square" lIns="0" tIns="0" rIns="0" bIns="0" rtlCol="0" anchor="t"/>
          <a:lstStyle/>
          <a:p>
            <a:pPr algn="l" indent="0" marL="0">
              <a:lnSpc>
                <a:spcPts val="1875"/>
              </a:lnSpc>
              <a:buNone/>
            </a:pPr>
            <a:r>
              <a:rPr lang="en-US" sz="1250" dirty="0">
                <a:solidFill>
                  <a:srgbClr val="3D4644"/>
                </a:solidFill>
                <a:latin typeface="Calibri" pitchFamily="34" charset="0"/>
                <a:ea typeface="Calibri" pitchFamily="34" charset="-122"/>
                <a:cs typeface="Calibri" pitchFamily="34" charset="-120"/>
              </a:rPr>
              <a:t>Locations &amp; scanning · live map · permanent log. One build, then a few euros a month. Two scans to learn.</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01314"/>
        </a:solidFill>
      </p:bgPr>
    </p:bg>
    <p:spTree>
      <p:nvGrpSpPr>
        <p:cNvPr id="1" name=""/>
        <p:cNvGrpSpPr/>
        <p:nvPr/>
      </p:nvGrpSpPr>
      <p:grpSpPr>
        <a:xfrm>
          <a:off x="0" y="0"/>
          <a:ext cx="0" cy="0"/>
          <a:chOff x="0" y="0"/>
          <a:chExt cx="0" cy="0"/>
        </a:xfrm>
      </p:grpSpPr>
      <p:sp>
        <p:nvSpPr>
          <p:cNvPr id="2" name="Text 0"/>
          <p:cNvSpPr/>
          <p:nvPr/>
        </p:nvSpPr>
        <p:spPr>
          <a:xfrm>
            <a:off x="685800" y="502920"/>
            <a:ext cx="10820095" cy="274320"/>
          </a:xfrm>
          <a:prstGeom prst="rect">
            <a:avLst/>
          </a:prstGeom>
          <a:noFill/>
          <a:ln/>
        </p:spPr>
        <p:txBody>
          <a:bodyPr wrap="square" lIns="0" tIns="0" rIns="0" bIns="0" rtlCol="0" anchor="ctr"/>
          <a:lstStyle/>
          <a:p>
            <a:pPr indent="0" marL="0">
              <a:buNone/>
            </a:pPr>
            <a:r>
              <a:rPr lang="en-US" sz="1100" b="1" spc="220" kern="0" dirty="0">
                <a:solidFill>
                  <a:srgbClr val="E6B93C"/>
                </a:solidFill>
                <a:latin typeface="Courier New" pitchFamily="34" charset="0"/>
                <a:ea typeface="Courier New" pitchFamily="34" charset="-122"/>
                <a:cs typeface="Courier New" pitchFamily="34" charset="-120"/>
              </a:rPr>
              <a:t>OVER TO YOU</a:t>
            </a:r>
            <a:endParaRPr lang="en-US" sz="1100" dirty="0"/>
          </a:p>
        </p:txBody>
      </p:sp>
      <p:sp>
        <p:nvSpPr>
          <p:cNvPr id="3" name="Text 1"/>
          <p:cNvSpPr/>
          <p:nvPr/>
        </p:nvSpPr>
        <p:spPr>
          <a:xfrm>
            <a:off x="685800" y="1234440"/>
            <a:ext cx="10058400" cy="82296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Three things to decide.</a:t>
            </a:r>
            <a:endParaRPr lang="en-US" sz="4200" dirty="0"/>
          </a:p>
        </p:txBody>
      </p:sp>
      <p:sp>
        <p:nvSpPr>
          <p:cNvPr id="4" name="Shape 2"/>
          <p:cNvSpPr/>
          <p:nvPr/>
        </p:nvSpPr>
        <p:spPr>
          <a:xfrm>
            <a:off x="685800" y="2286000"/>
            <a:ext cx="10817352" cy="914400"/>
          </a:xfrm>
          <a:prstGeom prst="roundRect">
            <a:avLst>
              <a:gd name="adj" fmla="val 6000"/>
            </a:avLst>
          </a:prstGeom>
          <a:solidFill>
            <a:srgbClr val="1D2221"/>
          </a:solidFill>
          <a:ln w="12700">
            <a:solidFill>
              <a:srgbClr val="333B39"/>
            </a:solidFill>
            <a:prstDash val="solid"/>
          </a:ln>
        </p:spPr>
      </p:sp>
      <p:sp>
        <p:nvSpPr>
          <p:cNvPr id="5" name="Text 3"/>
          <p:cNvSpPr/>
          <p:nvPr/>
        </p:nvSpPr>
        <p:spPr>
          <a:xfrm>
            <a:off x="960120" y="2432304"/>
            <a:ext cx="548640" cy="320040"/>
          </a:xfrm>
          <a:prstGeom prst="rect">
            <a:avLst/>
          </a:prstGeom>
          <a:noFill/>
          <a:ln/>
        </p:spPr>
        <p:txBody>
          <a:bodyPr wrap="square" lIns="0" tIns="0" rIns="0" bIns="0" rtlCol="0" anchor="ctr"/>
          <a:lstStyle/>
          <a:p>
            <a:pPr indent="0" marL="0">
              <a:buNone/>
            </a:pPr>
            <a:r>
              <a:rPr lang="en-US" sz="1500" b="1" dirty="0">
                <a:solidFill>
                  <a:srgbClr val="E6B93C"/>
                </a:solidFill>
                <a:latin typeface="Courier New" pitchFamily="34" charset="0"/>
                <a:ea typeface="Courier New" pitchFamily="34" charset="-122"/>
                <a:cs typeface="Courier New" pitchFamily="34" charset="-120"/>
              </a:rPr>
              <a:t>01</a:t>
            </a:r>
            <a:endParaRPr lang="en-US" sz="1500" dirty="0"/>
          </a:p>
        </p:txBody>
      </p:sp>
      <p:sp>
        <p:nvSpPr>
          <p:cNvPr id="6" name="Text 4"/>
          <p:cNvSpPr/>
          <p:nvPr/>
        </p:nvSpPr>
        <p:spPr>
          <a:xfrm>
            <a:off x="1600200" y="2414016"/>
            <a:ext cx="9509760" cy="320040"/>
          </a:xfrm>
          <a:prstGeom prst="rect">
            <a:avLst/>
          </a:prstGeom>
          <a:noFill/>
          <a:ln/>
        </p:spPr>
        <p:txBody>
          <a:bodyPr wrap="square" lIns="0" tIns="0" rIns="0" bIns="0" rtlCol="0" anchor="ctr"/>
          <a:lstStyle/>
          <a:p>
            <a:pPr indent="0" marL="0">
              <a:buNone/>
            </a:pPr>
            <a:r>
              <a:rPr lang="en-US" sz="1650" b="1" dirty="0">
                <a:solidFill>
                  <a:srgbClr val="FFFFFF"/>
                </a:solidFill>
                <a:latin typeface="Cambria" pitchFamily="34" charset="0"/>
                <a:ea typeface="Cambria" pitchFamily="34" charset="-122"/>
                <a:cs typeface="Cambria" pitchFamily="34" charset="-120"/>
              </a:rPr>
              <a:t>Is the pallet label acceptable?</a:t>
            </a:r>
            <a:endParaRPr lang="en-US" sz="1650" dirty="0"/>
          </a:p>
        </p:txBody>
      </p:sp>
      <p:sp>
        <p:nvSpPr>
          <p:cNvPr id="7" name="Text 5"/>
          <p:cNvSpPr/>
          <p:nvPr/>
        </p:nvSpPr>
        <p:spPr>
          <a:xfrm>
            <a:off x="1600200" y="2761488"/>
            <a:ext cx="9509760" cy="384048"/>
          </a:xfrm>
          <a:prstGeom prst="rect">
            <a:avLst/>
          </a:prstGeom>
          <a:noFill/>
          <a:ln/>
        </p:spPr>
        <p:txBody>
          <a:bodyPr wrap="square" lIns="0" tIns="0" rIns="0" bIns="0" rtlCol="0" anchor="ctr"/>
          <a:lstStyle/>
          <a:p>
            <a:pPr indent="0" marL="0">
              <a:buNone/>
            </a:pPr>
            <a:r>
              <a:rPr lang="en-US" sz="1300" dirty="0">
                <a:solidFill>
                  <a:srgbClr val="AEB6B2"/>
                </a:solidFill>
                <a:latin typeface="Calibri" pitchFamily="34" charset="0"/>
                <a:ea typeface="Calibri" pitchFamily="34" charset="-122"/>
                <a:cs typeface="Calibri" pitchFamily="34" charset="-120"/>
              </a:rPr>
              <a:t>One printed label per pallet, in a plastic pocket — the only new habit this asks for.</a:t>
            </a:r>
            <a:endParaRPr lang="en-US" sz="1300" dirty="0"/>
          </a:p>
        </p:txBody>
      </p:sp>
      <p:sp>
        <p:nvSpPr>
          <p:cNvPr id="8" name="Shape 6"/>
          <p:cNvSpPr/>
          <p:nvPr/>
        </p:nvSpPr>
        <p:spPr>
          <a:xfrm>
            <a:off x="685800" y="3337560"/>
            <a:ext cx="10817352" cy="914400"/>
          </a:xfrm>
          <a:prstGeom prst="roundRect">
            <a:avLst>
              <a:gd name="adj" fmla="val 6000"/>
            </a:avLst>
          </a:prstGeom>
          <a:solidFill>
            <a:srgbClr val="1D2221"/>
          </a:solidFill>
          <a:ln w="12700">
            <a:solidFill>
              <a:srgbClr val="333B39"/>
            </a:solidFill>
            <a:prstDash val="solid"/>
          </a:ln>
        </p:spPr>
      </p:sp>
      <p:sp>
        <p:nvSpPr>
          <p:cNvPr id="9" name="Text 7"/>
          <p:cNvSpPr/>
          <p:nvPr/>
        </p:nvSpPr>
        <p:spPr>
          <a:xfrm>
            <a:off x="960120" y="3483864"/>
            <a:ext cx="548640" cy="320040"/>
          </a:xfrm>
          <a:prstGeom prst="rect">
            <a:avLst/>
          </a:prstGeom>
          <a:noFill/>
          <a:ln/>
        </p:spPr>
        <p:txBody>
          <a:bodyPr wrap="square" lIns="0" tIns="0" rIns="0" bIns="0" rtlCol="0" anchor="ctr"/>
          <a:lstStyle/>
          <a:p>
            <a:pPr indent="0" marL="0">
              <a:buNone/>
            </a:pPr>
            <a:r>
              <a:rPr lang="en-US" sz="1500" b="1" dirty="0">
                <a:solidFill>
                  <a:srgbClr val="E6B93C"/>
                </a:solidFill>
                <a:latin typeface="Courier New" pitchFamily="34" charset="0"/>
                <a:ea typeface="Courier New" pitchFamily="34" charset="-122"/>
                <a:cs typeface="Courier New" pitchFamily="34" charset="-120"/>
              </a:rPr>
              <a:t>02</a:t>
            </a:r>
            <a:endParaRPr lang="en-US" sz="1500" dirty="0"/>
          </a:p>
        </p:txBody>
      </p:sp>
      <p:sp>
        <p:nvSpPr>
          <p:cNvPr id="10" name="Text 8"/>
          <p:cNvSpPr/>
          <p:nvPr/>
        </p:nvSpPr>
        <p:spPr>
          <a:xfrm>
            <a:off x="1600200" y="3465576"/>
            <a:ext cx="9509760" cy="320040"/>
          </a:xfrm>
          <a:prstGeom prst="rect">
            <a:avLst/>
          </a:prstGeom>
          <a:noFill/>
          <a:ln/>
        </p:spPr>
        <p:txBody>
          <a:bodyPr wrap="square" lIns="0" tIns="0" rIns="0" bIns="0" rtlCol="0" anchor="ctr"/>
          <a:lstStyle/>
          <a:p>
            <a:pPr indent="0" marL="0">
              <a:buNone/>
            </a:pPr>
            <a:r>
              <a:rPr lang="en-US" sz="1650" b="1" dirty="0">
                <a:solidFill>
                  <a:srgbClr val="FFFFFF"/>
                </a:solidFill>
                <a:latin typeface="Cambria" pitchFamily="34" charset="0"/>
                <a:ea typeface="Cambria" pitchFamily="34" charset="-122"/>
                <a:cs typeface="Cambria" pitchFamily="34" charset="-120"/>
              </a:rPr>
              <a:t>Do we start without batch numbers and expiry dates?</a:t>
            </a:r>
            <a:endParaRPr lang="en-US" sz="1650" dirty="0"/>
          </a:p>
        </p:txBody>
      </p:sp>
      <p:sp>
        <p:nvSpPr>
          <p:cNvPr id="11" name="Text 9"/>
          <p:cNvSpPr/>
          <p:nvPr/>
        </p:nvSpPr>
        <p:spPr>
          <a:xfrm>
            <a:off x="1600200" y="3813048"/>
            <a:ext cx="9509760" cy="384048"/>
          </a:xfrm>
          <a:prstGeom prst="rect">
            <a:avLst/>
          </a:prstGeom>
          <a:noFill/>
          <a:ln/>
        </p:spPr>
        <p:txBody>
          <a:bodyPr wrap="square" lIns="0" tIns="0" rIns="0" bIns="0" rtlCol="0" anchor="ctr"/>
          <a:lstStyle/>
          <a:p>
            <a:pPr indent="0" marL="0">
              <a:buNone/>
            </a:pPr>
            <a:r>
              <a:rPr lang="en-US" sz="1300" dirty="0">
                <a:solidFill>
                  <a:srgbClr val="AEB6B2"/>
                </a:solidFill>
                <a:latin typeface="Calibri" pitchFamily="34" charset="0"/>
                <a:ea typeface="Calibri" pitchFamily="34" charset="-122"/>
                <a:cs typeface="Calibri" pitchFamily="34" charset="-120"/>
              </a:rPr>
              <a:t>Recommended: yes. They can be added later without rebuilding anything — and are needed if this system should ever carry weight in a cosmetics GMP audit.</a:t>
            </a:r>
            <a:endParaRPr lang="en-US" sz="1300" dirty="0"/>
          </a:p>
        </p:txBody>
      </p:sp>
      <p:sp>
        <p:nvSpPr>
          <p:cNvPr id="12" name="Shape 10"/>
          <p:cNvSpPr/>
          <p:nvPr/>
        </p:nvSpPr>
        <p:spPr>
          <a:xfrm>
            <a:off x="685800" y="4389120"/>
            <a:ext cx="10817352" cy="914400"/>
          </a:xfrm>
          <a:prstGeom prst="roundRect">
            <a:avLst>
              <a:gd name="adj" fmla="val 6000"/>
            </a:avLst>
          </a:prstGeom>
          <a:solidFill>
            <a:srgbClr val="1D2221"/>
          </a:solidFill>
          <a:ln w="12700">
            <a:solidFill>
              <a:srgbClr val="333B39"/>
            </a:solidFill>
            <a:prstDash val="solid"/>
          </a:ln>
        </p:spPr>
      </p:sp>
      <p:sp>
        <p:nvSpPr>
          <p:cNvPr id="13" name="Text 11"/>
          <p:cNvSpPr/>
          <p:nvPr/>
        </p:nvSpPr>
        <p:spPr>
          <a:xfrm>
            <a:off x="960120" y="4535424"/>
            <a:ext cx="548640" cy="320040"/>
          </a:xfrm>
          <a:prstGeom prst="rect">
            <a:avLst/>
          </a:prstGeom>
          <a:noFill/>
          <a:ln/>
        </p:spPr>
        <p:txBody>
          <a:bodyPr wrap="square" lIns="0" tIns="0" rIns="0" bIns="0" rtlCol="0" anchor="ctr"/>
          <a:lstStyle/>
          <a:p>
            <a:pPr indent="0" marL="0">
              <a:buNone/>
            </a:pPr>
            <a:r>
              <a:rPr lang="en-US" sz="1500" b="1" dirty="0">
                <a:solidFill>
                  <a:srgbClr val="E6B93C"/>
                </a:solidFill>
                <a:latin typeface="Courier New" pitchFamily="34" charset="0"/>
                <a:ea typeface="Courier New" pitchFamily="34" charset="-122"/>
                <a:cs typeface="Courier New" pitchFamily="34" charset="-120"/>
              </a:rPr>
              <a:t>03</a:t>
            </a:r>
            <a:endParaRPr lang="en-US" sz="1500" dirty="0"/>
          </a:p>
        </p:txBody>
      </p:sp>
      <p:sp>
        <p:nvSpPr>
          <p:cNvPr id="14" name="Text 12"/>
          <p:cNvSpPr/>
          <p:nvPr/>
        </p:nvSpPr>
        <p:spPr>
          <a:xfrm>
            <a:off x="1600200" y="4517136"/>
            <a:ext cx="9509760" cy="320040"/>
          </a:xfrm>
          <a:prstGeom prst="rect">
            <a:avLst/>
          </a:prstGeom>
          <a:noFill/>
          <a:ln/>
        </p:spPr>
        <p:txBody>
          <a:bodyPr wrap="square" lIns="0" tIns="0" rIns="0" bIns="0" rtlCol="0" anchor="ctr"/>
          <a:lstStyle/>
          <a:p>
            <a:pPr indent="0" marL="0">
              <a:buNone/>
            </a:pPr>
            <a:r>
              <a:rPr lang="en-US" sz="1650" b="1" dirty="0">
                <a:solidFill>
                  <a:srgbClr val="FFFFFF"/>
                </a:solidFill>
                <a:latin typeface="Cambria" pitchFamily="34" charset="0"/>
                <a:ea typeface="Cambria" pitchFamily="34" charset="-122"/>
                <a:cs typeface="Cambria" pitchFamily="34" charset="-120"/>
              </a:rPr>
              <a:t>Who walks the warehouse and counts the shelf places?</a:t>
            </a:r>
            <a:endParaRPr lang="en-US" sz="1650" dirty="0"/>
          </a:p>
        </p:txBody>
      </p:sp>
      <p:sp>
        <p:nvSpPr>
          <p:cNvPr id="15" name="Text 13"/>
          <p:cNvSpPr/>
          <p:nvPr/>
        </p:nvSpPr>
        <p:spPr>
          <a:xfrm>
            <a:off x="1600200" y="4864608"/>
            <a:ext cx="9509760" cy="384048"/>
          </a:xfrm>
          <a:prstGeom prst="rect">
            <a:avLst/>
          </a:prstGeom>
          <a:noFill/>
          <a:ln/>
        </p:spPr>
        <p:txBody>
          <a:bodyPr wrap="square" lIns="0" tIns="0" rIns="0" bIns="0" rtlCol="0" anchor="ctr"/>
          <a:lstStyle/>
          <a:p>
            <a:pPr indent="0" marL="0">
              <a:buNone/>
            </a:pPr>
            <a:r>
              <a:rPr lang="en-US" sz="1300" dirty="0">
                <a:solidFill>
                  <a:srgbClr val="AEB6B2"/>
                </a:solidFill>
                <a:latin typeface="Calibri" pitchFamily="34" charset="0"/>
                <a:ea typeface="Calibri" pitchFamily="34" charset="-122"/>
                <a:cs typeface="Calibri" pitchFamily="34" charset="-120"/>
              </a:rPr>
              <a:t>That number decides the size of everything else, and it is the first job.</a:t>
            </a:r>
            <a:endParaRPr lang="en-US" sz="1300" dirty="0"/>
          </a:p>
        </p:txBody>
      </p:sp>
      <p:sp>
        <p:nvSpPr>
          <p:cNvPr id="16" name="Text 14"/>
          <p:cNvSpPr/>
          <p:nvPr/>
        </p:nvSpPr>
        <p:spPr>
          <a:xfrm>
            <a:off x="685800" y="5623560"/>
            <a:ext cx="10424160" cy="457200"/>
          </a:xfrm>
          <a:prstGeom prst="rect">
            <a:avLst/>
          </a:prstGeom>
          <a:noFill/>
          <a:ln/>
        </p:spPr>
        <p:txBody>
          <a:bodyPr wrap="square" lIns="0" tIns="0" rIns="0" bIns="0" rtlCol="0" anchor="ctr"/>
          <a:lstStyle/>
          <a:p>
            <a:pPr indent="0" marL="0">
              <a:buNone/>
            </a:pPr>
            <a:r>
              <a:rPr lang="en-US" sz="1800" i="1" dirty="0">
                <a:solidFill>
                  <a:srgbClr val="E6B93C"/>
                </a:solidFill>
                <a:latin typeface="Calibri" pitchFamily="34" charset="0"/>
                <a:ea typeface="Calibri" pitchFamily="34" charset="-122"/>
                <a:cs typeface="Calibri" pitchFamily="34" charset="-120"/>
              </a:rPr>
              <a:t>Then eight weeks later, nobody in this building has to wonder where a pallet is again.</a:t>
            </a:r>
            <a:endParaRPr lang="en-US" sz="1800" dirty="0"/>
          </a:p>
        </p:txBody>
      </p:sp>
      <p:sp>
        <p:nvSpPr>
          <p:cNvPr id="17" name="Text 15"/>
          <p:cNvSpPr/>
          <p:nvPr/>
        </p:nvSpPr>
        <p:spPr>
          <a:xfrm>
            <a:off x="685800" y="6172200"/>
            <a:ext cx="10424160" cy="365760"/>
          </a:xfrm>
          <a:prstGeom prst="rect">
            <a:avLst/>
          </a:prstGeom>
          <a:noFill/>
          <a:ln/>
        </p:spPr>
        <p:txBody>
          <a:bodyPr wrap="square" lIns="0" tIns="0" rIns="0" bIns="0" rtlCol="0" anchor="ctr"/>
          <a:lstStyle/>
          <a:p>
            <a:pPr indent="0" marL="0">
              <a:buNone/>
            </a:pPr>
            <a:r>
              <a:rPr lang="en-US" sz="1150" dirty="0">
                <a:solidFill>
                  <a:srgbClr val="7E8683"/>
                </a:solidFill>
                <a:latin typeface="Calibri" pitchFamily="34" charset="0"/>
                <a:ea typeface="Calibri" pitchFamily="34" charset="-122"/>
                <a:cs typeface="Calibri" pitchFamily="34" charset="-120"/>
              </a:rPr>
              <a:t>Full design document — workflow, all 28 exceptions, data model, architecture, rollout and costs — available alongside this presentation.</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Where is that pallet?</dc:title>
  <dc:subject>PptxGenJS Presentation</dc:subject>
  <dc:creator>Nordic Bio Cosmetic Production Oy</dc:creator>
  <cp:lastModifiedBy>Nordic Bio Cosmetic Production Oy</cp:lastModifiedBy>
  <cp:revision>1</cp:revision>
  <dcterms:created xsi:type="dcterms:W3CDTF">2026-08-18T22:05:13Z</dcterms:created>
  <dcterms:modified xsi:type="dcterms:W3CDTF">2026-08-18T22:05:13Z</dcterms:modified>
</cp:coreProperties>
</file>